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737c98f6-11a7-1a31-e01e-96fffa4805eb}">
          <p14:sldIdLst>
            <p14:sldId id="256"/>
          </p14:sldIdLst>
        </p14:section>
        <p14:section name="Caribbean demographics" id="{73022db5-ceac-932f-f3c8-00c6a2a8f647}">
          <p14:sldIdLst>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Lst>
        </p14:section>
        <p14:section name="Challenges, social and financial" id="{579776d6-9b97-6d24-768d-6f2162491e4d}">
          <p14:sldIdLst>
            <p14:sldId id="278"/>
            <p14:sldId id="279"/>
            <p14:sldId id="280"/>
            <p14:sldId id="281"/>
            <p14:sldId id="282"/>
            <p14:sldId id="283"/>
            <p14:sldId id="284"/>
            <p14:sldId id="285"/>
            <p14:sldId id="286"/>
          </p14:sldIdLst>
        </p14:section>
        <p14:section name="Conclusion &amp; discussion" id="{0074c67a-d50a-b7af-809a-39ce9ef72824}">
          <p14:sldIdLst>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Median age (years)</c:v>
                </c:pt>
              </c:strCache>
            </c:strRef>
          </c:tx>
          <c:spPr>
            <a:solidFill>
              <a:srgbClr val="0E7C8B"/>
            </a:solidFill>
            <a:effectLst/>
          </c:spPr>
          <c:invertIfNegative val="0"/>
          <c:dLbls>
            <c:numFmt formatCode="0.0&quot; Years&quot;" sourceLinked="0"/>
            <c:txPr>
              <a:bodyPr/>
              <a:lstStyle/>
              <a:p>
                <a:pPr>
                  <a:defRPr b="1" i="0" strike="noStrike" sz="1600" u="none">
                    <a:solidFill>
                      <a:srgbClr val="10243E"/>
                    </a:solidFill>
                    <a:latin typeface="+mn-lt"/>
                  </a:defRPr>
                </a:pPr>
              </a:p>
            </c:txPr>
            <c:showLegendKey val="0"/>
            <c:showVal val="1"/>
            <c:showCatName val="0"/>
            <c:showSerName val="0"/>
            <c:showPercent val="0"/>
            <c:showBubbleSize val="0"/>
            <c:showLeaderLines val="0"/>
          </c:dLbls>
          <c:dPt>
            <c:idx val="0"/>
            <c:invertIfNegative val="0"/>
            <c:bubble3D val="0"/>
            <c:spPr>
              <a:solidFill>
                <a:srgbClr val="0E7C8B"/>
              </a:solidFill>
              <a:effectLst/>
            </c:spPr>
          </c:dPt>
          <c:dPt>
            <c:idx val="1"/>
            <c:invertIfNegative val="0"/>
            <c:bubble3D val="0"/>
            <c:spPr>
              <a:solidFill>
                <a:srgbClr val="0E7C8B"/>
              </a:solidFill>
              <a:effectLst/>
            </c:spPr>
          </c:dPt>
          <c:dPt>
            <c:idx val="2"/>
            <c:invertIfNegative val="0"/>
            <c:bubble3D val="0"/>
            <c:spPr>
              <a:solidFill>
                <a:srgbClr val="0E7C8B"/>
              </a:solidFill>
              <a:effectLst/>
            </c:spPr>
          </c:dPt>
          <c:dPt>
            <c:idx val="3"/>
            <c:invertIfNegative val="0"/>
            <c:bubble3D val="0"/>
            <c:spPr>
              <a:solidFill>
                <a:srgbClr val="0E7C8B"/>
              </a:solidFill>
              <a:effectLst/>
            </c:spPr>
          </c:dPt>
          <c:dPt>
            <c:idx val="4"/>
            <c:invertIfNegative val="0"/>
            <c:bubble3D val="0"/>
            <c:spPr>
              <a:solidFill>
                <a:srgbClr val="0E7C8B"/>
              </a:solidFill>
              <a:effectLst/>
            </c:spPr>
          </c:dPt>
          <c:dPt>
            <c:idx val="5"/>
            <c:invertIfNegative val="0"/>
            <c:bubble3D val="0"/>
            <c:spPr>
              <a:solidFill>
                <a:srgbClr val="D9822B"/>
              </a:solidFill>
              <a:effectLst/>
            </c:spPr>
          </c:dPt>
          <c:cat>
            <c:multiLvlStrRef>
              <c:f>Sheet1!$A$2:$A$7</c:f>
              <c:multiLvlStrCache>
                <c:ptCount val="6"/>
                <c:lvl>
                  <c:pt idx="0">
                    <c:v>Barbados</c:v>
                  </c:pt>
                  <c:pt idx="1">
                    <c:v>St. Kitts &amp; Nevis</c:v>
                  </c:pt>
                  <c:pt idx="2">
                    <c:v>Antigua &amp; Barbuda</c:v>
                  </c:pt>
                  <c:pt idx="3">
                    <c:v>Saint Lucia</c:v>
                  </c:pt>
                  <c:pt idx="4">
                    <c:v>Grenada</c:v>
                  </c:pt>
                  <c:pt idx="5">
                    <c:v>Belize</c:v>
                  </c:pt>
                </c:lvl>
              </c:multiLvlStrCache>
            </c:multiLvlStrRef>
          </c:cat>
          <c:val>
            <c:numRef>
              <c:f>Sheet1!$B$2:$B$7</c:f>
              <c:numCache>
                <c:formatCode>General</c:formatCode>
                <c:ptCount val="6"/>
                <c:pt idx="0">
                  <c:v>39.8</c:v>
                </c:pt>
                <c:pt idx="1">
                  <c:v>36.5</c:v>
                </c:pt>
                <c:pt idx="2">
                  <c:v>35.8</c:v>
                </c:pt>
                <c:pt idx="3">
                  <c:v>35.2</c:v>
                </c:pt>
                <c:pt idx="4">
                  <c:v>33.6</c:v>
                </c:pt>
                <c:pt idx="5">
                  <c:v>26.5</c:v>
                </c:pt>
              </c:numCache>
            </c:numRef>
          </c:val>
        </c:ser>
        <c:dLbls>
          <c:numFmt formatCode="0.0&quot; Years&quot;" sourceLinked="0"/>
          <c:txPr>
            <a:bodyPr/>
            <a:lstStyle/>
            <a:p>
              <a:pPr>
                <a:defRPr b="1" i="0" strike="noStrike" sz="1600" u="none">
                  <a:solidFill>
                    <a:srgbClr val="10243E"/>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600" b="1" i="0" u="none" strike="noStrike">
                <a:solidFill>
                  <a:srgbClr val="10243E"/>
                </a:solidFill>
                <a:latin typeface="+mn-lt"/>
              </a:defRPr>
            </a:pPr>
            <a:endParaRPr lang="en-US"/>
          </a:p>
        </c:txPr>
        <c:crossAx val="2094734552"/>
        <c:crosses val="autoZero"/>
        <c:auto val="1"/>
        <c:lblAlgn val="ctr"/>
        <c:noMultiLvlLbl val="1"/>
      </c:catAx>
      <c:valAx>
        <c:axId val="2094734552"/>
        <c:scaling>
          <c:orientation val="minMax"/>
          <c:max val="5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Seniors per 100 workers</c:v>
                </c:pt>
              </c:strCache>
            </c:strRef>
          </c:tx>
          <c:spPr>
            <a:solidFill>
              <a:srgbClr val="D9822B"/>
            </a:solidFill>
            <a:effectLst/>
          </c:spPr>
          <c:invertIfNegative val="0"/>
          <c:dLbls>
            <c:numFmt formatCode="0.0&quot; Seniors / 100 Workers&quot;" sourceLinked="0"/>
            <c:txPr>
              <a:bodyPr/>
              <a:lstStyle/>
              <a:p>
                <a:pPr>
                  <a:defRPr b="1" i="0" strike="noStrike" sz="1500" u="none">
                    <a:solidFill>
                      <a:srgbClr val="10243E"/>
                    </a:solidFill>
                    <a:latin typeface="+mn-lt"/>
                  </a:defRPr>
                </a:pPr>
              </a:p>
            </c:txPr>
            <c:showLegendKey val="0"/>
            <c:showVal val="1"/>
            <c:showCatName val="0"/>
            <c:showSerName val="0"/>
            <c:showPercent val="0"/>
            <c:showBubbleSize val="0"/>
            <c:showLeaderLines val="0"/>
          </c:dLbls>
          <c:dPt>
            <c:idx val="0"/>
            <c:invertIfNegative val="0"/>
            <c:bubble3D val="0"/>
            <c:spPr>
              <a:solidFill>
                <a:srgbClr val="D9822B"/>
              </a:solidFill>
              <a:effectLst/>
            </c:spPr>
          </c:dPt>
          <c:dPt>
            <c:idx val="1"/>
            <c:invertIfNegative val="0"/>
            <c:bubble3D val="0"/>
            <c:spPr>
              <a:solidFill>
                <a:srgbClr val="D9822B"/>
              </a:solidFill>
              <a:effectLst/>
            </c:spPr>
          </c:dPt>
          <c:dPt>
            <c:idx val="2"/>
            <c:invertIfNegative val="0"/>
            <c:bubble3D val="0"/>
            <c:spPr>
              <a:solidFill>
                <a:srgbClr val="0E7C8B"/>
              </a:solidFill>
              <a:effectLst/>
            </c:spPr>
          </c:dPt>
          <c:dPt>
            <c:idx val="3"/>
            <c:invertIfNegative val="0"/>
            <c:bubble3D val="0"/>
            <c:spPr>
              <a:solidFill>
                <a:srgbClr val="0E7C8B"/>
              </a:solidFill>
              <a:effectLst/>
            </c:spPr>
          </c:dPt>
          <c:cat>
            <c:multiLvlStrRef>
              <c:f>Sheet1!$A$2:$A$5</c:f>
              <c:multiLvlStrCache>
                <c:ptCount val="4"/>
                <c:lvl>
                  <c:pt idx="0">
                    <c:v>Puerto Rico</c:v>
                  </c:pt>
                  <c:pt idx="1">
                    <c:v>Cuba</c:v>
                  </c:pt>
                  <c:pt idx="2">
                    <c:v>Dominican Republic</c:v>
                  </c:pt>
                  <c:pt idx="3">
                    <c:v>Haiti</c:v>
                  </c:pt>
                </c:lvl>
              </c:multiLvlStrCache>
            </c:multiLvlStrRef>
          </c:cat>
          <c:val>
            <c:numRef>
              <c:f>Sheet1!$B$2:$B$5</c:f>
              <c:numCache>
                <c:formatCode>General</c:formatCode>
                <c:ptCount val="4"/>
                <c:pt idx="0">
                  <c:v>33.4</c:v>
                </c:pt>
                <c:pt idx="1">
                  <c:v>31.2</c:v>
                </c:pt>
                <c:pt idx="2">
                  <c:v>14.8</c:v>
                </c:pt>
                <c:pt idx="3">
                  <c:v>8.6</c:v>
                </c:pt>
              </c:numCache>
            </c:numRef>
          </c:val>
        </c:ser>
        <c:dLbls>
          <c:numFmt formatCode="0.0&quot; Seniors / 100 Workers&quot;" sourceLinked="0"/>
          <c:txPr>
            <a:bodyPr/>
            <a:lstStyle/>
            <a:p>
              <a:pPr>
                <a:defRPr b="1" i="0" strike="noStrike" sz="1500" u="none">
                  <a:solidFill>
                    <a:srgbClr val="10243E"/>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600" b="1" i="0" u="none" strike="noStrike">
                <a:solidFill>
                  <a:srgbClr val="10243E"/>
                </a:solidFill>
                <a:latin typeface="+mn-lt"/>
              </a:defRPr>
            </a:pPr>
            <a:endParaRPr lang="en-US"/>
          </a:p>
        </c:txPr>
        <c:crossAx val="2094734552"/>
        <c:crosses val="autoZero"/>
        <c:auto val="1"/>
        <c:lblAlgn val="ctr"/>
        <c:noMultiLvlLbl val="1"/>
      </c:catAx>
      <c:valAx>
        <c:axId val="2094734552"/>
        <c:scaling>
          <c:orientation val="minMax"/>
          <c:max val="6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4"/>
          <c:y val="0.03"/>
          <c:w val="0.83"/>
          <c:h val="0.76"/>
        </c:manualLayout>
      </c:layout>
      <c:scatterChart>
        <c:scatterStyle val="lineMarker"/>
        <c:varyColors val="0"/>
        <c:ser>
          <c:idx val="0"/>
          <c:order val="0"/>
          <c:tx>
            <c:strRef>
              <c:f>Sheet1!$B$1</c:f>
              <c:strCache>
                <c:ptCount val="1"/>
                <c:pt idx="0">
                  <c:v>Female labor-force participation, %</c:v>
                </c:pt>
              </c:strCache>
            </c:strRef>
          </c:tx>
          <c:spPr>
            <a:solidFill>
              <a:srgbClr val="E02424"/>
            </a:solidFill>
            <a:ln>
              <a:noFill/>
            </a:ln>
            <a:effectLst/>
          </c:spPr>
          <c:marker>
            <c:symbol val="circle"/>
            <c:size val="4"/>
            <c:spPr>
              <a:solidFill>
                <a:srgbClr val="E02424"/>
              </a:solidFill>
              <a:ln w="9525" cap="flat">
                <a:solidFill>
                  <a:srgbClr val="E02424"/>
                </a:solidFill>
                <a:prstDash val="solid"/>
                <a:round/>
              </a:ln>
              <a:effectLst/>
            </c:spPr>
          </c:marker>
          <c:xVal>
            <c:numRef>
              <c:f>Sheet1!$A$2:$A$239</c:f>
              <c:numCache>
                <c:formatCode>General</c:formatCode>
                <c:ptCount val="238"/>
                <c:pt idx="0">
                  <c:v>7.0261</c:v>
                </c:pt>
                <c:pt idx="1">
                  <c:v>7.1114</c:v>
                </c:pt>
                <c:pt idx="2">
                  <c:v>7.17</c:v>
                </c:pt>
                <c:pt idx="3">
                  <c:v>7.3851</c:v>
                </c:pt>
                <c:pt idx="4">
                  <c:v>7.3976</c:v>
                </c:pt>
                <c:pt idx="5">
                  <c:v>7.4189</c:v>
                </c:pt>
                <c:pt idx="6">
                  <c:v>7.4421</c:v>
                </c:pt>
                <c:pt idx="7">
                  <c:v>7.4866</c:v>
                </c:pt>
                <c:pt idx="8">
                  <c:v>7.5186</c:v>
                </c:pt>
                <c:pt idx="9">
                  <c:v>7.524</c:v>
                </c:pt>
                <c:pt idx="10">
                  <c:v>7.5364</c:v>
                </c:pt>
                <c:pt idx="11">
                  <c:v>7.5453</c:v>
                </c:pt>
                <c:pt idx="12">
                  <c:v>7.5524</c:v>
                </c:pt>
                <c:pt idx="13">
                  <c:v>7.6394</c:v>
                </c:pt>
                <c:pt idx="14">
                  <c:v>7.6412</c:v>
                </c:pt>
                <c:pt idx="15">
                  <c:v>7.6412</c:v>
                </c:pt>
                <c:pt idx="16">
                  <c:v>7.6732</c:v>
                </c:pt>
                <c:pt idx="17">
                  <c:v>7.6839</c:v>
                </c:pt>
                <c:pt idx="18">
                  <c:v>7.6839</c:v>
                </c:pt>
                <c:pt idx="19">
                  <c:v>7.6892</c:v>
                </c:pt>
                <c:pt idx="20">
                  <c:v>7.6892</c:v>
                </c:pt>
                <c:pt idx="21">
                  <c:v>7.7729</c:v>
                </c:pt>
                <c:pt idx="22">
                  <c:v>7.8405</c:v>
                </c:pt>
                <c:pt idx="23">
                  <c:v>7.8512</c:v>
                </c:pt>
                <c:pt idx="24">
                  <c:v>7.8512</c:v>
                </c:pt>
                <c:pt idx="25">
                  <c:v>7.8512</c:v>
                </c:pt>
                <c:pt idx="26">
                  <c:v>7.8742</c:v>
                </c:pt>
                <c:pt idx="27">
                  <c:v>7.8831</c:v>
                </c:pt>
                <c:pt idx="28">
                  <c:v>7.8867</c:v>
                </c:pt>
                <c:pt idx="29">
                  <c:v>7.8955</c:v>
                </c:pt>
                <c:pt idx="30">
                  <c:v>7.9151</c:v>
                </c:pt>
                <c:pt idx="31">
                  <c:v>7.9631</c:v>
                </c:pt>
                <c:pt idx="32">
                  <c:v>7.9684</c:v>
                </c:pt>
                <c:pt idx="33">
                  <c:v>7.9756</c:v>
                </c:pt>
                <c:pt idx="34">
                  <c:v>7.9898</c:v>
                </c:pt>
                <c:pt idx="35">
                  <c:v>7.9934</c:v>
                </c:pt>
                <c:pt idx="36">
                  <c:v>7.9934</c:v>
                </c:pt>
                <c:pt idx="37">
                  <c:v>8.0058</c:v>
                </c:pt>
                <c:pt idx="38">
                  <c:v>8.0112</c:v>
                </c:pt>
                <c:pt idx="39">
                  <c:v>8.029</c:v>
                </c:pt>
                <c:pt idx="40">
                  <c:v>8.061</c:v>
                </c:pt>
                <c:pt idx="41">
                  <c:v>8.0663</c:v>
                </c:pt>
                <c:pt idx="42">
                  <c:v>8.077</c:v>
                </c:pt>
                <c:pt idx="43">
                  <c:v>8.0788</c:v>
                </c:pt>
                <c:pt idx="44">
                  <c:v>8.1091</c:v>
                </c:pt>
                <c:pt idx="45">
                  <c:v>8.1285</c:v>
                </c:pt>
                <c:pt idx="46">
                  <c:v>8.1392</c:v>
                </c:pt>
                <c:pt idx="47">
                  <c:v>8.1463</c:v>
                </c:pt>
                <c:pt idx="48">
                  <c:v>8.1676</c:v>
                </c:pt>
                <c:pt idx="49">
                  <c:v>8.1943</c:v>
                </c:pt>
                <c:pt idx="50">
                  <c:v>8.2156</c:v>
                </c:pt>
                <c:pt idx="51">
                  <c:v>8.2227</c:v>
                </c:pt>
                <c:pt idx="52">
                  <c:v>8.237</c:v>
                </c:pt>
                <c:pt idx="53">
                  <c:v>8.2583</c:v>
                </c:pt>
                <c:pt idx="54">
                  <c:v>8.2637</c:v>
                </c:pt>
                <c:pt idx="55">
                  <c:v>8.2832</c:v>
                </c:pt>
                <c:pt idx="56">
                  <c:v>8.2886</c:v>
                </c:pt>
                <c:pt idx="57">
                  <c:v>8.2904</c:v>
                </c:pt>
                <c:pt idx="58">
                  <c:v>8.2957</c:v>
                </c:pt>
                <c:pt idx="59">
                  <c:v>8.3082</c:v>
                </c:pt>
                <c:pt idx="60">
                  <c:v>8.31</c:v>
                </c:pt>
                <c:pt idx="61">
                  <c:v>8.3135</c:v>
                </c:pt>
                <c:pt idx="62">
                  <c:v>8.3153</c:v>
                </c:pt>
                <c:pt idx="63">
                  <c:v>8.3224</c:v>
                </c:pt>
                <c:pt idx="64">
                  <c:v>8.3331</c:v>
                </c:pt>
                <c:pt idx="65">
                  <c:v>8.3473</c:v>
                </c:pt>
                <c:pt idx="66">
                  <c:v>8.3509</c:v>
                </c:pt>
                <c:pt idx="67">
                  <c:v>8.3544</c:v>
                </c:pt>
                <c:pt idx="68">
                  <c:v>8.3615</c:v>
                </c:pt>
                <c:pt idx="69">
                  <c:v>8.3721</c:v>
                </c:pt>
                <c:pt idx="70">
                  <c:v>8.4094</c:v>
                </c:pt>
                <c:pt idx="71">
                  <c:v>8.4147</c:v>
                </c:pt>
                <c:pt idx="72">
                  <c:v>8.4183</c:v>
                </c:pt>
                <c:pt idx="73">
                  <c:v>8.4218</c:v>
                </c:pt>
                <c:pt idx="74">
                  <c:v>8.4343</c:v>
                </c:pt>
                <c:pt idx="75">
                  <c:v>8.4681</c:v>
                </c:pt>
                <c:pt idx="76">
                  <c:v>8.477</c:v>
                </c:pt>
                <c:pt idx="77">
                  <c:v>8.509</c:v>
                </c:pt>
                <c:pt idx="78">
                  <c:v>8.5126</c:v>
                </c:pt>
                <c:pt idx="79">
                  <c:v>8.5269</c:v>
                </c:pt>
                <c:pt idx="80">
                  <c:v>8.5393</c:v>
                </c:pt>
                <c:pt idx="81">
                  <c:v>8.5446</c:v>
                </c:pt>
                <c:pt idx="82">
                  <c:v>8.5571</c:v>
                </c:pt>
                <c:pt idx="83">
                  <c:v>8.582</c:v>
                </c:pt>
                <c:pt idx="84">
                  <c:v>8.5873</c:v>
                </c:pt>
                <c:pt idx="85">
                  <c:v>8.5945</c:v>
                </c:pt>
                <c:pt idx="86">
                  <c:v>8.598</c:v>
                </c:pt>
                <c:pt idx="87">
                  <c:v>8.6016</c:v>
                </c:pt>
                <c:pt idx="88">
                  <c:v>8.6034</c:v>
                </c:pt>
                <c:pt idx="89">
                  <c:v>8.6069</c:v>
                </c:pt>
                <c:pt idx="90">
                  <c:v>8.6211</c:v>
                </c:pt>
                <c:pt idx="91">
                  <c:v>8.63</c:v>
                </c:pt>
                <c:pt idx="92">
                  <c:v>8.7313</c:v>
                </c:pt>
                <c:pt idx="93">
                  <c:v>8.7313</c:v>
                </c:pt>
                <c:pt idx="94">
                  <c:v>8.7331</c:v>
                </c:pt>
                <c:pt idx="95">
                  <c:v>8.7366</c:v>
                </c:pt>
                <c:pt idx="96">
                  <c:v>8.7509</c:v>
                </c:pt>
                <c:pt idx="97">
                  <c:v>8.815</c:v>
                </c:pt>
                <c:pt idx="98">
                  <c:v>8.8434</c:v>
                </c:pt>
                <c:pt idx="99">
                  <c:v>8.8452</c:v>
                </c:pt>
                <c:pt idx="100">
                  <c:v>8.8452</c:v>
                </c:pt>
                <c:pt idx="101">
                  <c:v>8.8541</c:v>
                </c:pt>
                <c:pt idx="102">
                  <c:v>8.8808</c:v>
                </c:pt>
                <c:pt idx="103">
                  <c:v>8.8931</c:v>
                </c:pt>
                <c:pt idx="104">
                  <c:v>8.8967</c:v>
                </c:pt>
                <c:pt idx="105">
                  <c:v>8.9074</c:v>
                </c:pt>
                <c:pt idx="106">
                  <c:v>8.9482</c:v>
                </c:pt>
                <c:pt idx="107">
                  <c:v>8.9927</c:v>
                </c:pt>
                <c:pt idx="108">
                  <c:v>9.0212</c:v>
                </c:pt>
                <c:pt idx="109">
                  <c:v>9.0247</c:v>
                </c:pt>
                <c:pt idx="110">
                  <c:v>9.0283</c:v>
                </c:pt>
                <c:pt idx="111">
                  <c:v>9.0514</c:v>
                </c:pt>
                <c:pt idx="112">
                  <c:v>9.0639</c:v>
                </c:pt>
                <c:pt idx="113">
                  <c:v>9.0692</c:v>
                </c:pt>
                <c:pt idx="114">
                  <c:v>9.0763</c:v>
                </c:pt>
                <c:pt idx="115">
                  <c:v>9.0799</c:v>
                </c:pt>
                <c:pt idx="116">
                  <c:v>9.0834</c:v>
                </c:pt>
                <c:pt idx="117">
                  <c:v>9.1244</c:v>
                </c:pt>
                <c:pt idx="118">
                  <c:v>9.1262</c:v>
                </c:pt>
                <c:pt idx="119">
                  <c:v>9.1368</c:v>
                </c:pt>
                <c:pt idx="120">
                  <c:v>9.1439</c:v>
                </c:pt>
                <c:pt idx="121">
                  <c:v>9.1652</c:v>
                </c:pt>
                <c:pt idx="122">
                  <c:v>9.167</c:v>
                </c:pt>
                <c:pt idx="123">
                  <c:v>9.1811</c:v>
                </c:pt>
                <c:pt idx="124">
                  <c:v>9.1847</c:v>
                </c:pt>
                <c:pt idx="125">
                  <c:v>9.2114</c:v>
                </c:pt>
                <c:pt idx="126">
                  <c:v>9.2238</c:v>
                </c:pt>
                <c:pt idx="127">
                  <c:v>9.2683</c:v>
                </c:pt>
                <c:pt idx="128">
                  <c:v>9.2701</c:v>
                </c:pt>
                <c:pt idx="129">
                  <c:v>9.2843</c:v>
                </c:pt>
                <c:pt idx="130">
                  <c:v>9.2879</c:v>
                </c:pt>
                <c:pt idx="131">
                  <c:v>9.2897</c:v>
                </c:pt>
                <c:pt idx="132">
                  <c:v>9.2897</c:v>
                </c:pt>
                <c:pt idx="133">
                  <c:v>9.3004</c:v>
                </c:pt>
                <c:pt idx="134">
                  <c:v>9.3342</c:v>
                </c:pt>
                <c:pt idx="135">
                  <c:v>9.3413</c:v>
                </c:pt>
                <c:pt idx="136">
                  <c:v>9.3449</c:v>
                </c:pt>
                <c:pt idx="137">
                  <c:v>9.3591</c:v>
                </c:pt>
                <c:pt idx="138">
                  <c:v>9.3769</c:v>
                </c:pt>
                <c:pt idx="139">
                  <c:v>9.3894</c:v>
                </c:pt>
                <c:pt idx="140">
                  <c:v>9.3946</c:v>
                </c:pt>
                <c:pt idx="141">
                  <c:v>9.3946</c:v>
                </c:pt>
                <c:pt idx="142">
                  <c:v>9.3963</c:v>
                </c:pt>
                <c:pt idx="143">
                  <c:v>9.3963</c:v>
                </c:pt>
                <c:pt idx="144">
                  <c:v>9.4479</c:v>
                </c:pt>
                <c:pt idx="145">
                  <c:v>9.4497</c:v>
                </c:pt>
                <c:pt idx="146">
                  <c:v>9.4657</c:v>
                </c:pt>
                <c:pt idx="147">
                  <c:v>9.4674</c:v>
                </c:pt>
                <c:pt idx="148">
                  <c:v>9.4674</c:v>
                </c:pt>
                <c:pt idx="149">
                  <c:v>9.4692</c:v>
                </c:pt>
                <c:pt idx="150">
                  <c:v>9.4817</c:v>
                </c:pt>
                <c:pt idx="151">
                  <c:v>9.4852</c:v>
                </c:pt>
                <c:pt idx="152">
                  <c:v>9.4995</c:v>
                </c:pt>
                <c:pt idx="153">
                  <c:v>9.519</c:v>
                </c:pt>
                <c:pt idx="154">
                  <c:v>9.5404</c:v>
                </c:pt>
                <c:pt idx="155">
                  <c:v>9.5475</c:v>
                </c:pt>
                <c:pt idx="156">
                  <c:v>9.5546</c:v>
                </c:pt>
                <c:pt idx="157">
                  <c:v>9.5582</c:v>
                </c:pt>
                <c:pt idx="158">
                  <c:v>9.56</c:v>
                </c:pt>
                <c:pt idx="159">
                  <c:v>9.56</c:v>
                </c:pt>
                <c:pt idx="160">
                  <c:v>9.5689</c:v>
                </c:pt>
                <c:pt idx="161">
                  <c:v>9.5742</c:v>
                </c:pt>
                <c:pt idx="162">
                  <c:v>9.576</c:v>
                </c:pt>
                <c:pt idx="163">
                  <c:v>9.5796</c:v>
                </c:pt>
                <c:pt idx="164">
                  <c:v>9.5956</c:v>
                </c:pt>
                <c:pt idx="165">
                  <c:v>9.5991</c:v>
                </c:pt>
                <c:pt idx="166">
                  <c:v>9.6116</c:v>
                </c:pt>
                <c:pt idx="167">
                  <c:v>9.6169</c:v>
                </c:pt>
                <c:pt idx="168">
                  <c:v>9.6205</c:v>
                </c:pt>
                <c:pt idx="169">
                  <c:v>9.624</c:v>
                </c:pt>
                <c:pt idx="170">
                  <c:v>9.6294</c:v>
                </c:pt>
                <c:pt idx="171">
                  <c:v>9.6347</c:v>
                </c:pt>
                <c:pt idx="172">
                  <c:v>9.6507</c:v>
                </c:pt>
                <c:pt idx="173">
                  <c:v>9.656</c:v>
                </c:pt>
                <c:pt idx="174">
                  <c:v>9.6631</c:v>
                </c:pt>
                <c:pt idx="175">
                  <c:v>9.6756</c:v>
                </c:pt>
                <c:pt idx="176">
                  <c:v>9.6791</c:v>
                </c:pt>
                <c:pt idx="177">
                  <c:v>9.6897</c:v>
                </c:pt>
                <c:pt idx="178">
                  <c:v>9.6915</c:v>
                </c:pt>
                <c:pt idx="179">
                  <c:v>9.6968</c:v>
                </c:pt>
                <c:pt idx="180">
                  <c:v>9.6986</c:v>
                </c:pt>
                <c:pt idx="181">
                  <c:v>9.7057</c:v>
                </c:pt>
                <c:pt idx="182">
                  <c:v>9.7324</c:v>
                </c:pt>
                <c:pt idx="183">
                  <c:v>9.7484</c:v>
                </c:pt>
                <c:pt idx="184">
                  <c:v>9.7502</c:v>
                </c:pt>
                <c:pt idx="185">
                  <c:v>9.752</c:v>
                </c:pt>
                <c:pt idx="186">
                  <c:v>9.7538</c:v>
                </c:pt>
                <c:pt idx="187">
                  <c:v>9.7555</c:v>
                </c:pt>
                <c:pt idx="188">
                  <c:v>9.7573</c:v>
                </c:pt>
                <c:pt idx="189">
                  <c:v>9.7591</c:v>
                </c:pt>
                <c:pt idx="190">
                  <c:v>9.7627</c:v>
                </c:pt>
                <c:pt idx="191">
                  <c:v>9.7733</c:v>
                </c:pt>
                <c:pt idx="192">
                  <c:v>9.7733</c:v>
                </c:pt>
                <c:pt idx="193">
                  <c:v>9.7751</c:v>
                </c:pt>
                <c:pt idx="194">
                  <c:v>9.7769</c:v>
                </c:pt>
                <c:pt idx="195">
                  <c:v>9.7769</c:v>
                </c:pt>
                <c:pt idx="196">
                  <c:v>9.8125</c:v>
                </c:pt>
                <c:pt idx="197">
                  <c:v>9.8125</c:v>
                </c:pt>
                <c:pt idx="198">
                  <c:v>9.8232</c:v>
                </c:pt>
                <c:pt idx="199">
                  <c:v>9.8232</c:v>
                </c:pt>
                <c:pt idx="200">
                  <c:v>9.8267</c:v>
                </c:pt>
                <c:pt idx="201">
                  <c:v>9.8285</c:v>
                </c:pt>
                <c:pt idx="202">
                  <c:v>9.8356</c:v>
                </c:pt>
                <c:pt idx="203">
                  <c:v>9.8391</c:v>
                </c:pt>
                <c:pt idx="204">
                  <c:v>9.8445</c:v>
                </c:pt>
                <c:pt idx="205">
                  <c:v>9.8481</c:v>
                </c:pt>
                <c:pt idx="206">
                  <c:v>9.8641</c:v>
                </c:pt>
                <c:pt idx="207">
                  <c:v>9.8659</c:v>
                </c:pt>
                <c:pt idx="208">
                  <c:v>9.873</c:v>
                </c:pt>
                <c:pt idx="209">
                  <c:v>9.8997</c:v>
                </c:pt>
                <c:pt idx="210">
                  <c:v>9.9209</c:v>
                </c:pt>
                <c:pt idx="211">
                  <c:v>9.9227</c:v>
                </c:pt>
                <c:pt idx="212">
                  <c:v>9.9388</c:v>
                </c:pt>
                <c:pt idx="213">
                  <c:v>9.9423</c:v>
                </c:pt>
                <c:pt idx="214">
                  <c:v>9.9458</c:v>
                </c:pt>
                <c:pt idx="215">
                  <c:v>9.9529</c:v>
                </c:pt>
                <c:pt idx="216">
                  <c:v>9.9547</c:v>
                </c:pt>
                <c:pt idx="217">
                  <c:v>9.9689</c:v>
                </c:pt>
                <c:pt idx="218">
                  <c:v>9.9724</c:v>
                </c:pt>
                <c:pt idx="219">
                  <c:v>9.9796</c:v>
                </c:pt>
                <c:pt idx="220">
                  <c:v>10.0045</c:v>
                </c:pt>
                <c:pt idx="221">
                  <c:v>10.0116</c:v>
                </c:pt>
                <c:pt idx="222">
                  <c:v>10.0205</c:v>
                </c:pt>
                <c:pt idx="223">
                  <c:v>10.0205</c:v>
                </c:pt>
                <c:pt idx="224">
                  <c:v>10.0419</c:v>
                </c:pt>
                <c:pt idx="225">
                  <c:v>10.0472</c:v>
                </c:pt>
                <c:pt idx="226">
                  <c:v>10.0507</c:v>
                </c:pt>
                <c:pt idx="227">
                  <c:v>10.0703</c:v>
                </c:pt>
                <c:pt idx="228">
                  <c:v>10.0757</c:v>
                </c:pt>
                <c:pt idx="229">
                  <c:v>10.0774</c:v>
                </c:pt>
                <c:pt idx="230">
                  <c:v>10.0864</c:v>
                </c:pt>
                <c:pt idx="231">
                  <c:v>10.1006</c:v>
                </c:pt>
                <c:pt idx="232">
                  <c:v>10.1059</c:v>
                </c:pt>
                <c:pt idx="233">
                  <c:v>10.1113</c:v>
                </c:pt>
                <c:pt idx="234">
                  <c:v>10.129</c:v>
                </c:pt>
                <c:pt idx="235">
                  <c:v>10.216</c:v>
                </c:pt>
                <c:pt idx="236">
                  <c:v>10.2641</c:v>
                </c:pt>
                <c:pt idx="237">
                  <c:v>10.3353</c:v>
                </c:pt>
              </c:numCache>
            </c:numRef>
          </c:xVal>
          <c:yVal>
            <c:numRef>
              <c:f>Sheet1!$B$2:$B$239</c:f>
              <c:numCache>
                <c:formatCode>General</c:formatCode>
                <c:ptCount val="238"/>
                <c:pt idx="0">
                  <c:v>45.508</c:v>
                </c:pt>
                <c:pt idx="1">
                  <c:v>32.816</c:v>
                </c:pt>
                <c:pt idx="2">
                  <c:v>32.932</c:v>
                </c:pt>
                <c:pt idx="3">
                  <c:v>24.215</c:v>
                </c:pt>
                <c:pt idx="4">
                  <c:v>27.617</c:v>
                </c:pt>
                <c:pt idx="5">
                  <c:v>25.514</c:v>
                </c:pt>
                <c:pt idx="6">
                  <c:v>35.531</c:v>
                </c:pt>
                <c:pt idx="7">
                  <c:v>21.539</c:v>
                </c:pt>
                <c:pt idx="8">
                  <c:v>45.127</c:v>
                </c:pt>
                <c:pt idx="9">
                  <c:v>49.408</c:v>
                </c:pt>
                <c:pt idx="10">
                  <c:v>36.64</c:v>
                </c:pt>
                <c:pt idx="11">
                  <c:v>14.733</c:v>
                </c:pt>
                <c:pt idx="12">
                  <c:v>45.318</c:v>
                </c:pt>
                <c:pt idx="13">
                  <c:v>11.637</c:v>
                </c:pt>
                <c:pt idx="14">
                  <c:v>34.231</c:v>
                </c:pt>
                <c:pt idx="15">
                  <c:v>21.921</c:v>
                </c:pt>
                <c:pt idx="16">
                  <c:v>39.009</c:v>
                </c:pt>
                <c:pt idx="17">
                  <c:v>43.138</c:v>
                </c:pt>
                <c:pt idx="18">
                  <c:v>14.81</c:v>
                </c:pt>
                <c:pt idx="19">
                  <c:v>34.307</c:v>
                </c:pt>
                <c:pt idx="20">
                  <c:v>15.307</c:v>
                </c:pt>
                <c:pt idx="21">
                  <c:v>13.434</c:v>
                </c:pt>
                <c:pt idx="22">
                  <c:v>31.211</c:v>
                </c:pt>
                <c:pt idx="23">
                  <c:v>44.324</c:v>
                </c:pt>
                <c:pt idx="24">
                  <c:v>32.932</c:v>
                </c:pt>
                <c:pt idx="25">
                  <c:v>47.038</c:v>
                </c:pt>
                <c:pt idx="26">
                  <c:v>26.011</c:v>
                </c:pt>
                <c:pt idx="27">
                  <c:v>34.116</c:v>
                </c:pt>
                <c:pt idx="28">
                  <c:v>59.73</c:v>
                </c:pt>
                <c:pt idx="29">
                  <c:v>23.221</c:v>
                </c:pt>
                <c:pt idx="30">
                  <c:v>31.708</c:v>
                </c:pt>
                <c:pt idx="31">
                  <c:v>48.223</c:v>
                </c:pt>
                <c:pt idx="32">
                  <c:v>52.237</c:v>
                </c:pt>
                <c:pt idx="33">
                  <c:v>14.007</c:v>
                </c:pt>
                <c:pt idx="34">
                  <c:v>17.027</c:v>
                </c:pt>
                <c:pt idx="35">
                  <c:v>51.511</c:v>
                </c:pt>
                <c:pt idx="36">
                  <c:v>33.734</c:v>
                </c:pt>
                <c:pt idx="37">
                  <c:v>35.913</c:v>
                </c:pt>
                <c:pt idx="38">
                  <c:v>43.024</c:v>
                </c:pt>
                <c:pt idx="39">
                  <c:v>17.715</c:v>
                </c:pt>
                <c:pt idx="40">
                  <c:v>27.732</c:v>
                </c:pt>
                <c:pt idx="41">
                  <c:v>27.12</c:v>
                </c:pt>
                <c:pt idx="42">
                  <c:v>61.412</c:v>
                </c:pt>
                <c:pt idx="43">
                  <c:v>53.728</c:v>
                </c:pt>
                <c:pt idx="44">
                  <c:v>25.439</c:v>
                </c:pt>
                <c:pt idx="45">
                  <c:v>18.633</c:v>
                </c:pt>
                <c:pt idx="46">
                  <c:v>40.807</c:v>
                </c:pt>
                <c:pt idx="47">
                  <c:v>31.516</c:v>
                </c:pt>
                <c:pt idx="48">
                  <c:v>47.229</c:v>
                </c:pt>
                <c:pt idx="49">
                  <c:v>30.026</c:v>
                </c:pt>
                <c:pt idx="50">
                  <c:v>40.004</c:v>
                </c:pt>
                <c:pt idx="51">
                  <c:v>40.118</c:v>
                </c:pt>
                <c:pt idx="52">
                  <c:v>27.541</c:v>
                </c:pt>
                <c:pt idx="53">
                  <c:v>17.715</c:v>
                </c:pt>
                <c:pt idx="54">
                  <c:v>39.43</c:v>
                </c:pt>
                <c:pt idx="55">
                  <c:v>28.229</c:v>
                </c:pt>
                <c:pt idx="56">
                  <c:v>27.005</c:v>
                </c:pt>
                <c:pt idx="57">
                  <c:v>34.422</c:v>
                </c:pt>
                <c:pt idx="58">
                  <c:v>31.516</c:v>
                </c:pt>
                <c:pt idx="59">
                  <c:v>41.227</c:v>
                </c:pt>
                <c:pt idx="60">
                  <c:v>16.531</c:v>
                </c:pt>
                <c:pt idx="61">
                  <c:v>44.706</c:v>
                </c:pt>
                <c:pt idx="62">
                  <c:v>20.43</c:v>
                </c:pt>
                <c:pt idx="63">
                  <c:v>44.63</c:v>
                </c:pt>
                <c:pt idx="64">
                  <c:v>47.535</c:v>
                </c:pt>
                <c:pt idx="65">
                  <c:v>26.814</c:v>
                </c:pt>
                <c:pt idx="66">
                  <c:v>37.71</c:v>
                </c:pt>
                <c:pt idx="67">
                  <c:v>53.423</c:v>
                </c:pt>
                <c:pt idx="68">
                  <c:v>29.72</c:v>
                </c:pt>
                <c:pt idx="69">
                  <c:v>23.527</c:v>
                </c:pt>
                <c:pt idx="70">
                  <c:v>36.41</c:v>
                </c:pt>
                <c:pt idx="71">
                  <c:v>33.925</c:v>
                </c:pt>
                <c:pt idx="72">
                  <c:v>47.229</c:v>
                </c:pt>
                <c:pt idx="73">
                  <c:v>34.728</c:v>
                </c:pt>
                <c:pt idx="74">
                  <c:v>36.64</c:v>
                </c:pt>
                <c:pt idx="75">
                  <c:v>25.132</c:v>
                </c:pt>
                <c:pt idx="76">
                  <c:v>19.741</c:v>
                </c:pt>
                <c:pt idx="77">
                  <c:v>22.838</c:v>
                </c:pt>
                <c:pt idx="78">
                  <c:v>31.134</c:v>
                </c:pt>
                <c:pt idx="79">
                  <c:v>29.414</c:v>
                </c:pt>
                <c:pt idx="80">
                  <c:v>47.612</c:v>
                </c:pt>
                <c:pt idx="81">
                  <c:v>38.704</c:v>
                </c:pt>
                <c:pt idx="82">
                  <c:v>27.235</c:v>
                </c:pt>
                <c:pt idx="83">
                  <c:v>36.41</c:v>
                </c:pt>
                <c:pt idx="84">
                  <c:v>20.735</c:v>
                </c:pt>
                <c:pt idx="85">
                  <c:v>46.618</c:v>
                </c:pt>
                <c:pt idx="86">
                  <c:v>26.011</c:v>
                </c:pt>
                <c:pt idx="87">
                  <c:v>34.919</c:v>
                </c:pt>
                <c:pt idx="88">
                  <c:v>24.636</c:v>
                </c:pt>
                <c:pt idx="89">
                  <c:v>24.636</c:v>
                </c:pt>
                <c:pt idx="90">
                  <c:v>23.335</c:v>
                </c:pt>
                <c:pt idx="91">
                  <c:v>27.312</c:v>
                </c:pt>
                <c:pt idx="92">
                  <c:v>38.13</c:v>
                </c:pt>
                <c:pt idx="93">
                  <c:v>28.229</c:v>
                </c:pt>
                <c:pt idx="94">
                  <c:v>24.329</c:v>
                </c:pt>
                <c:pt idx="95">
                  <c:v>48.529</c:v>
                </c:pt>
                <c:pt idx="96">
                  <c:v>17.906</c:v>
                </c:pt>
                <c:pt idx="97">
                  <c:v>30.026</c:v>
                </c:pt>
                <c:pt idx="98">
                  <c:v>17.41</c:v>
                </c:pt>
                <c:pt idx="99">
                  <c:v>42.336</c:v>
                </c:pt>
                <c:pt idx="100">
                  <c:v>25.514</c:v>
                </c:pt>
                <c:pt idx="101">
                  <c:v>25.629</c:v>
                </c:pt>
                <c:pt idx="102">
                  <c:v>23.832</c:v>
                </c:pt>
                <c:pt idx="103">
                  <c:v>22.533</c:v>
                </c:pt>
                <c:pt idx="104">
                  <c:v>29.031</c:v>
                </c:pt>
                <c:pt idx="105">
                  <c:v>36.525</c:v>
                </c:pt>
                <c:pt idx="106">
                  <c:v>41.112</c:v>
                </c:pt>
                <c:pt idx="107">
                  <c:v>44.82</c:v>
                </c:pt>
                <c:pt idx="108">
                  <c:v>22.61</c:v>
                </c:pt>
                <c:pt idx="109">
                  <c:v>46.311</c:v>
                </c:pt>
                <c:pt idx="110">
                  <c:v>27.923</c:v>
                </c:pt>
                <c:pt idx="111">
                  <c:v>29.72</c:v>
                </c:pt>
                <c:pt idx="112">
                  <c:v>37.634</c:v>
                </c:pt>
                <c:pt idx="113">
                  <c:v>31.134</c:v>
                </c:pt>
                <c:pt idx="114">
                  <c:v>29.72</c:v>
                </c:pt>
                <c:pt idx="115">
                  <c:v>28.917</c:v>
                </c:pt>
                <c:pt idx="116">
                  <c:v>36.525</c:v>
                </c:pt>
                <c:pt idx="117">
                  <c:v>50.937</c:v>
                </c:pt>
                <c:pt idx="118">
                  <c:v>26.509</c:v>
                </c:pt>
                <c:pt idx="119">
                  <c:v>31.325</c:v>
                </c:pt>
                <c:pt idx="120">
                  <c:v>25.514</c:v>
                </c:pt>
                <c:pt idx="121">
                  <c:v>29.834</c:v>
                </c:pt>
                <c:pt idx="122">
                  <c:v>48.835</c:v>
                </c:pt>
                <c:pt idx="123">
                  <c:v>28.611</c:v>
                </c:pt>
                <c:pt idx="124">
                  <c:v>41.915</c:v>
                </c:pt>
                <c:pt idx="125">
                  <c:v>27.732</c:v>
                </c:pt>
                <c:pt idx="126">
                  <c:v>35.225</c:v>
                </c:pt>
                <c:pt idx="127">
                  <c:v>28.114</c:v>
                </c:pt>
                <c:pt idx="128">
                  <c:v>31.211</c:v>
                </c:pt>
                <c:pt idx="129">
                  <c:v>42.642</c:v>
                </c:pt>
                <c:pt idx="130">
                  <c:v>37.327</c:v>
                </c:pt>
                <c:pt idx="131">
                  <c:v>49.906</c:v>
                </c:pt>
                <c:pt idx="132">
                  <c:v>41.724</c:v>
                </c:pt>
                <c:pt idx="133">
                  <c:v>41.112</c:v>
                </c:pt>
                <c:pt idx="134">
                  <c:v>35.11</c:v>
                </c:pt>
                <c:pt idx="135">
                  <c:v>36.219</c:v>
                </c:pt>
                <c:pt idx="136">
                  <c:v>48.719</c:v>
                </c:pt>
                <c:pt idx="137">
                  <c:v>51.32</c:v>
                </c:pt>
                <c:pt idx="138">
                  <c:v>37.136</c:v>
                </c:pt>
                <c:pt idx="139">
                  <c:v>25.821</c:v>
                </c:pt>
                <c:pt idx="140">
                  <c:v>37.136</c:v>
                </c:pt>
                <c:pt idx="141">
                  <c:v>38.818</c:v>
                </c:pt>
                <c:pt idx="142">
                  <c:v>39.928</c:v>
                </c:pt>
                <c:pt idx="143">
                  <c:v>35.033</c:v>
                </c:pt>
                <c:pt idx="144">
                  <c:v>43.941</c:v>
                </c:pt>
                <c:pt idx="145">
                  <c:v>42.336</c:v>
                </c:pt>
                <c:pt idx="146">
                  <c:v>32.625</c:v>
                </c:pt>
                <c:pt idx="147">
                  <c:v>44.515</c:v>
                </c:pt>
                <c:pt idx="148">
                  <c:v>53.805</c:v>
                </c:pt>
                <c:pt idx="149">
                  <c:v>38.704</c:v>
                </c:pt>
                <c:pt idx="150">
                  <c:v>38.207</c:v>
                </c:pt>
                <c:pt idx="151">
                  <c:v>43.827</c:v>
                </c:pt>
                <c:pt idx="152">
                  <c:v>27.541</c:v>
                </c:pt>
                <c:pt idx="153">
                  <c:v>51.511</c:v>
                </c:pt>
                <c:pt idx="154">
                  <c:v>54.035</c:v>
                </c:pt>
                <c:pt idx="155">
                  <c:v>35.033</c:v>
                </c:pt>
                <c:pt idx="156">
                  <c:v>40.539</c:v>
                </c:pt>
                <c:pt idx="157">
                  <c:v>48.032</c:v>
                </c:pt>
                <c:pt idx="158">
                  <c:v>52.123</c:v>
                </c:pt>
                <c:pt idx="159">
                  <c:v>56.022</c:v>
                </c:pt>
                <c:pt idx="160">
                  <c:v>45.011</c:v>
                </c:pt>
                <c:pt idx="161">
                  <c:v>42.718</c:v>
                </c:pt>
                <c:pt idx="162">
                  <c:v>45.623</c:v>
                </c:pt>
                <c:pt idx="163">
                  <c:v>36.41</c:v>
                </c:pt>
                <c:pt idx="164">
                  <c:v>31.02</c:v>
                </c:pt>
                <c:pt idx="165">
                  <c:v>41.609</c:v>
                </c:pt>
                <c:pt idx="166">
                  <c:v>59.118</c:v>
                </c:pt>
                <c:pt idx="167">
                  <c:v>40.539</c:v>
                </c:pt>
                <c:pt idx="168">
                  <c:v>54.225</c:v>
                </c:pt>
                <c:pt idx="169">
                  <c:v>41.533</c:v>
                </c:pt>
                <c:pt idx="170">
                  <c:v>56.328</c:v>
                </c:pt>
                <c:pt idx="171">
                  <c:v>36.831</c:v>
                </c:pt>
                <c:pt idx="172">
                  <c:v>43.941</c:v>
                </c:pt>
                <c:pt idx="173">
                  <c:v>46.732</c:v>
                </c:pt>
                <c:pt idx="174">
                  <c:v>41.915</c:v>
                </c:pt>
                <c:pt idx="175">
                  <c:v>46.809</c:v>
                </c:pt>
                <c:pt idx="176">
                  <c:v>55.105</c:v>
                </c:pt>
                <c:pt idx="177">
                  <c:v>50.44</c:v>
                </c:pt>
                <c:pt idx="178">
                  <c:v>70.014</c:v>
                </c:pt>
                <c:pt idx="179">
                  <c:v>46.006</c:v>
                </c:pt>
                <c:pt idx="180">
                  <c:v>34.307</c:v>
                </c:pt>
                <c:pt idx="181">
                  <c:v>52.428</c:v>
                </c:pt>
                <c:pt idx="182">
                  <c:v>56.519</c:v>
                </c:pt>
                <c:pt idx="183">
                  <c:v>48.338</c:v>
                </c:pt>
                <c:pt idx="184">
                  <c:v>52.008</c:v>
                </c:pt>
                <c:pt idx="185">
                  <c:v>38.322</c:v>
                </c:pt>
                <c:pt idx="186">
                  <c:v>34.231</c:v>
                </c:pt>
                <c:pt idx="187">
                  <c:v>44.82</c:v>
                </c:pt>
                <c:pt idx="188">
                  <c:v>48.414</c:v>
                </c:pt>
                <c:pt idx="189">
                  <c:v>60.304</c:v>
                </c:pt>
                <c:pt idx="190">
                  <c:v>60.533</c:v>
                </c:pt>
                <c:pt idx="191">
                  <c:v>55.028</c:v>
                </c:pt>
                <c:pt idx="192">
                  <c:v>53.04</c:v>
                </c:pt>
                <c:pt idx="193">
                  <c:v>60.418</c:v>
                </c:pt>
                <c:pt idx="194">
                  <c:v>57.934</c:v>
                </c:pt>
                <c:pt idx="195">
                  <c:v>46.618</c:v>
                </c:pt>
                <c:pt idx="196">
                  <c:v>47.84</c:v>
                </c:pt>
                <c:pt idx="197">
                  <c:v>41.227</c:v>
                </c:pt>
                <c:pt idx="198">
                  <c:v>61.03</c:v>
                </c:pt>
                <c:pt idx="199">
                  <c:v>55.028</c:v>
                </c:pt>
                <c:pt idx="200">
                  <c:v>53.728</c:v>
                </c:pt>
                <c:pt idx="201">
                  <c:v>50.02</c:v>
                </c:pt>
                <c:pt idx="202">
                  <c:v>49.714</c:v>
                </c:pt>
                <c:pt idx="203">
                  <c:v>36.64</c:v>
                </c:pt>
                <c:pt idx="204">
                  <c:v>57.436</c:v>
                </c:pt>
                <c:pt idx="205">
                  <c:v>49.638</c:v>
                </c:pt>
                <c:pt idx="206">
                  <c:v>57.322</c:v>
                </c:pt>
                <c:pt idx="207">
                  <c:v>37.939</c:v>
                </c:pt>
                <c:pt idx="208">
                  <c:v>51.817</c:v>
                </c:pt>
                <c:pt idx="209">
                  <c:v>56.71</c:v>
                </c:pt>
                <c:pt idx="210">
                  <c:v>58.927</c:v>
                </c:pt>
                <c:pt idx="211">
                  <c:v>48.911</c:v>
                </c:pt>
                <c:pt idx="212">
                  <c:v>52.925</c:v>
                </c:pt>
                <c:pt idx="213">
                  <c:v>43.329</c:v>
                </c:pt>
                <c:pt idx="214">
                  <c:v>58.622</c:v>
                </c:pt>
                <c:pt idx="215">
                  <c:v>48.414</c:v>
                </c:pt>
                <c:pt idx="216">
                  <c:v>54.34</c:v>
                </c:pt>
                <c:pt idx="217">
                  <c:v>55.41</c:v>
                </c:pt>
                <c:pt idx="218">
                  <c:v>50.632</c:v>
                </c:pt>
                <c:pt idx="219">
                  <c:v>58.507</c:v>
                </c:pt>
                <c:pt idx="220">
                  <c:v>54.914</c:v>
                </c:pt>
                <c:pt idx="221">
                  <c:v>46.541</c:v>
                </c:pt>
                <c:pt idx="222">
                  <c:v>57.322</c:v>
                </c:pt>
                <c:pt idx="223">
                  <c:v>60.112</c:v>
                </c:pt>
                <c:pt idx="224">
                  <c:v>60.228</c:v>
                </c:pt>
                <c:pt idx="225">
                  <c:v>58.43</c:v>
                </c:pt>
                <c:pt idx="226">
                  <c:v>56.71</c:v>
                </c:pt>
                <c:pt idx="227">
                  <c:v>59.73</c:v>
                </c:pt>
                <c:pt idx="228">
                  <c:v>58.124</c:v>
                </c:pt>
                <c:pt idx="229">
                  <c:v>55.334</c:v>
                </c:pt>
                <c:pt idx="230">
                  <c:v>60.916</c:v>
                </c:pt>
                <c:pt idx="231">
                  <c:v>52.925</c:v>
                </c:pt>
                <c:pt idx="232">
                  <c:v>61.603</c:v>
                </c:pt>
                <c:pt idx="233">
                  <c:v>58.507</c:v>
                </c:pt>
                <c:pt idx="234">
                  <c:v>60.533</c:v>
                </c:pt>
                <c:pt idx="235">
                  <c:v>61.527</c:v>
                </c:pt>
                <c:pt idx="236">
                  <c:v>58.622</c:v>
                </c:pt>
                <c:pt idx="237">
                  <c:v>58.316</c:v>
                </c:pt>
              </c:numCache>
            </c:numRef>
          </c:yVal>
          <c:smooth val="0"/>
        </c:ser>
        <c:ser>
          <c:idx val="1"/>
          <c:order val="1"/>
          <c:tx>
            <c:strRef>
              <c:f>Sheet1!$C$1</c:f>
              <c:strCache>
                <c:ptCount val="1"/>
                <c:pt idx="0">
                  <c:v>Fitted line</c:v>
                </c:pt>
              </c:strCache>
            </c:strRef>
          </c:tx>
          <c:spPr>
            <a:ln w="19050" cap="rnd">
              <a:solidFill>
                <a:srgbClr val="2B4FD8"/>
              </a:solidFill>
              <a:round/>
            </a:ln>
          </c:spPr>
          <c:marker>
            <c:symbol val="none"/>
          </c:marker>
          <c:xVal>
            <c:numRef>
              <c:f>Sheet1!$A$2:$A$239</c:f>
              <c:numCache>
                <c:formatCode>General</c:formatCode>
                <c:ptCount val="238"/>
                <c:pt idx="0">
                  <c:v>7.0261</c:v>
                </c:pt>
                <c:pt idx="1">
                  <c:v>7.1114</c:v>
                </c:pt>
                <c:pt idx="2">
                  <c:v>7.17</c:v>
                </c:pt>
                <c:pt idx="3">
                  <c:v>7.3851</c:v>
                </c:pt>
                <c:pt idx="4">
                  <c:v>7.3976</c:v>
                </c:pt>
                <c:pt idx="5">
                  <c:v>7.4189</c:v>
                </c:pt>
                <c:pt idx="6">
                  <c:v>7.4421</c:v>
                </c:pt>
                <c:pt idx="7">
                  <c:v>7.4866</c:v>
                </c:pt>
                <c:pt idx="8">
                  <c:v>7.5186</c:v>
                </c:pt>
                <c:pt idx="9">
                  <c:v>7.524</c:v>
                </c:pt>
                <c:pt idx="10">
                  <c:v>7.5364</c:v>
                </c:pt>
                <c:pt idx="11">
                  <c:v>7.5453</c:v>
                </c:pt>
                <c:pt idx="12">
                  <c:v>7.5524</c:v>
                </c:pt>
                <c:pt idx="13">
                  <c:v>7.6394</c:v>
                </c:pt>
                <c:pt idx="14">
                  <c:v>7.6412</c:v>
                </c:pt>
                <c:pt idx="15">
                  <c:v>7.6412</c:v>
                </c:pt>
                <c:pt idx="16">
                  <c:v>7.6732</c:v>
                </c:pt>
                <c:pt idx="17">
                  <c:v>7.6839</c:v>
                </c:pt>
                <c:pt idx="18">
                  <c:v>7.6839</c:v>
                </c:pt>
                <c:pt idx="19">
                  <c:v>7.6892</c:v>
                </c:pt>
                <c:pt idx="20">
                  <c:v>7.6892</c:v>
                </c:pt>
                <c:pt idx="21">
                  <c:v>7.7729</c:v>
                </c:pt>
                <c:pt idx="22">
                  <c:v>7.8405</c:v>
                </c:pt>
                <c:pt idx="23">
                  <c:v>7.8512</c:v>
                </c:pt>
                <c:pt idx="24">
                  <c:v>7.8512</c:v>
                </c:pt>
                <c:pt idx="25">
                  <c:v>7.8512</c:v>
                </c:pt>
                <c:pt idx="26">
                  <c:v>7.8742</c:v>
                </c:pt>
                <c:pt idx="27">
                  <c:v>7.8831</c:v>
                </c:pt>
                <c:pt idx="28">
                  <c:v>7.8867</c:v>
                </c:pt>
                <c:pt idx="29">
                  <c:v>7.8955</c:v>
                </c:pt>
                <c:pt idx="30">
                  <c:v>7.9151</c:v>
                </c:pt>
                <c:pt idx="31">
                  <c:v>7.9631</c:v>
                </c:pt>
                <c:pt idx="32">
                  <c:v>7.9684</c:v>
                </c:pt>
                <c:pt idx="33">
                  <c:v>7.9756</c:v>
                </c:pt>
                <c:pt idx="34">
                  <c:v>7.9898</c:v>
                </c:pt>
                <c:pt idx="35">
                  <c:v>7.9934</c:v>
                </c:pt>
                <c:pt idx="36">
                  <c:v>7.9934</c:v>
                </c:pt>
                <c:pt idx="37">
                  <c:v>8.0058</c:v>
                </c:pt>
                <c:pt idx="38">
                  <c:v>8.0112</c:v>
                </c:pt>
                <c:pt idx="39">
                  <c:v>8.029</c:v>
                </c:pt>
                <c:pt idx="40">
                  <c:v>8.061</c:v>
                </c:pt>
                <c:pt idx="41">
                  <c:v>8.0663</c:v>
                </c:pt>
                <c:pt idx="42">
                  <c:v>8.077</c:v>
                </c:pt>
                <c:pt idx="43">
                  <c:v>8.0788</c:v>
                </c:pt>
                <c:pt idx="44">
                  <c:v>8.1091</c:v>
                </c:pt>
                <c:pt idx="45">
                  <c:v>8.1285</c:v>
                </c:pt>
                <c:pt idx="46">
                  <c:v>8.1392</c:v>
                </c:pt>
                <c:pt idx="47">
                  <c:v>8.1463</c:v>
                </c:pt>
                <c:pt idx="48">
                  <c:v>8.1676</c:v>
                </c:pt>
                <c:pt idx="49">
                  <c:v>8.1943</c:v>
                </c:pt>
                <c:pt idx="50">
                  <c:v>8.2156</c:v>
                </c:pt>
                <c:pt idx="51">
                  <c:v>8.2227</c:v>
                </c:pt>
                <c:pt idx="52">
                  <c:v>8.237</c:v>
                </c:pt>
                <c:pt idx="53">
                  <c:v>8.2583</c:v>
                </c:pt>
                <c:pt idx="54">
                  <c:v>8.2637</c:v>
                </c:pt>
                <c:pt idx="55">
                  <c:v>8.2832</c:v>
                </c:pt>
                <c:pt idx="56">
                  <c:v>8.2886</c:v>
                </c:pt>
                <c:pt idx="57">
                  <c:v>8.2904</c:v>
                </c:pt>
                <c:pt idx="58">
                  <c:v>8.2957</c:v>
                </c:pt>
                <c:pt idx="59">
                  <c:v>8.3082</c:v>
                </c:pt>
                <c:pt idx="60">
                  <c:v>8.31</c:v>
                </c:pt>
                <c:pt idx="61">
                  <c:v>8.3135</c:v>
                </c:pt>
                <c:pt idx="62">
                  <c:v>8.3153</c:v>
                </c:pt>
                <c:pt idx="63">
                  <c:v>8.3224</c:v>
                </c:pt>
                <c:pt idx="64">
                  <c:v>8.3331</c:v>
                </c:pt>
                <c:pt idx="65">
                  <c:v>8.3473</c:v>
                </c:pt>
                <c:pt idx="66">
                  <c:v>8.3509</c:v>
                </c:pt>
                <c:pt idx="67">
                  <c:v>8.3544</c:v>
                </c:pt>
                <c:pt idx="68">
                  <c:v>8.3615</c:v>
                </c:pt>
                <c:pt idx="69">
                  <c:v>8.3721</c:v>
                </c:pt>
                <c:pt idx="70">
                  <c:v>8.4094</c:v>
                </c:pt>
                <c:pt idx="71">
                  <c:v>8.4147</c:v>
                </c:pt>
                <c:pt idx="72">
                  <c:v>8.4183</c:v>
                </c:pt>
                <c:pt idx="73">
                  <c:v>8.4218</c:v>
                </c:pt>
                <c:pt idx="74">
                  <c:v>8.4343</c:v>
                </c:pt>
                <c:pt idx="75">
                  <c:v>8.4681</c:v>
                </c:pt>
                <c:pt idx="76">
                  <c:v>8.477</c:v>
                </c:pt>
                <c:pt idx="77">
                  <c:v>8.509</c:v>
                </c:pt>
                <c:pt idx="78">
                  <c:v>8.5126</c:v>
                </c:pt>
                <c:pt idx="79">
                  <c:v>8.5269</c:v>
                </c:pt>
                <c:pt idx="80">
                  <c:v>8.5393</c:v>
                </c:pt>
                <c:pt idx="81">
                  <c:v>8.5446</c:v>
                </c:pt>
                <c:pt idx="82">
                  <c:v>8.5571</c:v>
                </c:pt>
                <c:pt idx="83">
                  <c:v>8.582</c:v>
                </c:pt>
                <c:pt idx="84">
                  <c:v>8.5873</c:v>
                </c:pt>
                <c:pt idx="85">
                  <c:v>8.5945</c:v>
                </c:pt>
                <c:pt idx="86">
                  <c:v>8.598</c:v>
                </c:pt>
                <c:pt idx="87">
                  <c:v>8.6016</c:v>
                </c:pt>
                <c:pt idx="88">
                  <c:v>8.6034</c:v>
                </c:pt>
                <c:pt idx="89">
                  <c:v>8.6069</c:v>
                </c:pt>
                <c:pt idx="90">
                  <c:v>8.6211</c:v>
                </c:pt>
                <c:pt idx="91">
                  <c:v>8.63</c:v>
                </c:pt>
                <c:pt idx="92">
                  <c:v>8.7313</c:v>
                </c:pt>
                <c:pt idx="93">
                  <c:v>8.7313</c:v>
                </c:pt>
                <c:pt idx="94">
                  <c:v>8.7331</c:v>
                </c:pt>
                <c:pt idx="95">
                  <c:v>8.7366</c:v>
                </c:pt>
                <c:pt idx="96">
                  <c:v>8.7509</c:v>
                </c:pt>
                <c:pt idx="97">
                  <c:v>8.815</c:v>
                </c:pt>
                <c:pt idx="98">
                  <c:v>8.8434</c:v>
                </c:pt>
                <c:pt idx="99">
                  <c:v>8.8452</c:v>
                </c:pt>
                <c:pt idx="100">
                  <c:v>8.8452</c:v>
                </c:pt>
                <c:pt idx="101">
                  <c:v>8.8541</c:v>
                </c:pt>
                <c:pt idx="102">
                  <c:v>8.8808</c:v>
                </c:pt>
                <c:pt idx="103">
                  <c:v>8.8931</c:v>
                </c:pt>
                <c:pt idx="104">
                  <c:v>8.8967</c:v>
                </c:pt>
                <c:pt idx="105">
                  <c:v>8.9074</c:v>
                </c:pt>
                <c:pt idx="106">
                  <c:v>8.9482</c:v>
                </c:pt>
                <c:pt idx="107">
                  <c:v>8.9927</c:v>
                </c:pt>
                <c:pt idx="108">
                  <c:v>9.0212</c:v>
                </c:pt>
                <c:pt idx="109">
                  <c:v>9.0247</c:v>
                </c:pt>
                <c:pt idx="110">
                  <c:v>9.0283</c:v>
                </c:pt>
                <c:pt idx="111">
                  <c:v>9.0514</c:v>
                </c:pt>
                <c:pt idx="112">
                  <c:v>9.0639</c:v>
                </c:pt>
                <c:pt idx="113">
                  <c:v>9.0692</c:v>
                </c:pt>
                <c:pt idx="114">
                  <c:v>9.0763</c:v>
                </c:pt>
                <c:pt idx="115">
                  <c:v>9.0799</c:v>
                </c:pt>
                <c:pt idx="116">
                  <c:v>9.0834</c:v>
                </c:pt>
                <c:pt idx="117">
                  <c:v>9.1244</c:v>
                </c:pt>
                <c:pt idx="118">
                  <c:v>9.1262</c:v>
                </c:pt>
                <c:pt idx="119">
                  <c:v>9.1368</c:v>
                </c:pt>
                <c:pt idx="120">
                  <c:v>9.1439</c:v>
                </c:pt>
                <c:pt idx="121">
                  <c:v>9.1652</c:v>
                </c:pt>
                <c:pt idx="122">
                  <c:v>9.167</c:v>
                </c:pt>
                <c:pt idx="123">
                  <c:v>9.1811</c:v>
                </c:pt>
                <c:pt idx="124">
                  <c:v>9.1847</c:v>
                </c:pt>
                <c:pt idx="125">
                  <c:v>9.2114</c:v>
                </c:pt>
                <c:pt idx="126">
                  <c:v>9.2238</c:v>
                </c:pt>
                <c:pt idx="127">
                  <c:v>9.2683</c:v>
                </c:pt>
                <c:pt idx="128">
                  <c:v>9.2701</c:v>
                </c:pt>
                <c:pt idx="129">
                  <c:v>9.2843</c:v>
                </c:pt>
                <c:pt idx="130">
                  <c:v>9.2879</c:v>
                </c:pt>
                <c:pt idx="131">
                  <c:v>9.2897</c:v>
                </c:pt>
                <c:pt idx="132">
                  <c:v>9.2897</c:v>
                </c:pt>
                <c:pt idx="133">
                  <c:v>9.3004</c:v>
                </c:pt>
                <c:pt idx="134">
                  <c:v>9.3342</c:v>
                </c:pt>
                <c:pt idx="135">
                  <c:v>9.3413</c:v>
                </c:pt>
                <c:pt idx="136">
                  <c:v>9.3449</c:v>
                </c:pt>
                <c:pt idx="137">
                  <c:v>9.3591</c:v>
                </c:pt>
                <c:pt idx="138">
                  <c:v>9.3769</c:v>
                </c:pt>
                <c:pt idx="139">
                  <c:v>9.3894</c:v>
                </c:pt>
                <c:pt idx="140">
                  <c:v>9.3946</c:v>
                </c:pt>
                <c:pt idx="141">
                  <c:v>9.3946</c:v>
                </c:pt>
                <c:pt idx="142">
                  <c:v>9.3963</c:v>
                </c:pt>
                <c:pt idx="143">
                  <c:v>9.3963</c:v>
                </c:pt>
                <c:pt idx="144">
                  <c:v>9.4479</c:v>
                </c:pt>
                <c:pt idx="145">
                  <c:v>9.4497</c:v>
                </c:pt>
                <c:pt idx="146">
                  <c:v>9.4657</c:v>
                </c:pt>
                <c:pt idx="147">
                  <c:v>9.4674</c:v>
                </c:pt>
                <c:pt idx="148">
                  <c:v>9.4674</c:v>
                </c:pt>
                <c:pt idx="149">
                  <c:v>9.4692</c:v>
                </c:pt>
                <c:pt idx="150">
                  <c:v>9.4817</c:v>
                </c:pt>
                <c:pt idx="151">
                  <c:v>9.4852</c:v>
                </c:pt>
                <c:pt idx="152">
                  <c:v>9.4995</c:v>
                </c:pt>
                <c:pt idx="153">
                  <c:v>9.519</c:v>
                </c:pt>
                <c:pt idx="154">
                  <c:v>9.5404</c:v>
                </c:pt>
                <c:pt idx="155">
                  <c:v>9.5475</c:v>
                </c:pt>
                <c:pt idx="156">
                  <c:v>9.5546</c:v>
                </c:pt>
                <c:pt idx="157">
                  <c:v>9.5582</c:v>
                </c:pt>
                <c:pt idx="158">
                  <c:v>9.56</c:v>
                </c:pt>
                <c:pt idx="159">
                  <c:v>9.56</c:v>
                </c:pt>
                <c:pt idx="160">
                  <c:v>9.5689</c:v>
                </c:pt>
                <c:pt idx="161">
                  <c:v>9.5742</c:v>
                </c:pt>
                <c:pt idx="162">
                  <c:v>9.576</c:v>
                </c:pt>
                <c:pt idx="163">
                  <c:v>9.5796</c:v>
                </c:pt>
                <c:pt idx="164">
                  <c:v>9.5956</c:v>
                </c:pt>
                <c:pt idx="165">
                  <c:v>9.5991</c:v>
                </c:pt>
                <c:pt idx="166">
                  <c:v>9.6116</c:v>
                </c:pt>
                <c:pt idx="167">
                  <c:v>9.6169</c:v>
                </c:pt>
                <c:pt idx="168">
                  <c:v>9.6205</c:v>
                </c:pt>
                <c:pt idx="169">
                  <c:v>9.624</c:v>
                </c:pt>
                <c:pt idx="170">
                  <c:v>9.6294</c:v>
                </c:pt>
                <c:pt idx="171">
                  <c:v>9.6347</c:v>
                </c:pt>
                <c:pt idx="172">
                  <c:v>9.6507</c:v>
                </c:pt>
                <c:pt idx="173">
                  <c:v>9.656</c:v>
                </c:pt>
                <c:pt idx="174">
                  <c:v>9.6631</c:v>
                </c:pt>
                <c:pt idx="175">
                  <c:v>9.6756</c:v>
                </c:pt>
                <c:pt idx="176">
                  <c:v>9.6791</c:v>
                </c:pt>
                <c:pt idx="177">
                  <c:v>9.6897</c:v>
                </c:pt>
                <c:pt idx="178">
                  <c:v>9.6915</c:v>
                </c:pt>
                <c:pt idx="179">
                  <c:v>9.6968</c:v>
                </c:pt>
                <c:pt idx="180">
                  <c:v>9.6986</c:v>
                </c:pt>
                <c:pt idx="181">
                  <c:v>9.7057</c:v>
                </c:pt>
                <c:pt idx="182">
                  <c:v>9.7324</c:v>
                </c:pt>
                <c:pt idx="183">
                  <c:v>9.7484</c:v>
                </c:pt>
                <c:pt idx="184">
                  <c:v>9.7502</c:v>
                </c:pt>
                <c:pt idx="185">
                  <c:v>9.752</c:v>
                </c:pt>
                <c:pt idx="186">
                  <c:v>9.7538</c:v>
                </c:pt>
                <c:pt idx="187">
                  <c:v>9.7555</c:v>
                </c:pt>
                <c:pt idx="188">
                  <c:v>9.7573</c:v>
                </c:pt>
                <c:pt idx="189">
                  <c:v>9.7591</c:v>
                </c:pt>
                <c:pt idx="190">
                  <c:v>9.7627</c:v>
                </c:pt>
                <c:pt idx="191">
                  <c:v>9.7733</c:v>
                </c:pt>
                <c:pt idx="192">
                  <c:v>9.7733</c:v>
                </c:pt>
                <c:pt idx="193">
                  <c:v>9.7751</c:v>
                </c:pt>
                <c:pt idx="194">
                  <c:v>9.7769</c:v>
                </c:pt>
                <c:pt idx="195">
                  <c:v>9.7769</c:v>
                </c:pt>
                <c:pt idx="196">
                  <c:v>9.8125</c:v>
                </c:pt>
                <c:pt idx="197">
                  <c:v>9.8125</c:v>
                </c:pt>
                <c:pt idx="198">
                  <c:v>9.8232</c:v>
                </c:pt>
                <c:pt idx="199">
                  <c:v>9.8232</c:v>
                </c:pt>
                <c:pt idx="200">
                  <c:v>9.8267</c:v>
                </c:pt>
                <c:pt idx="201">
                  <c:v>9.8285</c:v>
                </c:pt>
                <c:pt idx="202">
                  <c:v>9.8356</c:v>
                </c:pt>
                <c:pt idx="203">
                  <c:v>9.8391</c:v>
                </c:pt>
                <c:pt idx="204">
                  <c:v>9.8445</c:v>
                </c:pt>
                <c:pt idx="205">
                  <c:v>9.8481</c:v>
                </c:pt>
                <c:pt idx="206">
                  <c:v>9.8641</c:v>
                </c:pt>
                <c:pt idx="207">
                  <c:v>9.8659</c:v>
                </c:pt>
                <c:pt idx="208">
                  <c:v>9.873</c:v>
                </c:pt>
                <c:pt idx="209">
                  <c:v>9.8997</c:v>
                </c:pt>
                <c:pt idx="210">
                  <c:v>9.9209</c:v>
                </c:pt>
                <c:pt idx="211">
                  <c:v>9.9227</c:v>
                </c:pt>
                <c:pt idx="212">
                  <c:v>9.9388</c:v>
                </c:pt>
                <c:pt idx="213">
                  <c:v>9.9423</c:v>
                </c:pt>
                <c:pt idx="214">
                  <c:v>9.9458</c:v>
                </c:pt>
                <c:pt idx="215">
                  <c:v>9.9529</c:v>
                </c:pt>
                <c:pt idx="216">
                  <c:v>9.9547</c:v>
                </c:pt>
                <c:pt idx="217">
                  <c:v>9.9689</c:v>
                </c:pt>
                <c:pt idx="218">
                  <c:v>9.9724</c:v>
                </c:pt>
                <c:pt idx="219">
                  <c:v>9.9796</c:v>
                </c:pt>
                <c:pt idx="220">
                  <c:v>10.0045</c:v>
                </c:pt>
                <c:pt idx="221">
                  <c:v>10.0116</c:v>
                </c:pt>
                <c:pt idx="222">
                  <c:v>10.0205</c:v>
                </c:pt>
                <c:pt idx="223">
                  <c:v>10.0205</c:v>
                </c:pt>
                <c:pt idx="224">
                  <c:v>10.0419</c:v>
                </c:pt>
                <c:pt idx="225">
                  <c:v>10.0472</c:v>
                </c:pt>
                <c:pt idx="226">
                  <c:v>10.0507</c:v>
                </c:pt>
                <c:pt idx="227">
                  <c:v>10.0703</c:v>
                </c:pt>
                <c:pt idx="228">
                  <c:v>10.0757</c:v>
                </c:pt>
                <c:pt idx="229">
                  <c:v>10.0774</c:v>
                </c:pt>
                <c:pt idx="230">
                  <c:v>10.0864</c:v>
                </c:pt>
                <c:pt idx="231">
                  <c:v>10.1006</c:v>
                </c:pt>
                <c:pt idx="232">
                  <c:v>10.1059</c:v>
                </c:pt>
                <c:pt idx="233">
                  <c:v>10.1113</c:v>
                </c:pt>
                <c:pt idx="234">
                  <c:v>10.129</c:v>
                </c:pt>
                <c:pt idx="235">
                  <c:v>10.216</c:v>
                </c:pt>
                <c:pt idx="236">
                  <c:v>10.2641</c:v>
                </c:pt>
                <c:pt idx="237">
                  <c:v>10.3353</c:v>
                </c:pt>
              </c:numCache>
            </c:numRef>
          </c:xVal>
          <c:yVal>
            <c:numRef>
              <c:f>Sheet1!$C$2:$C$239</c:f>
              <c:numCache>
                <c:formatCode>General</c:formatCode>
                <c:ptCount val="238"/>
                <c:pt idx="0">
                  <c:v>40.687</c:v>
                </c:pt>
                <c:pt idx="1">
                  <c:v>39.309</c:v>
                </c:pt>
                <c:pt idx="2">
                  <c:v>38.43</c:v>
                </c:pt>
                <c:pt idx="3">
                  <c:v>35.598</c:v>
                </c:pt>
                <c:pt idx="4">
                  <c:v>35.447</c:v>
                </c:pt>
                <c:pt idx="5">
                  <c:v>35.216</c:v>
                </c:pt>
                <c:pt idx="6">
                  <c:v>34.951</c:v>
                </c:pt>
                <c:pt idx="7">
                  <c:v>34.492</c:v>
                </c:pt>
                <c:pt idx="8">
                  <c:v>34.183</c:v>
                </c:pt>
                <c:pt idx="9">
                  <c:v>34.141</c:v>
                </c:pt>
                <c:pt idx="10">
                  <c:v>34.029</c:v>
                </c:pt>
                <c:pt idx="11">
                  <c:v>33.925</c:v>
                </c:pt>
                <c:pt idx="12">
                  <c:v>33.873</c:v>
                </c:pt>
                <c:pt idx="13">
                  <c:v>33.11</c:v>
                </c:pt>
                <c:pt idx="14">
                  <c:v>33.102</c:v>
                </c:pt>
                <c:pt idx="15">
                  <c:v>33.102</c:v>
                </c:pt>
                <c:pt idx="16">
                  <c:v>32.843</c:v>
                </c:pt>
                <c:pt idx="17">
                  <c:v>32.765</c:v>
                </c:pt>
                <c:pt idx="18">
                  <c:v>32.765</c:v>
                </c:pt>
                <c:pt idx="19">
                  <c:v>32.727</c:v>
                </c:pt>
                <c:pt idx="20">
                  <c:v>32.727</c:v>
                </c:pt>
                <c:pt idx="21">
                  <c:v>32.186</c:v>
                </c:pt>
                <c:pt idx="22">
                  <c:v>31.805</c:v>
                </c:pt>
                <c:pt idx="23">
                  <c:v>31.767</c:v>
                </c:pt>
                <c:pt idx="24">
                  <c:v>31.767</c:v>
                </c:pt>
                <c:pt idx="25">
                  <c:v>31.767</c:v>
                </c:pt>
                <c:pt idx="26">
                  <c:v>31.651</c:v>
                </c:pt>
                <c:pt idx="27">
                  <c:v>31.615</c:v>
                </c:pt>
                <c:pt idx="28">
                  <c:v>31.582</c:v>
                </c:pt>
                <c:pt idx="29">
                  <c:v>31.539</c:v>
                </c:pt>
                <c:pt idx="30">
                  <c:v>31.462</c:v>
                </c:pt>
                <c:pt idx="31">
                  <c:v>31.306</c:v>
                </c:pt>
                <c:pt idx="32">
                  <c:v>31.274</c:v>
                </c:pt>
                <c:pt idx="33">
                  <c:v>31.267</c:v>
                </c:pt>
                <c:pt idx="34">
                  <c:v>31.196</c:v>
                </c:pt>
                <c:pt idx="35">
                  <c:v>31.191</c:v>
                </c:pt>
                <c:pt idx="36">
                  <c:v>31.191</c:v>
                </c:pt>
                <c:pt idx="37">
                  <c:v>31.159</c:v>
                </c:pt>
                <c:pt idx="38">
                  <c:v>31.153</c:v>
                </c:pt>
                <c:pt idx="39">
                  <c:v>31.114</c:v>
                </c:pt>
                <c:pt idx="40">
                  <c:v>31.04</c:v>
                </c:pt>
                <c:pt idx="41">
                  <c:v>31.038</c:v>
                </c:pt>
                <c:pt idx="42">
                  <c:v>31.003</c:v>
                </c:pt>
                <c:pt idx="43">
                  <c:v>31</c:v>
                </c:pt>
                <c:pt idx="44">
                  <c:v>30.964</c:v>
                </c:pt>
                <c:pt idx="45">
                  <c:v>30.962</c:v>
                </c:pt>
                <c:pt idx="46">
                  <c:v>30.926</c:v>
                </c:pt>
                <c:pt idx="47">
                  <c:v>30.923</c:v>
                </c:pt>
                <c:pt idx="48">
                  <c:v>30.923</c:v>
                </c:pt>
                <c:pt idx="49">
                  <c:v>30.923</c:v>
                </c:pt>
                <c:pt idx="50">
                  <c:v>30.923</c:v>
                </c:pt>
                <c:pt idx="51">
                  <c:v>30.923</c:v>
                </c:pt>
                <c:pt idx="52">
                  <c:v>30.923</c:v>
                </c:pt>
                <c:pt idx="53">
                  <c:v>30.96</c:v>
                </c:pt>
                <c:pt idx="54">
                  <c:v>30.962</c:v>
                </c:pt>
                <c:pt idx="55">
                  <c:v>30.979</c:v>
                </c:pt>
                <c:pt idx="56">
                  <c:v>31</c:v>
                </c:pt>
                <c:pt idx="57">
                  <c:v>31</c:v>
                </c:pt>
                <c:pt idx="58">
                  <c:v>31</c:v>
                </c:pt>
                <c:pt idx="59">
                  <c:v>31.032</c:v>
                </c:pt>
                <c:pt idx="60">
                  <c:v>31.038</c:v>
                </c:pt>
                <c:pt idx="61">
                  <c:v>31.038</c:v>
                </c:pt>
                <c:pt idx="62">
                  <c:v>31.038</c:v>
                </c:pt>
                <c:pt idx="63">
                  <c:v>31.038</c:v>
                </c:pt>
                <c:pt idx="64">
                  <c:v>31.073</c:v>
                </c:pt>
                <c:pt idx="65">
                  <c:v>31.076</c:v>
                </c:pt>
                <c:pt idx="66">
                  <c:v>31.104</c:v>
                </c:pt>
                <c:pt idx="67">
                  <c:v>31.114</c:v>
                </c:pt>
                <c:pt idx="68">
                  <c:v>31.114</c:v>
                </c:pt>
                <c:pt idx="69">
                  <c:v>31.149</c:v>
                </c:pt>
                <c:pt idx="70">
                  <c:v>31.263</c:v>
                </c:pt>
                <c:pt idx="71">
                  <c:v>31.267</c:v>
                </c:pt>
                <c:pt idx="72">
                  <c:v>31.296</c:v>
                </c:pt>
                <c:pt idx="73">
                  <c:v>31.306</c:v>
                </c:pt>
                <c:pt idx="74">
                  <c:v>31.341</c:v>
                </c:pt>
                <c:pt idx="75">
                  <c:v>31.456</c:v>
                </c:pt>
                <c:pt idx="76">
                  <c:v>31.493</c:v>
                </c:pt>
                <c:pt idx="77">
                  <c:v>31.645</c:v>
                </c:pt>
                <c:pt idx="78">
                  <c:v>31.651</c:v>
                </c:pt>
                <c:pt idx="79">
                  <c:v>31.726</c:v>
                </c:pt>
                <c:pt idx="80">
                  <c:v>31.795</c:v>
                </c:pt>
                <c:pt idx="81">
                  <c:v>31.802</c:v>
                </c:pt>
                <c:pt idx="82">
                  <c:v>31.878</c:v>
                </c:pt>
                <c:pt idx="83">
                  <c:v>32.022</c:v>
                </c:pt>
                <c:pt idx="84">
                  <c:v>32.063</c:v>
                </c:pt>
                <c:pt idx="85">
                  <c:v>32.07</c:v>
                </c:pt>
                <c:pt idx="86">
                  <c:v>32.098</c:v>
                </c:pt>
                <c:pt idx="87">
                  <c:v>32.137</c:v>
                </c:pt>
                <c:pt idx="88">
                  <c:v>32.147</c:v>
                </c:pt>
                <c:pt idx="89">
                  <c:v>32.147</c:v>
                </c:pt>
                <c:pt idx="90">
                  <c:v>32.255</c:v>
                </c:pt>
                <c:pt idx="91">
                  <c:v>32.296</c:v>
                </c:pt>
                <c:pt idx="92">
                  <c:v>33.019</c:v>
                </c:pt>
                <c:pt idx="93">
                  <c:v>33.019</c:v>
                </c:pt>
                <c:pt idx="94">
                  <c:v>33.025</c:v>
                </c:pt>
                <c:pt idx="95">
                  <c:v>33.055</c:v>
                </c:pt>
                <c:pt idx="96">
                  <c:v>33.169</c:v>
                </c:pt>
                <c:pt idx="97">
                  <c:v>33.708</c:v>
                </c:pt>
                <c:pt idx="98">
                  <c:v>33.963</c:v>
                </c:pt>
                <c:pt idx="99">
                  <c:v>33.982</c:v>
                </c:pt>
                <c:pt idx="100">
                  <c:v>33.982</c:v>
                </c:pt>
                <c:pt idx="101">
                  <c:v>34.086</c:v>
                </c:pt>
                <c:pt idx="102">
                  <c:v>34.352</c:v>
                </c:pt>
                <c:pt idx="103">
                  <c:v>34.47</c:v>
                </c:pt>
                <c:pt idx="104">
                  <c:v>34.506</c:v>
                </c:pt>
                <c:pt idx="105">
                  <c:v>34.621</c:v>
                </c:pt>
                <c:pt idx="106">
                  <c:v>35.043</c:v>
                </c:pt>
                <c:pt idx="107">
                  <c:v>35.54</c:v>
                </c:pt>
                <c:pt idx="108">
                  <c:v>35.884</c:v>
                </c:pt>
                <c:pt idx="109">
                  <c:v>35.921</c:v>
                </c:pt>
                <c:pt idx="110">
                  <c:v>35.96</c:v>
                </c:pt>
                <c:pt idx="111">
                  <c:v>36.264</c:v>
                </c:pt>
                <c:pt idx="112">
                  <c:v>36.381</c:v>
                </c:pt>
                <c:pt idx="113">
                  <c:v>36.454</c:v>
                </c:pt>
                <c:pt idx="114">
                  <c:v>36.567</c:v>
                </c:pt>
                <c:pt idx="115">
                  <c:v>36.61</c:v>
                </c:pt>
                <c:pt idx="116">
                  <c:v>36.647</c:v>
                </c:pt>
                <c:pt idx="117">
                  <c:v>37.174</c:v>
                </c:pt>
                <c:pt idx="118">
                  <c:v>37.213</c:v>
                </c:pt>
                <c:pt idx="119">
                  <c:v>37.372</c:v>
                </c:pt>
                <c:pt idx="120">
                  <c:v>37.45</c:v>
                </c:pt>
                <c:pt idx="121">
                  <c:v>37.755</c:v>
                </c:pt>
                <c:pt idx="122">
                  <c:v>37.766</c:v>
                </c:pt>
                <c:pt idx="123">
                  <c:v>37.979</c:v>
                </c:pt>
                <c:pt idx="124">
                  <c:v>38.024</c:v>
                </c:pt>
                <c:pt idx="125">
                  <c:v>38.404</c:v>
                </c:pt>
                <c:pt idx="126">
                  <c:v>38.594</c:v>
                </c:pt>
                <c:pt idx="127">
                  <c:v>39.282</c:v>
                </c:pt>
                <c:pt idx="128">
                  <c:v>39.296</c:v>
                </c:pt>
                <c:pt idx="129">
                  <c:v>39.509</c:v>
                </c:pt>
                <c:pt idx="130">
                  <c:v>39.582</c:v>
                </c:pt>
                <c:pt idx="131">
                  <c:v>39.602</c:v>
                </c:pt>
                <c:pt idx="132">
                  <c:v>39.602</c:v>
                </c:pt>
                <c:pt idx="133">
                  <c:v>39.78</c:v>
                </c:pt>
                <c:pt idx="134">
                  <c:v>40.314</c:v>
                </c:pt>
                <c:pt idx="135">
                  <c:v>40.428</c:v>
                </c:pt>
                <c:pt idx="136">
                  <c:v>40.472</c:v>
                </c:pt>
                <c:pt idx="137">
                  <c:v>40.732</c:v>
                </c:pt>
                <c:pt idx="138">
                  <c:v>41.039</c:v>
                </c:pt>
                <c:pt idx="139">
                  <c:v>41.234</c:v>
                </c:pt>
                <c:pt idx="140">
                  <c:v>41.307</c:v>
                </c:pt>
                <c:pt idx="141">
                  <c:v>41.307</c:v>
                </c:pt>
                <c:pt idx="142">
                  <c:v>41.375</c:v>
                </c:pt>
                <c:pt idx="143">
                  <c:v>41.375</c:v>
                </c:pt>
                <c:pt idx="144">
                  <c:v>42.262</c:v>
                </c:pt>
                <c:pt idx="145">
                  <c:v>42.297</c:v>
                </c:pt>
                <c:pt idx="146">
                  <c:v>42.605</c:v>
                </c:pt>
                <c:pt idx="147">
                  <c:v>42.622</c:v>
                </c:pt>
                <c:pt idx="148">
                  <c:v>42.622</c:v>
                </c:pt>
                <c:pt idx="149">
                  <c:v>42.66</c:v>
                </c:pt>
                <c:pt idx="150">
                  <c:v>42.908</c:v>
                </c:pt>
                <c:pt idx="151">
                  <c:v>42.955</c:v>
                </c:pt>
                <c:pt idx="152">
                  <c:v>43.252</c:v>
                </c:pt>
                <c:pt idx="153">
                  <c:v>43.599</c:v>
                </c:pt>
                <c:pt idx="154">
                  <c:v>44.019</c:v>
                </c:pt>
                <c:pt idx="155">
                  <c:v>44.136</c:v>
                </c:pt>
                <c:pt idx="156">
                  <c:v>44.283</c:v>
                </c:pt>
                <c:pt idx="157">
                  <c:v>44.361</c:v>
                </c:pt>
                <c:pt idx="158">
                  <c:v>44.399</c:v>
                </c:pt>
                <c:pt idx="159">
                  <c:v>44.399</c:v>
                </c:pt>
                <c:pt idx="160">
                  <c:v>44.556</c:v>
                </c:pt>
                <c:pt idx="161">
                  <c:v>44.667</c:v>
                </c:pt>
                <c:pt idx="162">
                  <c:v>44.705</c:v>
                </c:pt>
                <c:pt idx="163">
                  <c:v>44.782</c:v>
                </c:pt>
                <c:pt idx="164">
                  <c:v>45.09</c:v>
                </c:pt>
                <c:pt idx="165">
                  <c:v>45.19</c:v>
                </c:pt>
                <c:pt idx="166">
                  <c:v>45.434</c:v>
                </c:pt>
                <c:pt idx="167">
                  <c:v>45.545</c:v>
                </c:pt>
                <c:pt idx="168">
                  <c:v>45.623</c:v>
                </c:pt>
                <c:pt idx="169">
                  <c:v>45.697</c:v>
                </c:pt>
                <c:pt idx="170">
                  <c:v>45.813</c:v>
                </c:pt>
                <c:pt idx="171">
                  <c:v>45.895</c:v>
                </c:pt>
                <c:pt idx="172">
                  <c:v>46.232</c:v>
                </c:pt>
                <c:pt idx="173">
                  <c:v>46.378</c:v>
                </c:pt>
                <c:pt idx="174">
                  <c:v>46.505</c:v>
                </c:pt>
                <c:pt idx="175">
                  <c:v>46.773</c:v>
                </c:pt>
                <c:pt idx="176">
                  <c:v>46.849</c:v>
                </c:pt>
                <c:pt idx="177">
                  <c:v>47.11</c:v>
                </c:pt>
                <c:pt idx="178">
                  <c:v>47.133</c:v>
                </c:pt>
                <c:pt idx="179">
                  <c:v>47.228</c:v>
                </c:pt>
                <c:pt idx="180">
                  <c:v>47.267</c:v>
                </c:pt>
                <c:pt idx="181">
                  <c:v>47.419</c:v>
                </c:pt>
                <c:pt idx="182">
                  <c:v>48.029</c:v>
                </c:pt>
                <c:pt idx="183">
                  <c:v>48.375</c:v>
                </c:pt>
                <c:pt idx="184">
                  <c:v>48.413</c:v>
                </c:pt>
                <c:pt idx="185">
                  <c:v>48.452</c:v>
                </c:pt>
                <c:pt idx="186">
                  <c:v>48.491</c:v>
                </c:pt>
                <c:pt idx="187">
                  <c:v>48.528</c:v>
                </c:pt>
                <c:pt idx="188">
                  <c:v>48.565</c:v>
                </c:pt>
                <c:pt idx="189">
                  <c:v>48.605</c:v>
                </c:pt>
                <c:pt idx="190">
                  <c:v>48.681</c:v>
                </c:pt>
                <c:pt idx="191">
                  <c:v>48.945</c:v>
                </c:pt>
                <c:pt idx="192">
                  <c:v>48.945</c:v>
                </c:pt>
                <c:pt idx="193">
                  <c:v>48.987</c:v>
                </c:pt>
                <c:pt idx="194">
                  <c:v>49.025</c:v>
                </c:pt>
                <c:pt idx="195">
                  <c:v>49.025</c:v>
                </c:pt>
                <c:pt idx="196">
                  <c:v>49.827</c:v>
                </c:pt>
                <c:pt idx="197">
                  <c:v>49.827</c:v>
                </c:pt>
                <c:pt idx="198">
                  <c:v>50.057</c:v>
                </c:pt>
                <c:pt idx="199">
                  <c:v>50.057</c:v>
                </c:pt>
                <c:pt idx="200">
                  <c:v>50.172</c:v>
                </c:pt>
                <c:pt idx="201">
                  <c:v>50.211</c:v>
                </c:pt>
                <c:pt idx="202">
                  <c:v>50.363</c:v>
                </c:pt>
                <c:pt idx="203">
                  <c:v>50.465</c:v>
                </c:pt>
                <c:pt idx="204">
                  <c:v>50.592</c:v>
                </c:pt>
                <c:pt idx="205">
                  <c:v>50.698</c:v>
                </c:pt>
                <c:pt idx="206">
                  <c:v>51.051</c:v>
                </c:pt>
                <c:pt idx="207">
                  <c:v>51.109</c:v>
                </c:pt>
                <c:pt idx="208">
                  <c:v>51.28</c:v>
                </c:pt>
                <c:pt idx="209">
                  <c:v>51.929</c:v>
                </c:pt>
                <c:pt idx="210">
                  <c:v>52.421</c:v>
                </c:pt>
                <c:pt idx="211">
                  <c:v>52.478</c:v>
                </c:pt>
                <c:pt idx="212">
                  <c:v>52.888</c:v>
                </c:pt>
                <c:pt idx="213">
                  <c:v>52.995</c:v>
                </c:pt>
                <c:pt idx="214">
                  <c:v>53.078</c:v>
                </c:pt>
                <c:pt idx="215">
                  <c:v>53.264</c:v>
                </c:pt>
                <c:pt idx="216">
                  <c:v>53.288</c:v>
                </c:pt>
                <c:pt idx="217">
                  <c:v>53.682</c:v>
                </c:pt>
                <c:pt idx="218">
                  <c:v>53.763</c:v>
                </c:pt>
                <c:pt idx="219">
                  <c:v>53.92</c:v>
                </c:pt>
                <c:pt idx="220">
                  <c:v>54.601</c:v>
                </c:pt>
                <c:pt idx="221">
                  <c:v>54.792</c:v>
                </c:pt>
                <c:pt idx="222">
                  <c:v>54.988</c:v>
                </c:pt>
                <c:pt idx="223">
                  <c:v>54.988</c:v>
                </c:pt>
                <c:pt idx="224">
                  <c:v>55.558</c:v>
                </c:pt>
                <c:pt idx="225">
                  <c:v>55.709</c:v>
                </c:pt>
                <c:pt idx="226">
                  <c:v>55.818</c:v>
                </c:pt>
                <c:pt idx="227">
                  <c:v>56.323</c:v>
                </c:pt>
                <c:pt idx="228">
                  <c:v>56.473</c:v>
                </c:pt>
                <c:pt idx="229">
                  <c:v>56.516</c:v>
                </c:pt>
                <c:pt idx="230">
                  <c:v>56.746</c:v>
                </c:pt>
                <c:pt idx="231">
                  <c:v>57.125</c:v>
                </c:pt>
                <c:pt idx="232">
                  <c:v>57.276</c:v>
                </c:pt>
                <c:pt idx="233">
                  <c:v>57.464</c:v>
                </c:pt>
                <c:pt idx="234">
                  <c:v>57.962</c:v>
                </c:pt>
                <c:pt idx="235">
                  <c:v>60.446</c:v>
                </c:pt>
                <c:pt idx="236">
                  <c:v>61.862</c:v>
                </c:pt>
                <c:pt idx="237">
                  <c:v>64.041</c:v>
                </c:pt>
              </c:numCache>
            </c:numRef>
          </c:yVal>
          <c:smooth val="0"/>
        </c:ser>
        <c:dLbls>
          <c:numFmt formatCode="General"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10.75"/>
          <c:min val="7"/>
        </c:scaling>
        <c:delete val="0"/>
        <c:axPos val="b"/>
        <c:title>
          <c:tx>
            <c:rich>
              <a:bodyPr/>
              <a:lstStyle/>
              <a:p>
                <a:pPr>
                  <a:defRPr sz="1100" b="0" i="0" u="none" strike="noStrike">
                    <a:solidFill>
                      <a:srgbClr val="34475C"/>
                    </a:solidFill>
                    <a:latin typeface="+mn-lt"/>
                  </a:defRPr>
                </a:pPr>
                <a:r>
                  <a:rPr sz="1100" b="0" i="0" u="none" strike="noStrike">
                    <a:solidFill>
                      <a:srgbClr val="34475C"/>
                    </a:solidFill>
                    <a:latin typeface="+mn-lt"/>
                  </a:rPr>
                  <a:t>GDP per capita, ln</a:t>
                </a:r>
              </a:p>
            </c:rich>
          </c:tx>
          <c:layout/>
          <c:overlay val="0"/>
        </c:title>
        <c:numFmt formatCode="0.0" sourceLinked="0"/>
        <c:majorTickMark val="none"/>
        <c:minorTickMark val="none"/>
        <c:tickLblPos val="nextTo"/>
        <c:spPr>
          <a:ln w="12700" cap="flat">
            <a:solidFill>
              <a:srgbClr val="10243E"/>
            </a:solidFill>
            <a:prstDash val="solid"/>
            <a:round/>
          </a:ln>
        </c:spPr>
        <c:txPr>
          <a:bodyPr/>
          <a:lstStyle/>
          <a:p>
            <a:pPr>
              <a:defRPr sz="1100" b="0" i="0" u="none" strike="noStrike">
                <a:solidFill>
                  <a:srgbClr val="34475C"/>
                </a:solidFill>
                <a:latin typeface="+mn-lt"/>
              </a:defRPr>
            </a:pPr>
            <a:endParaRPr lang="en-US"/>
          </a:p>
        </c:txPr>
        <c:crossAx val="2094734552"/>
        <c:crosses val="autoZero"/>
        <c:auto val="1"/>
        <c:lblAlgn val="ctr"/>
        <c:noMultiLvlLbl val="1"/>
        <c:majorUnit val="0.5"/>
      </c:valAx>
      <c:valAx>
        <c:axId val="2094734552"/>
        <c:scaling>
          <c:orientation val="minMax"/>
          <c:max val="75"/>
          <c:min val="10"/>
        </c:scaling>
        <c:delete val="0"/>
        <c:axPos val="l"/>
        <c:title>
          <c:tx>
            <c:rich>
              <a:bodyPr/>
              <a:lstStyle/>
              <a:p>
                <a:pPr>
                  <a:defRPr sz="1100" b="0" i="0" u="none" strike="noStrike">
                    <a:solidFill>
                      <a:srgbClr val="34475C"/>
                    </a:solidFill>
                    <a:latin typeface="+mn-lt"/>
                  </a:defRPr>
                </a:pPr>
                <a:r>
                  <a:rPr sz="1100" b="0" i="0" u="none" strike="noStrike">
                    <a:solidFill>
                      <a:srgbClr val="34475C"/>
                    </a:solidFill>
                    <a:latin typeface="+mn-lt"/>
                  </a:rPr>
                  <a:t>Female labor-force participation, %</a:t>
                </a:r>
              </a:p>
            </c:rich>
          </c:tx>
          <c:layout/>
          <c:overlay val="0"/>
        </c:title>
        <c:numFmt formatCode="0" sourceLinked="0"/>
        <c:majorTickMark val="none"/>
        <c:minorTickMark val="none"/>
        <c:tickLblPos val="nextTo"/>
        <c:spPr>
          <a:ln w="12700" cap="flat">
            <a:solidFill>
              <a:srgbClr val="10243E"/>
            </a:solidFill>
            <a:prstDash val="solid"/>
            <a:round/>
          </a:ln>
        </c:spPr>
        <c:txPr>
          <a:bodyPr/>
          <a:lstStyle/>
          <a:p>
            <a:pPr>
              <a:defRPr sz="1100" b="0" i="0" u="none" strike="noStrike">
                <a:solidFill>
                  <a:srgbClr val="34475C"/>
                </a:solidFill>
                <a:latin typeface="+mn-lt"/>
              </a:defRPr>
            </a:pPr>
            <a:endParaRPr lang="en-US"/>
          </a:p>
        </c:txPr>
        <c:crossAx val="2094734554"/>
        <c:crosses val="autoZero"/>
        <c:crossBetween val="midCat"/>
        <c:majorUnit val="10"/>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2"/>
          <c:y val="0.03"/>
          <c:w val="0.77"/>
          <c:h val="0.76"/>
        </c:manualLayout>
      </c:layout>
      <c:scatterChart>
        <c:scatterStyle val="lineMarker"/>
        <c:varyColors val="0"/>
        <c:ser>
          <c:idx val="0"/>
          <c:order val="0"/>
          <c:tx>
            <c:strRef>
              <c:f>Sheet1!$B$1</c:f>
              <c:strCache>
                <c:ptCount val="1"/>
                <c:pt idx="0">
                  <c:v>Female labor-force participation, %</c:v>
                </c:pt>
              </c:strCache>
            </c:strRef>
          </c:tx>
          <c:spPr>
            <a:solidFill>
              <a:srgbClr val="111111"/>
            </a:solidFill>
            <a:ln>
              <a:noFill/>
            </a:ln>
            <a:effectLst/>
          </c:spPr>
          <c:marker>
            <c:symbol val="square"/>
            <c:size val="5"/>
            <c:spPr>
              <a:solidFill>
                <a:srgbClr val="111111"/>
              </a:solidFill>
              <a:ln w="9525" cap="flat">
                <a:solidFill>
                  <a:srgbClr val="111111"/>
                </a:solidFill>
                <a:prstDash val="solid"/>
                <a:round/>
              </a:ln>
              <a:effectLst/>
            </c:spPr>
          </c:marker>
          <c:xVal>
            <c:numRef>
              <c:f>Sheet1!$A$2:$A$14</c:f>
              <c:numCache>
                <c:formatCode>General</c:formatCode>
                <c:ptCount val="13"/>
                <c:pt idx="0">
                  <c:v>7.3701</c:v>
                </c:pt>
                <c:pt idx="1">
                  <c:v>7.8902</c:v>
                </c:pt>
                <c:pt idx="2">
                  <c:v>7.9948</c:v>
                </c:pt>
                <c:pt idx="3">
                  <c:v>9.4744</c:v>
                </c:pt>
                <c:pt idx="4">
                  <c:v>9.5776</c:v>
                </c:pt>
                <c:pt idx="5">
                  <c:v>14.0721</c:v>
                </c:pt>
                <c:pt idx="6">
                  <c:v>15.1883</c:v>
                </c:pt>
                <c:pt idx="7">
                  <c:v>15.8908</c:v>
                </c:pt>
                <c:pt idx="8">
                  <c:v>18.6698</c:v>
                </c:pt>
                <c:pt idx="9">
                  <c:v>25.1888</c:v>
                </c:pt>
                <c:pt idx="10">
                  <c:v>26.0726</c:v>
                </c:pt>
                <c:pt idx="11">
                  <c:v>31.2936</c:v>
                </c:pt>
                <c:pt idx="12">
                  <c:v>31.5788</c:v>
                </c:pt>
              </c:numCache>
            </c:numRef>
          </c:xVal>
          <c:yVal>
            <c:numRef>
              <c:f>Sheet1!$B$2:$B$14</c:f>
              <c:numCache>
                <c:formatCode>General</c:formatCode>
                <c:ptCount val="13"/>
                <c:pt idx="0">
                  <c:v>43.613</c:v>
                </c:pt>
                <c:pt idx="1">
                  <c:v>48.409</c:v>
                </c:pt>
                <c:pt idx="2">
                  <c:v>60.007</c:v>
                </c:pt>
                <c:pt idx="3">
                  <c:v>52.798</c:v>
                </c:pt>
                <c:pt idx="4">
                  <c:v>56.607</c:v>
                </c:pt>
                <c:pt idx="5">
                  <c:v>49.208</c:v>
                </c:pt>
                <c:pt idx="6">
                  <c:v>48.316</c:v>
                </c:pt>
                <c:pt idx="7">
                  <c:v>35.416</c:v>
                </c:pt>
                <c:pt idx="8">
                  <c:v>53.3</c:v>
                </c:pt>
                <c:pt idx="9">
                  <c:v>47.203</c:v>
                </c:pt>
                <c:pt idx="10">
                  <c:v>54.098</c:v>
                </c:pt>
                <c:pt idx="11">
                  <c:v>40.714</c:v>
                </c:pt>
                <c:pt idx="12">
                  <c:v>40.306</c:v>
                </c:pt>
              </c:numCache>
            </c:numRef>
          </c:yVal>
          <c:smooth val="0"/>
        </c:ser>
        <c:ser>
          <c:idx val="1"/>
          <c:order val="1"/>
          <c:tx>
            <c:strRef>
              <c:f>Sheet1!$C$1</c:f>
              <c:strCache>
                <c:ptCount val="1"/>
                <c:pt idx="0">
                  <c:v>Fitted line</c:v>
                </c:pt>
              </c:strCache>
            </c:strRef>
          </c:tx>
          <c:spPr>
            <a:ln w="19050" cap="rnd">
              <a:solidFill>
                <a:srgbClr val="E02424"/>
              </a:solidFill>
              <a:round/>
            </a:ln>
          </c:spPr>
          <c:marker>
            <c:symbol val="none"/>
          </c:marker>
          <c:xVal>
            <c:numRef>
              <c:f>Sheet1!$A$2:$A$14</c:f>
              <c:numCache>
                <c:formatCode>General</c:formatCode>
                <c:ptCount val="13"/>
                <c:pt idx="0">
                  <c:v>7.3701</c:v>
                </c:pt>
                <c:pt idx="1">
                  <c:v>7.8902</c:v>
                </c:pt>
                <c:pt idx="2">
                  <c:v>7.9948</c:v>
                </c:pt>
                <c:pt idx="3">
                  <c:v>9.4744</c:v>
                </c:pt>
                <c:pt idx="4">
                  <c:v>9.5776</c:v>
                </c:pt>
                <c:pt idx="5">
                  <c:v>14.0721</c:v>
                </c:pt>
                <c:pt idx="6">
                  <c:v>15.1883</c:v>
                </c:pt>
                <c:pt idx="7">
                  <c:v>15.8908</c:v>
                </c:pt>
                <c:pt idx="8">
                  <c:v>18.6698</c:v>
                </c:pt>
                <c:pt idx="9">
                  <c:v>25.1888</c:v>
                </c:pt>
                <c:pt idx="10">
                  <c:v>26.0726</c:v>
                </c:pt>
                <c:pt idx="11">
                  <c:v>31.2936</c:v>
                </c:pt>
                <c:pt idx="12">
                  <c:v>31.5788</c:v>
                </c:pt>
              </c:numCache>
            </c:numRef>
          </c:xVal>
          <c:yVal>
            <c:numRef>
              <c:f>Sheet1!$C$2:$C$14</c:f>
              <c:numCache>
                <c:formatCode>General</c:formatCode>
                <c:ptCount val="13"/>
                <c:pt idx="0">
                  <c:v>51.65</c:v>
                </c:pt>
                <c:pt idx="1">
                  <c:v>51.476</c:v>
                </c:pt>
                <c:pt idx="2">
                  <c:v>51.442</c:v>
                </c:pt>
                <c:pt idx="3">
                  <c:v>50.948</c:v>
                </c:pt>
                <c:pt idx="4">
                  <c:v>50.914</c:v>
                </c:pt>
                <c:pt idx="5">
                  <c:v>49.415</c:v>
                </c:pt>
                <c:pt idx="6">
                  <c:v>49.043</c:v>
                </c:pt>
                <c:pt idx="7">
                  <c:v>48.809</c:v>
                </c:pt>
                <c:pt idx="8">
                  <c:v>47.882</c:v>
                </c:pt>
                <c:pt idx="9">
                  <c:v>45.708</c:v>
                </c:pt>
                <c:pt idx="10">
                  <c:v>45.414</c:v>
                </c:pt>
                <c:pt idx="11">
                  <c:v>43.673</c:v>
                </c:pt>
                <c:pt idx="12">
                  <c:v>43.577</c:v>
                </c:pt>
              </c:numCache>
            </c:numRef>
          </c:yVal>
          <c:smooth val="0"/>
        </c:ser>
        <c:dLbls>
          <c:numFmt formatCode="General"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35"/>
          <c:min val="5"/>
        </c:scaling>
        <c:delete val="0"/>
        <c:axPos val="b"/>
        <c:title>
          <c:tx>
            <c:rich>
              <a:bodyPr/>
              <a:lstStyle/>
              <a:p>
                <a:pPr>
                  <a:defRPr sz="1100" b="0" i="0" u="none" strike="noStrike">
                    <a:solidFill>
                      <a:srgbClr val="34475C"/>
                    </a:solidFill>
                    <a:latin typeface="+mn-lt"/>
                  </a:defRPr>
                </a:pPr>
                <a:r>
                  <a:rPr sz="1100" b="0" i="0" u="none" strike="noStrike">
                    <a:solidFill>
                      <a:srgbClr val="34475C"/>
                    </a:solidFill>
                    <a:latin typeface="+mn-lt"/>
                  </a:rPr>
                  <a:t>Gender gap, %</a:t>
                </a:r>
              </a:p>
            </c:rich>
          </c:tx>
          <c:layout/>
          <c:overlay val="0"/>
        </c:title>
        <c:numFmt formatCode="0" sourceLinked="0"/>
        <c:majorTickMark val="none"/>
        <c:minorTickMark val="none"/>
        <c:tickLblPos val="nextTo"/>
        <c:spPr>
          <a:ln w="12700" cap="flat">
            <a:solidFill>
              <a:srgbClr val="10243E"/>
            </a:solidFill>
            <a:prstDash val="solid"/>
            <a:round/>
          </a:ln>
        </c:spPr>
        <c:txPr>
          <a:bodyPr/>
          <a:lstStyle/>
          <a:p>
            <a:pPr>
              <a:defRPr sz="1100" b="0" i="0" u="none" strike="noStrike">
                <a:solidFill>
                  <a:srgbClr val="34475C"/>
                </a:solidFill>
                <a:latin typeface="+mn-lt"/>
              </a:defRPr>
            </a:pPr>
            <a:endParaRPr lang="en-US"/>
          </a:p>
        </c:txPr>
        <c:crossAx val="2094734552"/>
        <c:crosses val="autoZero"/>
        <c:auto val="1"/>
        <c:lblAlgn val="ctr"/>
        <c:noMultiLvlLbl val="1"/>
        <c:majorUnit val="5"/>
      </c:valAx>
      <c:valAx>
        <c:axId val="2094734552"/>
        <c:scaling>
          <c:orientation val="minMax"/>
          <c:max val="62.5"/>
          <c:min val="30"/>
        </c:scaling>
        <c:delete val="0"/>
        <c:axPos val="l"/>
        <c:title>
          <c:tx>
            <c:rich>
              <a:bodyPr/>
              <a:lstStyle/>
              <a:p>
                <a:pPr>
                  <a:defRPr sz="1100" b="0" i="0" u="none" strike="noStrike">
                    <a:solidFill>
                      <a:srgbClr val="34475C"/>
                    </a:solidFill>
                    <a:latin typeface="+mn-lt"/>
                  </a:defRPr>
                </a:pPr>
                <a:r>
                  <a:rPr sz="1100" b="0" i="0" u="none" strike="noStrike">
                    <a:solidFill>
                      <a:srgbClr val="34475C"/>
                    </a:solidFill>
                    <a:latin typeface="+mn-lt"/>
                  </a:rPr>
                  <a:t>Female labor-force participation, %</a:t>
                </a:r>
              </a:p>
            </c:rich>
          </c:tx>
          <c:layout/>
          <c:overlay val="0"/>
        </c:title>
        <c:numFmt formatCode="[&lt;35]&quot;&quot;;0" sourceLinked="0"/>
        <c:majorTickMark val="none"/>
        <c:minorTickMark val="none"/>
        <c:tickLblPos val="nextTo"/>
        <c:spPr>
          <a:ln w="12700" cap="flat">
            <a:solidFill>
              <a:srgbClr val="10243E"/>
            </a:solidFill>
            <a:prstDash val="solid"/>
            <a:round/>
          </a:ln>
        </c:spPr>
        <c:txPr>
          <a:bodyPr/>
          <a:lstStyle/>
          <a:p>
            <a:pPr>
              <a:defRPr sz="1100" b="0" i="0" u="none" strike="noStrike">
                <a:solidFill>
                  <a:srgbClr val="34475C"/>
                </a:solidFill>
                <a:latin typeface="+mn-lt"/>
              </a:defRPr>
            </a:pPr>
            <a:endParaRPr lang="en-US"/>
          </a:p>
        </c:txPr>
        <c:crossAx val="2094734554"/>
        <c:crosses val="autoZero"/>
        <c:crossBetween val="midCat"/>
        <c:majorUnit val="5"/>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5"/>
          <c:y val="0.03"/>
          <c:w val="0.82"/>
          <c:h val="0.76"/>
        </c:manualLayout>
      </c:layout>
      <c:scatterChart>
        <c:scatterStyle val="lineMarker"/>
        <c:varyColors val="0"/>
        <c:ser>
          <c:idx val="0"/>
          <c:order val="0"/>
          <c:tx>
            <c:strRef>
              <c:f>Sheet1!$B$1</c:f>
              <c:strCache>
                <c:ptCount val="1"/>
                <c:pt idx="0">
                  <c:v>Female labor-force participation, %</c:v>
                </c:pt>
              </c:strCache>
            </c:strRef>
          </c:tx>
          <c:spPr>
            <a:solidFill>
              <a:srgbClr val="111111"/>
            </a:solidFill>
            <a:ln>
              <a:noFill/>
            </a:ln>
            <a:effectLst/>
          </c:spPr>
          <c:marker>
            <c:symbol val="circle"/>
            <c:size val="5"/>
            <c:spPr>
              <a:solidFill>
                <a:srgbClr val="111111"/>
              </a:solidFill>
              <a:ln w="9525" cap="flat">
                <a:solidFill>
                  <a:srgbClr val="111111"/>
                </a:solidFill>
                <a:prstDash val="solid"/>
                <a:round/>
              </a:ln>
              <a:effectLst/>
            </c:spPr>
          </c:marker>
          <c:xVal>
            <c:numRef>
              <c:f>Sheet1!$A$2:$A$28</c:f>
              <c:numCache>
                <c:formatCode>General</c:formatCode>
                <c:ptCount val="27"/>
                <c:pt idx="0">
                  <c:v>0.1892</c:v>
                </c:pt>
                <c:pt idx="1">
                  <c:v>0.2688</c:v>
                </c:pt>
                <c:pt idx="2">
                  <c:v>0.2688</c:v>
                </c:pt>
                <c:pt idx="3">
                  <c:v>0.3788</c:v>
                </c:pt>
                <c:pt idx="4">
                  <c:v>0.4195</c:v>
                </c:pt>
                <c:pt idx="5">
                  <c:v>0.4489</c:v>
                </c:pt>
                <c:pt idx="6">
                  <c:v>0.4792</c:v>
                </c:pt>
                <c:pt idx="7">
                  <c:v>0.4887</c:v>
                </c:pt>
                <c:pt idx="8">
                  <c:v>0.6195</c:v>
                </c:pt>
                <c:pt idx="9">
                  <c:v>0.6792</c:v>
                </c:pt>
                <c:pt idx="10">
                  <c:v>0.7892</c:v>
                </c:pt>
                <c:pt idx="11">
                  <c:v>0.8394</c:v>
                </c:pt>
                <c:pt idx="12">
                  <c:v>0.8593</c:v>
                </c:pt>
                <c:pt idx="13">
                  <c:v>0.8689</c:v>
                </c:pt>
                <c:pt idx="14">
                  <c:v>0.8887</c:v>
                </c:pt>
                <c:pt idx="15">
                  <c:v>0.919</c:v>
                </c:pt>
                <c:pt idx="16">
                  <c:v>0.919</c:v>
                </c:pt>
                <c:pt idx="17">
                  <c:v>0.919</c:v>
                </c:pt>
                <c:pt idx="18">
                  <c:v>0.9389</c:v>
                </c:pt>
                <c:pt idx="19">
                  <c:v>0.9693</c:v>
                </c:pt>
                <c:pt idx="20">
                  <c:v>0.9693</c:v>
                </c:pt>
                <c:pt idx="21">
                  <c:v>0.9693</c:v>
                </c:pt>
                <c:pt idx="22">
                  <c:v>0.9693</c:v>
                </c:pt>
                <c:pt idx="23">
                  <c:v>0.9788</c:v>
                </c:pt>
                <c:pt idx="24">
                  <c:v>0.9892</c:v>
                </c:pt>
                <c:pt idx="25">
                  <c:v>0.9892</c:v>
                </c:pt>
                <c:pt idx="26">
                  <c:v>0.9996</c:v>
                </c:pt>
              </c:numCache>
            </c:numRef>
          </c:xVal>
          <c:yVal>
            <c:numRef>
              <c:f>Sheet1!$B$2:$B$28</c:f>
              <c:numCache>
                <c:formatCode>General</c:formatCode>
                <c:ptCount val="27"/>
                <c:pt idx="0">
                  <c:v>54.099</c:v>
                </c:pt>
                <c:pt idx="1">
                  <c:v>34.914</c:v>
                </c:pt>
                <c:pt idx="2">
                  <c:v>48.911</c:v>
                </c:pt>
                <c:pt idx="3">
                  <c:v>52.61</c:v>
                </c:pt>
                <c:pt idx="4">
                  <c:v>41.42</c:v>
                </c:pt>
                <c:pt idx="5">
                  <c:v>51.7</c:v>
                </c:pt>
                <c:pt idx="6">
                  <c:v>49.209</c:v>
                </c:pt>
                <c:pt idx="7">
                  <c:v>51.199</c:v>
                </c:pt>
                <c:pt idx="8">
                  <c:v>52.798</c:v>
                </c:pt>
                <c:pt idx="9">
                  <c:v>40.713</c:v>
                </c:pt>
                <c:pt idx="10">
                  <c:v>48.409</c:v>
                </c:pt>
                <c:pt idx="11">
                  <c:v>48.205</c:v>
                </c:pt>
                <c:pt idx="12">
                  <c:v>48.315</c:v>
                </c:pt>
                <c:pt idx="13">
                  <c:v>47.202</c:v>
                </c:pt>
                <c:pt idx="14">
                  <c:v>54.71</c:v>
                </c:pt>
                <c:pt idx="15">
                  <c:v>43.613</c:v>
                </c:pt>
                <c:pt idx="16">
                  <c:v>49.209</c:v>
                </c:pt>
                <c:pt idx="17">
                  <c:v>54.099</c:v>
                </c:pt>
                <c:pt idx="18">
                  <c:v>60.008</c:v>
                </c:pt>
                <c:pt idx="19">
                  <c:v>49.303</c:v>
                </c:pt>
                <c:pt idx="20">
                  <c:v>56.81</c:v>
                </c:pt>
                <c:pt idx="21">
                  <c:v>58.095</c:v>
                </c:pt>
                <c:pt idx="22">
                  <c:v>57.703</c:v>
                </c:pt>
                <c:pt idx="23">
                  <c:v>59.004</c:v>
                </c:pt>
                <c:pt idx="24">
                  <c:v>56.606</c:v>
                </c:pt>
                <c:pt idx="25">
                  <c:v>53.299</c:v>
                </c:pt>
                <c:pt idx="26">
                  <c:v>60.196</c:v>
                </c:pt>
              </c:numCache>
            </c:numRef>
          </c:yVal>
          <c:smooth val="0"/>
        </c:ser>
        <c:ser>
          <c:idx val="1"/>
          <c:order val="1"/>
          <c:tx>
            <c:strRef>
              <c:f>Sheet1!$C$1</c:f>
              <c:strCache>
                <c:ptCount val="1"/>
                <c:pt idx="0">
                  <c:v>Fitted line</c:v>
                </c:pt>
              </c:strCache>
            </c:strRef>
          </c:tx>
          <c:spPr>
            <a:ln w="19050" cap="rnd">
              <a:solidFill>
                <a:srgbClr val="E02424"/>
              </a:solidFill>
              <a:round/>
            </a:ln>
          </c:spPr>
          <c:marker>
            <c:symbol val="none"/>
          </c:marker>
          <c:xVal>
            <c:numRef>
              <c:f>Sheet1!$A$2:$A$28</c:f>
              <c:numCache>
                <c:formatCode>General</c:formatCode>
                <c:ptCount val="27"/>
                <c:pt idx="0">
                  <c:v>0.1892</c:v>
                </c:pt>
                <c:pt idx="1">
                  <c:v>0.2688</c:v>
                </c:pt>
                <c:pt idx="2">
                  <c:v>0.2688</c:v>
                </c:pt>
                <c:pt idx="3">
                  <c:v>0.3788</c:v>
                </c:pt>
                <c:pt idx="4">
                  <c:v>0.4195</c:v>
                </c:pt>
                <c:pt idx="5">
                  <c:v>0.4489</c:v>
                </c:pt>
                <c:pt idx="6">
                  <c:v>0.4792</c:v>
                </c:pt>
                <c:pt idx="7">
                  <c:v>0.4887</c:v>
                </c:pt>
                <c:pt idx="8">
                  <c:v>0.6195</c:v>
                </c:pt>
                <c:pt idx="9">
                  <c:v>0.6792</c:v>
                </c:pt>
                <c:pt idx="10">
                  <c:v>0.7892</c:v>
                </c:pt>
                <c:pt idx="11">
                  <c:v>0.8394</c:v>
                </c:pt>
                <c:pt idx="12">
                  <c:v>0.8593</c:v>
                </c:pt>
                <c:pt idx="13">
                  <c:v>0.8689</c:v>
                </c:pt>
                <c:pt idx="14">
                  <c:v>0.8887</c:v>
                </c:pt>
                <c:pt idx="15">
                  <c:v>0.919</c:v>
                </c:pt>
                <c:pt idx="16">
                  <c:v>0.919</c:v>
                </c:pt>
                <c:pt idx="17">
                  <c:v>0.919</c:v>
                </c:pt>
                <c:pt idx="18">
                  <c:v>0.9389</c:v>
                </c:pt>
                <c:pt idx="19">
                  <c:v>0.9693</c:v>
                </c:pt>
                <c:pt idx="20">
                  <c:v>0.9693</c:v>
                </c:pt>
                <c:pt idx="21">
                  <c:v>0.9693</c:v>
                </c:pt>
                <c:pt idx="22">
                  <c:v>0.9693</c:v>
                </c:pt>
                <c:pt idx="23">
                  <c:v>0.9788</c:v>
                </c:pt>
                <c:pt idx="24">
                  <c:v>0.9892</c:v>
                </c:pt>
                <c:pt idx="25">
                  <c:v>0.9892</c:v>
                </c:pt>
                <c:pt idx="26">
                  <c:v>0.9996</c:v>
                </c:pt>
              </c:numCache>
            </c:numRef>
          </c:xVal>
          <c:yVal>
            <c:numRef>
              <c:f>Sheet1!$C$2:$C$28</c:f>
              <c:numCache>
                <c:formatCode>General</c:formatCode>
                <c:ptCount val="27"/>
                <c:pt idx="0">
                  <c:v>45.168</c:v>
                </c:pt>
                <c:pt idx="1">
                  <c:v>46.033</c:v>
                </c:pt>
                <c:pt idx="2">
                  <c:v>46.033</c:v>
                </c:pt>
                <c:pt idx="3">
                  <c:v>47.229</c:v>
                </c:pt>
                <c:pt idx="4">
                  <c:v>47.671</c:v>
                </c:pt>
                <c:pt idx="5">
                  <c:v>47.991</c:v>
                </c:pt>
                <c:pt idx="6">
                  <c:v>48.32</c:v>
                </c:pt>
                <c:pt idx="7">
                  <c:v>48.423</c:v>
                </c:pt>
                <c:pt idx="8">
                  <c:v>49.845</c:v>
                </c:pt>
                <c:pt idx="9">
                  <c:v>50.494</c:v>
                </c:pt>
                <c:pt idx="10">
                  <c:v>51.689</c:v>
                </c:pt>
                <c:pt idx="11">
                  <c:v>52.235</c:v>
                </c:pt>
                <c:pt idx="12">
                  <c:v>52.451</c:v>
                </c:pt>
                <c:pt idx="13">
                  <c:v>52.556</c:v>
                </c:pt>
                <c:pt idx="14">
                  <c:v>52.771</c:v>
                </c:pt>
                <c:pt idx="15">
                  <c:v>53.1</c:v>
                </c:pt>
                <c:pt idx="16">
                  <c:v>53.1</c:v>
                </c:pt>
                <c:pt idx="17">
                  <c:v>53.1</c:v>
                </c:pt>
                <c:pt idx="18">
                  <c:v>53.316</c:v>
                </c:pt>
                <c:pt idx="19">
                  <c:v>53.647</c:v>
                </c:pt>
                <c:pt idx="20">
                  <c:v>53.647</c:v>
                </c:pt>
                <c:pt idx="21">
                  <c:v>53.647</c:v>
                </c:pt>
                <c:pt idx="22">
                  <c:v>53.647</c:v>
                </c:pt>
                <c:pt idx="23">
                  <c:v>53.75</c:v>
                </c:pt>
                <c:pt idx="24">
                  <c:v>53.863</c:v>
                </c:pt>
                <c:pt idx="25">
                  <c:v>53.863</c:v>
                </c:pt>
                <c:pt idx="26">
                  <c:v>53.976</c:v>
                </c:pt>
              </c:numCache>
            </c:numRef>
          </c:yVal>
          <c:smooth val="0"/>
        </c:ser>
        <c:dLbls>
          <c:numFmt formatCode="General"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dLbls>
        <c:axId val="2094734554"/>
        <c:axId val="2094734552"/>
      </c:scatterChart>
      <c:valAx>
        <c:axId val="2094734554"/>
        <c:scaling>
          <c:orientation val="minMax"/>
          <c:max val="1.1"/>
          <c:min val="0"/>
        </c:scaling>
        <c:delete val="0"/>
        <c:axPos val="b"/>
        <c:title>
          <c:tx>
            <c:rich>
              <a:bodyPr/>
              <a:lstStyle/>
              <a:p>
                <a:pPr>
                  <a:defRPr sz="1100" b="0" i="0" u="none" strike="noStrike">
                    <a:solidFill>
                      <a:srgbClr val="34475C"/>
                    </a:solidFill>
                    <a:latin typeface="+mn-lt"/>
                  </a:defRPr>
                </a:pPr>
                <a:r>
                  <a:rPr sz="1100" b="0" i="0" u="none" strike="noStrike">
                    <a:solidFill>
                      <a:srgbClr val="34475C"/>
                    </a:solidFill>
                    <a:latin typeface="+mn-lt"/>
                  </a:rPr>
                  <a:t>Automation index</a:t>
                </a:r>
              </a:p>
            </c:rich>
          </c:tx>
          <c:layout/>
          <c:overlay val="0"/>
        </c:title>
        <c:numFmt formatCode="[&lt;0.2]&quot;&quot;;0.0" sourceLinked="0"/>
        <c:majorTickMark val="none"/>
        <c:minorTickMark val="none"/>
        <c:tickLblPos val="nextTo"/>
        <c:spPr>
          <a:ln w="12700" cap="flat">
            <a:solidFill>
              <a:srgbClr val="10243E"/>
            </a:solidFill>
            <a:prstDash val="solid"/>
            <a:round/>
          </a:ln>
        </c:spPr>
        <c:txPr>
          <a:bodyPr/>
          <a:lstStyle/>
          <a:p>
            <a:pPr>
              <a:defRPr sz="1100" b="0" i="0" u="none" strike="noStrike">
                <a:solidFill>
                  <a:srgbClr val="34475C"/>
                </a:solidFill>
                <a:latin typeface="+mn-lt"/>
              </a:defRPr>
            </a:pPr>
            <a:endParaRPr lang="en-US"/>
          </a:p>
        </c:txPr>
        <c:crossAx val="2094734552"/>
        <c:crosses val="autoZero"/>
        <c:auto val="1"/>
        <c:lblAlgn val="ctr"/>
        <c:noMultiLvlLbl val="1"/>
        <c:majorUnit val="0.2"/>
      </c:valAx>
      <c:valAx>
        <c:axId val="2094734552"/>
        <c:scaling>
          <c:orientation val="minMax"/>
          <c:max val="62.5"/>
          <c:min val="30"/>
        </c:scaling>
        <c:delete val="0"/>
        <c:axPos val="l"/>
        <c:numFmt formatCode="[&lt;35]&quot;&quot;;0" sourceLinked="0"/>
        <c:majorTickMark val="none"/>
        <c:minorTickMark val="none"/>
        <c:tickLblPos val="nextTo"/>
        <c:spPr>
          <a:ln w="12700" cap="flat">
            <a:solidFill>
              <a:srgbClr val="10243E"/>
            </a:solidFill>
            <a:prstDash val="solid"/>
            <a:round/>
          </a:ln>
        </c:spPr>
        <c:txPr>
          <a:bodyPr/>
          <a:lstStyle/>
          <a:p>
            <a:pPr>
              <a:defRPr sz="1100" b="0" i="0" u="none" strike="noStrike">
                <a:solidFill>
                  <a:srgbClr val="34475C"/>
                </a:solidFill>
                <a:latin typeface="+mn-lt"/>
              </a:defRPr>
            </a:pPr>
            <a:endParaRPr lang="en-US"/>
          </a:p>
        </c:txPr>
        <c:crossAx val="2094734554"/>
        <c:crosses val="autoZero"/>
        <c:crossBetween val="midCat"/>
        <c:majorUnit val="5"/>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Prestaciones de vejez (USD)</c:v>
                </c:pt>
              </c:strCache>
            </c:strRef>
          </c:tx>
          <c:spPr>
            <a:solidFill>
              <a:srgbClr val="0B2545"/>
            </a:solidFill>
            <a:effectLst/>
          </c:spPr>
          <c:invertIfNegative val="0"/>
          <c:dLbls>
            <c:numFmt formatCode="0" sourceLinked="0"/>
            <c:txPr>
              <a:bodyPr/>
              <a:lstStyle/>
              <a:p>
                <a:pPr>
                  <a:defRPr b="1" i="0" strike="noStrike" sz="1000" u="none">
                    <a:solidFill>
                      <a:srgbClr val="10243E"/>
                    </a:solidFill>
                    <a:latin typeface="+mn-lt"/>
                  </a:defRPr>
                </a:pPr>
              </a:p>
            </c:txPr>
            <c:showLegendKey val="0"/>
            <c:showVal val="1"/>
            <c:showCatName val="0"/>
            <c:showSerName val="0"/>
            <c:showPercent val="0"/>
            <c:showBubbleSize val="0"/>
            <c:showLeaderLines val="0"/>
          </c:dLbls>
          <c:cat>
            <c:multiLvlStrRef>
              <c:f>Sheet1!$A$2:$A$25</c:f>
              <c:multiLvlStrCache>
                <c:ptCount val="24"/>
                <c:lvl>
                  <c:pt idx="0">
                    <c:v>Cuba (RAS)</c:v>
                  </c:pt>
                  <c:pt idx="1">
                    <c:v>Colombia (PCM)</c:v>
                  </c:pt>
                  <c:pt idx="2">
                    <c:v>Perú (Pensión 65)</c:v>
                  </c:pt>
                  <c:pt idx="3">
                    <c:v>Belice (NCPP)</c:v>
                  </c:pt>
                  <c:pt idx="4">
                    <c:v>El Salvador (NMD)</c:v>
                  </c:pt>
                  <c:pt idx="5">
                    <c:v>Guatemala (AEAM)</c:v>
                  </c:pt>
                  <c:pt idx="6">
                    <c:v>Bolivia (Est. Plur. de) (RD)</c:v>
                  </c:pt>
                  <c:pt idx="7">
                    <c:v>San Vicente y las Granadinas (NAAP)</c:v>
                  </c:pt>
                  <c:pt idx="8">
                    <c:v>Trinidad y Tabago (SCP)</c:v>
                  </c:pt>
                  <c:pt idx="9">
                    <c:v>Paraguay (PAAM)</c:v>
                  </c:pt>
                  <c:pt idx="10">
                    <c:v>Antigua y Barbuda (OAP)</c:v>
                  </c:pt>
                  <c:pt idx="11">
                    <c:v>Saint Kitts y Nevis (NCAP)</c:v>
                  </c:pt>
                  <c:pt idx="12">
                    <c:v>México (PBPAM)</c:v>
                  </c:pt>
                  <c:pt idx="13">
                    <c:v>Ecuador (PMMA)</c:v>
                  </c:pt>
                  <c:pt idx="14">
                    <c:v>Rep. Dominicana (PSRS)</c:v>
                  </c:pt>
                  <c:pt idx="15">
                    <c:v>Barbados (NCOAP)</c:v>
                  </c:pt>
                  <c:pt idx="16">
                    <c:v>Guyana (OAPU)</c:v>
                  </c:pt>
                  <c:pt idx="17">
                    <c:v>Panamá (120 a los 65)</c:v>
                  </c:pt>
                  <c:pt idx="18">
                    <c:v>Costa Rica (RNC)</c:v>
                  </c:pt>
                  <c:pt idx="19">
                    <c:v>Brasil (BPC)</c:v>
                  </c:pt>
                  <c:pt idx="20">
                    <c:v>Chile (PGU)</c:v>
                  </c:pt>
                  <c:pt idx="21">
                    <c:v>Argentina (PUAM)</c:v>
                  </c:pt>
                  <c:pt idx="22">
                    <c:v>Bahamas (OANCP)</c:v>
                  </c:pt>
                  <c:pt idx="23">
                    <c:v>Uruguay (PVI)</c:v>
                  </c:pt>
                </c:lvl>
              </c:multiLvlStrCache>
            </c:multiLvlStrRef>
          </c:cat>
          <c:val>
            <c:numRef>
              <c:f>Sheet1!$B$2:$B$25</c:f>
              <c:numCache>
                <c:formatCode>General</c:formatCode>
                <c:ptCount val="24"/>
                <c:pt idx="0">
                  <c:v>9</c:v>
                </c:pt>
                <c:pt idx="1">
                  <c:v>22</c:v>
                </c:pt>
                <c:pt idx="2">
                  <c:v>32</c:v>
                </c:pt>
                <c:pt idx="3">
                  <c:v>50</c:v>
                </c:pt>
                <c:pt idx="4">
                  <c:v>50</c:v>
                </c:pt>
                <c:pt idx="5">
                  <c:v>52</c:v>
                </c:pt>
                <c:pt idx="6">
                  <c:v>55</c:v>
                </c:pt>
                <c:pt idx="7">
                  <c:v>56</c:v>
                </c:pt>
                <c:pt idx="8">
                  <c:v>74</c:v>
                </c:pt>
                <c:pt idx="9">
                  <c:v>81</c:v>
                </c:pt>
                <c:pt idx="10">
                  <c:v>94</c:v>
                </c:pt>
                <c:pt idx="11">
                  <c:v>94</c:v>
                </c:pt>
                <c:pt idx="12">
                  <c:v>96</c:v>
                </c:pt>
                <c:pt idx="13">
                  <c:v>100</c:v>
                </c:pt>
                <c:pt idx="14">
                  <c:v>105</c:v>
                </c:pt>
                <c:pt idx="15">
                  <c:v>115</c:v>
                </c:pt>
                <c:pt idx="16">
                  <c:v>120</c:v>
                </c:pt>
                <c:pt idx="17">
                  <c:v>120</c:v>
                </c:pt>
                <c:pt idx="18">
                  <c:v>144</c:v>
                </c:pt>
                <c:pt idx="19">
                  <c:v>204</c:v>
                </c:pt>
                <c:pt idx="20">
                  <c:v>226</c:v>
                </c:pt>
                <c:pt idx="21">
                  <c:v>250</c:v>
                </c:pt>
                <c:pt idx="22">
                  <c:v>256</c:v>
                </c:pt>
                <c:pt idx="23">
                  <c:v>293</c:v>
                </c:pt>
              </c:numCache>
            </c:numRef>
          </c:val>
        </c:ser>
        <c:dLbls>
          <c:numFmt formatCode="0" sourceLinked="0"/>
          <c:txPr>
            <a:bodyPr/>
            <a:lstStyle/>
            <a:p>
              <a:pPr>
                <a:defRPr b="1" i="0" strike="noStrike" sz="1000" u="none">
                  <a:solidFill>
                    <a:srgbClr val="10243E"/>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AEBBC8"/>
            </a:solidFill>
            <a:prstDash val="solid"/>
            <a:round/>
          </a:ln>
        </c:spPr>
        <c:txPr>
          <a:bodyPr/>
          <a:lstStyle/>
          <a:p>
            <a:pPr>
              <a:defRPr sz="1000" b="0" i="0" u="none" strike="noStrike">
                <a:solidFill>
                  <a:srgbClr val="10243E"/>
                </a:solidFill>
                <a:latin typeface="+mn-lt"/>
              </a:defRPr>
            </a:pPr>
            <a:endParaRPr lang="en-US"/>
          </a:p>
        </c:txPr>
        <c:crossAx val="2094734552"/>
        <c:crosses val="autoZero"/>
        <c:auto val="1"/>
        <c:lblAlgn val="ctr"/>
        <c:noMultiLvlLbl val="1"/>
      </c:catAx>
      <c:valAx>
        <c:axId val="2094734552"/>
        <c:scaling>
          <c:orientation val="minMax"/>
          <c:max val="350"/>
          <c:min val="0"/>
        </c:scaling>
        <c:delete val="0"/>
        <c:axPos val="b"/>
        <c:majorGridlines>
          <c:spPr>
            <a:ln w="9525" cap="flat">
              <a:solidFill>
                <a:srgbClr val="D5E1EA"/>
              </a:solidFill>
              <a:prstDash val="dash"/>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34475C"/>
                </a:solidFill>
                <a:latin typeface="+mn-lt"/>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Prestaciones de discapacidad (USD)</c:v>
                </c:pt>
              </c:strCache>
            </c:strRef>
          </c:tx>
          <c:spPr>
            <a:solidFill>
              <a:srgbClr val="0B2545"/>
            </a:solidFill>
            <a:effectLst/>
          </c:spPr>
          <c:invertIfNegative val="0"/>
          <c:dLbls>
            <c:numFmt formatCode="0" sourceLinked="0"/>
            <c:txPr>
              <a:bodyPr/>
              <a:lstStyle/>
              <a:p>
                <a:pPr>
                  <a:defRPr b="1" i="0" strike="noStrike" sz="1000" u="none">
                    <a:solidFill>
                      <a:srgbClr val="10243E"/>
                    </a:solidFill>
                    <a:latin typeface="+mn-lt"/>
                  </a:defRPr>
                </a:pPr>
              </a:p>
            </c:txPr>
            <c:showLegendKey val="0"/>
            <c:showVal val="1"/>
            <c:showCatName val="0"/>
            <c:showSerName val="0"/>
            <c:showPercent val="0"/>
            <c:showBubbleSize val="0"/>
            <c:showLeaderLines val="0"/>
          </c:dLbls>
          <c:cat>
            <c:multiLvlStrRef>
              <c:f>Sheet1!$A$2:$A$9</c:f>
              <c:multiLvlStrCache>
                <c:ptCount val="8"/>
                <c:lvl>
                  <c:pt idx="0">
                    <c:v>Bolivia (Est. Plur. de) (BMPDG y MG)</c:v>
                  </c:pt>
                  <c:pt idx="1">
                    <c:v>Perú (Contigo)</c:v>
                  </c:pt>
                  <c:pt idx="2">
                    <c:v>México (PBPDP)</c:v>
                  </c:pt>
                  <c:pt idx="3">
                    <c:v>Panamá (PAG)</c:v>
                  </c:pt>
                  <c:pt idx="4">
                    <c:v>Antigua y Barbuda (PBP)</c:v>
                  </c:pt>
                  <c:pt idx="5">
                    <c:v>Ecuador (JGL)</c:v>
                  </c:pt>
                  <c:pt idx="6">
                    <c:v>Bahamas (IA)</c:v>
                  </c:pt>
                  <c:pt idx="7">
                    <c:v>Trinidad y Tabago (DAG)</c:v>
                  </c:pt>
                </c:lvl>
              </c:multiLvlStrCache>
            </c:multiLvlStrRef>
          </c:cat>
          <c:val>
            <c:numRef>
              <c:f>Sheet1!$B$2:$B$9</c:f>
              <c:numCache>
                <c:formatCode>General</c:formatCode>
                <c:ptCount val="8"/>
                <c:pt idx="0">
                  <c:v>36</c:v>
                </c:pt>
                <c:pt idx="1">
                  <c:v>39</c:v>
                </c:pt>
                <c:pt idx="2">
                  <c:v>71</c:v>
                </c:pt>
                <c:pt idx="3">
                  <c:v>80</c:v>
                </c:pt>
                <c:pt idx="4">
                  <c:v>80</c:v>
                </c:pt>
                <c:pt idx="5">
                  <c:v>240</c:v>
                </c:pt>
                <c:pt idx="6">
                  <c:v>256</c:v>
                </c:pt>
                <c:pt idx="7">
                  <c:v>266</c:v>
                </c:pt>
              </c:numCache>
            </c:numRef>
          </c:val>
        </c:ser>
        <c:dLbls>
          <c:numFmt formatCode="0" sourceLinked="0"/>
          <c:txPr>
            <a:bodyPr/>
            <a:lstStyle/>
            <a:p>
              <a:pPr>
                <a:defRPr b="1" i="0" strike="noStrike" sz="1000" u="none">
                  <a:solidFill>
                    <a:srgbClr val="10243E"/>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AEBBC8"/>
            </a:solidFill>
            <a:prstDash val="solid"/>
            <a:round/>
          </a:ln>
        </c:spPr>
        <c:txPr>
          <a:bodyPr/>
          <a:lstStyle/>
          <a:p>
            <a:pPr>
              <a:defRPr sz="1000" b="0" i="0" u="none" strike="noStrike">
                <a:solidFill>
                  <a:srgbClr val="10243E"/>
                </a:solidFill>
                <a:latin typeface="+mn-lt"/>
              </a:defRPr>
            </a:pPr>
            <a:endParaRPr lang="en-US"/>
          </a:p>
        </c:txPr>
        <c:crossAx val="2094734552"/>
        <c:crosses val="autoZero"/>
        <c:auto val="1"/>
        <c:lblAlgn val="ctr"/>
        <c:noMultiLvlLbl val="1"/>
      </c:catAx>
      <c:valAx>
        <c:axId val="2094734552"/>
        <c:scaling>
          <c:orientation val="minMax"/>
          <c:max val="300"/>
          <c:min val="0"/>
        </c:scaling>
        <c:delete val="0"/>
        <c:axPos val="b"/>
        <c:majorGridlines>
          <c:spPr>
            <a:ln w="9525" cap="flat">
              <a:solidFill>
                <a:srgbClr val="D5E1EA"/>
              </a:solidFill>
              <a:prstDash val="dash"/>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34475C"/>
                </a:solidFill>
                <a:latin typeface="+mn-lt"/>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_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IVIDER_DARK-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LOSING_DARK-image-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94360" y="1371600"/>
            <a:ext cx="4206240" cy="22860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94360" y="3931920"/>
            <a:ext cx="4114800" cy="822960"/>
          </a:xfrm>
          <a:prstGeom prst="rect">
            <a:avLst/>
          </a:prstGeom>
          <a:noFill/>
          <a:ln/>
        </p:spPr>
        <p:txBody>
          <a:bodyPr wrap="square" rtlCol="0"/>
          <a:lstStyle>
            <a:lvl1pPr algn="l" indent="0" marL="0">
              <a:buNone/>
              <a:defRPr lang="en-US" sz="1800" dirty="0">
                <a:solidFill>
                  <a:srgbClr val="B9C8DA"/>
                </a:solidFill>
              </a:defRPr>
            </a:lvl1pPr>
          </a:lstStyle>
          <a:p>
            <a:pPr algn="l" indent="0" marL="0">
              <a:buNone/>
            </a:pPr>
            <a:endParaRPr lang="en-US" sz="1800" dirty="0"/>
          </a:p>
        </p:txBody>
      </p:sp>
      <p:sp>
        <p:nvSpPr>
          <p:cNvPr id="4" name="Text 0"/>
          <p:cNvSpPr/>
          <p:nvPr>
            <p:ph idx="102" type="body" hasCustomPrompt="1"/>
          </p:nvPr>
        </p:nvSpPr>
        <p:spPr>
          <a:xfrm>
            <a:off x="594360" y="5074920"/>
            <a:ext cx="4114800" cy="365760"/>
          </a:xfrm>
          <a:prstGeom prst="rect">
            <a:avLst/>
          </a:prstGeom>
          <a:noFill/>
          <a:ln/>
        </p:spPr>
        <p:txBody>
          <a:bodyPr wrap="square" rtlCol="0"/>
          <a:lstStyle>
            <a:lvl1pPr algn="l" indent="0" marL="0">
              <a:buNone/>
              <a:defRPr lang="en-US" sz="1600" b="1" dirty="0">
                <a:solidFill>
                  <a:schemeClr val="accent4"/>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_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68680" y="2011680"/>
            <a:ext cx="10424160" cy="22860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868680" y="1600200"/>
            <a:ext cx="8229600" cy="365760"/>
          </a:xfrm>
          <a:prstGeom prst="rect">
            <a:avLst/>
          </a:prstGeom>
          <a:noFill/>
          <a:ln/>
        </p:spPr>
        <p:txBody>
          <a:bodyPr wrap="square" rtlCol="0"/>
          <a:lstStyle>
            <a:lvl1pPr algn="l" indent="0" marL="0">
              <a:buNone/>
              <a:defRPr lang="en-US" sz="1600" b="1" spc="200" kern="0" dirty="0">
                <a:solidFill>
                  <a:schemeClr val="accent4"/>
                </a:solidFill>
              </a:defRPr>
            </a:lvl1pPr>
          </a:lstStyle>
          <a:p>
            <a:pPr algn="l" indent="0" marL="0">
              <a:buNone/>
            </a:pPr>
            <a:endParaRPr lang="en-US" sz="1600" dirty="0"/>
          </a:p>
        </p:txBody>
      </p:sp>
      <p:sp>
        <p:nvSpPr>
          <p:cNvPr id="3" name="Text 0"/>
          <p:cNvSpPr/>
          <p:nvPr>
            <p:ph idx="101" type="title" hasCustomPrompt="1"/>
          </p:nvPr>
        </p:nvSpPr>
        <p:spPr>
          <a:xfrm>
            <a:off x="868680" y="2103120"/>
            <a:ext cx="9692640" cy="16002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868680" y="3931920"/>
            <a:ext cx="7498080" cy="822960"/>
          </a:xfrm>
          <a:prstGeom prst="rect">
            <a:avLst/>
          </a:prstGeom>
          <a:noFill/>
          <a:ln/>
        </p:spPr>
        <p:txBody>
          <a:bodyPr wrap="square" rtlCol="0"/>
          <a:lstStyle>
            <a:lvl1pPr algn="l" indent="0" marL="0">
              <a:buNone/>
              <a:defRPr lang="en-US" sz="1800" dirty="0">
                <a:solidFill>
                  <a:srgbClr val="B9C8DA"/>
                </a:solidFill>
              </a:defRPr>
            </a:lvl1pPr>
          </a:lstStyle>
          <a:p>
            <a:pPr algn="l" indent="0" marL="0">
              <a:buNone/>
            </a:pPr>
            <a:endParaRPr lang="en-US" sz="1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94360" y="457200"/>
            <a:ext cx="8229600" cy="274320"/>
          </a:xfrm>
          <a:prstGeom prst="rect">
            <a:avLst/>
          </a:prstGeom>
          <a:noFill/>
          <a:ln/>
        </p:spPr>
        <p:txBody>
          <a:bodyPr wrap="square" rtlCol="0"/>
          <a:lstStyle>
            <a:lvl1pPr algn="l" indent="0" marL="0">
              <a:buNone/>
              <a:defRPr lang="en-US" sz="1200" b="1" spc="2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94360" y="731520"/>
            <a:ext cx="11002975" cy="10058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4" name="Text 0"/>
          <p:cNvSpPr/>
          <p:nvPr>
            <p:ph idx="102" type="body" hasCustomPrompt="1"/>
          </p:nvPr>
        </p:nvSpPr>
        <p:spPr>
          <a:xfrm>
            <a:off x="594360" y="1371600"/>
            <a:ext cx="11002975" cy="365760"/>
          </a:xfrm>
          <a:prstGeom prst="rect">
            <a:avLst/>
          </a:prstGeom>
          <a:noFill/>
          <a:ln/>
        </p:spPr>
        <p:txBody>
          <a:bodyPr wrap="square" rtlCol="0"/>
          <a:lstStyle>
            <a:lvl1pPr algn="l" indent="0" marL="0">
              <a:buNone/>
              <a:defRPr lang="en-US" sz="1600" dirty="0">
                <a:solidFill>
                  <a:srgbClr val="5B6B7D"/>
                </a:solidFill>
              </a:defRPr>
            </a:lvl1pPr>
          </a:lstStyle>
          <a:p>
            <a:pPr algn="l" indent="0" marL="0">
              <a:buNone/>
            </a:pPr>
            <a:endParaRPr lang="en-US" sz="1600" dirty="0"/>
          </a:p>
        </p:txBody>
      </p:sp>
      <p:sp>
        <p:nvSpPr>
          <p:cNvPr id="5" name="Text 0"/>
          <p:cNvSpPr/>
          <p:nvPr/>
        </p:nvSpPr>
        <p:spPr>
          <a:xfrm>
            <a:off x="594360" y="6400800"/>
            <a:ext cx="8686800" cy="274320"/>
          </a:xfrm>
          <a:prstGeom prst="rect">
            <a:avLst/>
          </a:prstGeom>
          <a:noFill/>
          <a:ln/>
        </p:spPr>
        <p:txBody>
          <a:bodyPr wrap="square" lIns="0" tIns="0" rIns="0" bIns="0" rtlCol="0" anchor="ctr"/>
          <a:lstStyle/>
          <a:p>
            <a:pPr indent="0" marL="0">
              <a:buNone/>
            </a:pPr>
            <a:r>
              <a:rPr lang="en-US" sz="1000" dirty="0">
                <a:solidFill>
                  <a:srgbClr val="6B7C8F"/>
                </a:solidFill>
              </a:rPr>
              <a:t>Interplay of social and actuarial issues for social security in the Caribbean</a:t>
            </a:r>
            <a:endParaRPr lang="en-US" sz="1000" dirty="0"/>
          </a:p>
        </p:txBody>
      </p:sp>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_STATEM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94360" y="502920"/>
            <a:ext cx="11002975" cy="868680"/>
          </a:xfrm>
          <a:prstGeom prst="rect">
            <a:avLst/>
          </a:prstGeom>
          <a:noFill/>
          <a:ln/>
        </p:spPr>
        <p:txBody>
          <a:bodyPr wrap="square" rtlCol="0"/>
          <a:lstStyle>
            <a:lvl1pPr algn="l" indent="0" marL="0">
              <a:buNone/>
              <a:defRPr lang="en-US" sz="2200" b="1" dirty="0">
                <a:solidFill>
                  <a:schemeClr val="tx2"/>
                </a:solidFill>
              </a:defRPr>
            </a:lvl1pPr>
          </a:lstStyle>
          <a:p>
            <a:pPr algn="l" indent="0" marL="0">
              <a:buNone/>
            </a:pPr>
            <a:endParaRPr lang="en-US" sz="2200" dirty="0"/>
          </a:p>
        </p:txBody>
      </p:sp>
      <p:sp>
        <p:nvSpPr>
          <p:cNvPr id="3" name="Text 0"/>
          <p:cNvSpPr/>
          <p:nvPr/>
        </p:nvSpPr>
        <p:spPr>
          <a:xfrm>
            <a:off x="594360" y="6400800"/>
            <a:ext cx="8686800" cy="274320"/>
          </a:xfrm>
          <a:prstGeom prst="rect">
            <a:avLst/>
          </a:prstGeom>
          <a:noFill/>
          <a:ln/>
        </p:spPr>
        <p:txBody>
          <a:bodyPr wrap="square" lIns="0" tIns="0" rIns="0" bIns="0" rtlCol="0" anchor="ctr"/>
          <a:lstStyle/>
          <a:p>
            <a:pPr indent="0" marL="0">
              <a:buNone/>
            </a:pPr>
            <a:r>
              <a:rPr lang="en-US" sz="1000" dirty="0">
                <a:solidFill>
                  <a:srgbClr val="6B7C8F"/>
                </a:solidFill>
              </a:rPr>
              <a:t>Interplay of social and actuarial issues for social security in the Caribbean</a:t>
            </a:r>
            <a:endParaRPr lang="en-US" sz="1000" dirty="0"/>
          </a:p>
        </p:txBody>
      </p:sp>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_BARE">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94360" y="6400800"/>
            <a:ext cx="8686800" cy="274320"/>
          </a:xfrm>
          <a:prstGeom prst="rect">
            <a:avLst/>
          </a:prstGeom>
          <a:noFill/>
          <a:ln/>
        </p:spPr>
        <p:txBody>
          <a:bodyPr wrap="square" lIns="0" tIns="0" rIns="0" bIns="0" rtlCol="0" anchor="ctr"/>
          <a:lstStyle/>
          <a:p>
            <a:pPr indent="0" marL="0">
              <a:buNone/>
            </a:pPr>
            <a:r>
              <a:rPr lang="en-US" sz="1000" dirty="0">
                <a:solidFill>
                  <a:srgbClr val="6B7C8F"/>
                </a:solidFill>
              </a:rPr>
              <a:t>Interplay of social and actuarial issues for social security in the Caribbean</a:t>
            </a:r>
            <a:endParaRPr lang="en-US" sz="1000" dirty="0"/>
          </a:p>
        </p:txBody>
      </p:sp>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1007</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6.png"/><Relationship Id="rId7" Type="http://schemas.openxmlformats.org/officeDocument/2006/relationships/slideLayout" Target="../slideLayouts/slideLayout5.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5.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5.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5.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5.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5.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5.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5.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5.xml"/><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5.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5.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5.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doi.org/10.20955/wp.2016.026" TargetMode="External"/><Relationship Id="rId2" Type="http://schemas.openxmlformats.org/officeDocument/2006/relationships/chart" Target="/ppt/charts/chart3.xml"/><Relationship Id="rId3" Type="http://schemas.openxmlformats.org/officeDocument/2006/relationships/chart" Target="/ppt/charts/chart4.xml"/><Relationship Id="rId4" Type="http://schemas.openxmlformats.org/officeDocument/2006/relationships/chart" Target="/ppt/charts/chart5.xml"/><Relationship Id="rId5" Type="http://schemas.openxmlformats.org/officeDocument/2006/relationships/slideLayout" Target="../slideLayouts/slideLayout5.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5.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5.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6.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5.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7.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ap – Caribbean Sea and Atlantic Ocean"/>
          <p:cNvSpPr/>
          <p:nvPr/>
        </p:nvSpPr>
        <p:spPr>
          <a:xfrm>
            <a:off x="4940503" y="0"/>
            <a:ext cx="7251192" cy="6858000"/>
          </a:xfrm>
          <a:prstGeom prst="rect">
            <a:avLst/>
          </a:prstGeom>
          <a:solidFill>
            <a:srgbClr val="15567C"/>
          </a:solidFill>
          <a:ln/>
        </p:spPr>
      </p:sp>
      <p:sp>
        <p:nvSpPr>
          <p:cNvPr id="3" name="Map – graticule"/>
          <p:cNvSpPr/>
          <p:nvPr/>
        </p:nvSpPr>
        <p:spPr>
          <a:xfrm>
            <a:off x="4991710" y="0"/>
            <a:ext cx="914" cy="6858000"/>
          </a:xfrm>
          <a:custGeom>
            <a:avLst/>
            <a:gdLst/>
            <a:ahLst/>
            <a:cxnLst/>
            <a:rect l="l" t="t" r="r" b="b"/>
            <a:pathLst>
              <a:path w="914" h="6858000">
                <a:moveTo>
                  <a:pt x="0" y="6858000"/>
                </a:moveTo>
                <a:lnTo>
                  <a:pt x="0" y="2905963"/>
                </a:lnTo>
                <a:lnTo>
                  <a:pt x="0" y="0"/>
                </a:lnTo>
              </a:path>
            </a:pathLst>
          </a:custGeom>
          <a:ln w="6350">
            <a:solidFill>
              <a:srgbClr val="FFFFFF">
                <a:alpha val="10000"/>
              </a:srgbClr>
            </a:solidFill>
            <a:prstDash val="solid"/>
          </a:ln>
        </p:spPr>
      </p:sp>
      <p:sp>
        <p:nvSpPr>
          <p:cNvPr id="4" name="Map – graticule"/>
          <p:cNvSpPr/>
          <p:nvPr/>
        </p:nvSpPr>
        <p:spPr>
          <a:xfrm>
            <a:off x="6268212" y="0"/>
            <a:ext cx="914" cy="6858000"/>
          </a:xfrm>
          <a:custGeom>
            <a:avLst/>
            <a:gdLst/>
            <a:ahLst/>
            <a:cxnLst/>
            <a:rect l="l" t="t" r="r" b="b"/>
            <a:pathLst>
              <a:path w="914" h="6858000">
                <a:moveTo>
                  <a:pt x="0" y="6858000"/>
                </a:moveTo>
                <a:lnTo>
                  <a:pt x="0" y="2905963"/>
                </a:lnTo>
                <a:lnTo>
                  <a:pt x="0" y="0"/>
                </a:lnTo>
              </a:path>
            </a:pathLst>
          </a:custGeom>
          <a:ln w="6350">
            <a:solidFill>
              <a:srgbClr val="FFFFFF">
                <a:alpha val="10000"/>
              </a:srgbClr>
            </a:solidFill>
            <a:prstDash val="solid"/>
          </a:ln>
        </p:spPr>
      </p:sp>
      <p:sp>
        <p:nvSpPr>
          <p:cNvPr id="5" name="Map – graticule"/>
          <p:cNvSpPr/>
          <p:nvPr/>
        </p:nvSpPr>
        <p:spPr>
          <a:xfrm>
            <a:off x="7544714" y="0"/>
            <a:ext cx="914" cy="6858000"/>
          </a:xfrm>
          <a:custGeom>
            <a:avLst/>
            <a:gdLst/>
            <a:ahLst/>
            <a:cxnLst/>
            <a:rect l="l" t="t" r="r" b="b"/>
            <a:pathLst>
              <a:path w="914" h="6858000">
                <a:moveTo>
                  <a:pt x="0" y="6858000"/>
                </a:moveTo>
                <a:lnTo>
                  <a:pt x="0" y="2905963"/>
                </a:lnTo>
                <a:lnTo>
                  <a:pt x="0" y="0"/>
                </a:lnTo>
              </a:path>
            </a:pathLst>
          </a:custGeom>
          <a:ln w="6350">
            <a:solidFill>
              <a:srgbClr val="FFFFFF">
                <a:alpha val="10000"/>
              </a:srgbClr>
            </a:solidFill>
            <a:prstDash val="solid"/>
          </a:ln>
        </p:spPr>
      </p:sp>
      <p:sp>
        <p:nvSpPr>
          <p:cNvPr id="6" name="Map – graticule"/>
          <p:cNvSpPr/>
          <p:nvPr/>
        </p:nvSpPr>
        <p:spPr>
          <a:xfrm>
            <a:off x="8821217" y="0"/>
            <a:ext cx="914" cy="6858000"/>
          </a:xfrm>
          <a:custGeom>
            <a:avLst/>
            <a:gdLst/>
            <a:ahLst/>
            <a:cxnLst/>
            <a:rect l="l" t="t" r="r" b="b"/>
            <a:pathLst>
              <a:path w="914" h="6858000">
                <a:moveTo>
                  <a:pt x="0" y="6858000"/>
                </a:moveTo>
                <a:lnTo>
                  <a:pt x="0" y="2905963"/>
                </a:lnTo>
                <a:lnTo>
                  <a:pt x="0" y="0"/>
                </a:lnTo>
              </a:path>
            </a:pathLst>
          </a:custGeom>
          <a:ln w="6350">
            <a:solidFill>
              <a:srgbClr val="FFFFFF">
                <a:alpha val="10000"/>
              </a:srgbClr>
            </a:solidFill>
            <a:prstDash val="solid"/>
          </a:ln>
        </p:spPr>
      </p:sp>
      <p:sp>
        <p:nvSpPr>
          <p:cNvPr id="7" name="Map – graticule"/>
          <p:cNvSpPr/>
          <p:nvPr/>
        </p:nvSpPr>
        <p:spPr>
          <a:xfrm>
            <a:off x="10097719" y="0"/>
            <a:ext cx="914" cy="6858000"/>
          </a:xfrm>
          <a:custGeom>
            <a:avLst/>
            <a:gdLst/>
            <a:ahLst/>
            <a:cxnLst/>
            <a:rect l="l" t="t" r="r" b="b"/>
            <a:pathLst>
              <a:path w="914" h="6858000">
                <a:moveTo>
                  <a:pt x="0" y="6858000"/>
                </a:moveTo>
                <a:lnTo>
                  <a:pt x="0" y="2905963"/>
                </a:lnTo>
                <a:lnTo>
                  <a:pt x="0" y="0"/>
                </a:lnTo>
              </a:path>
            </a:pathLst>
          </a:custGeom>
          <a:ln w="6350">
            <a:solidFill>
              <a:srgbClr val="FFFFFF">
                <a:alpha val="10000"/>
              </a:srgbClr>
            </a:solidFill>
            <a:prstDash val="solid"/>
          </a:ln>
        </p:spPr>
      </p:sp>
      <p:sp>
        <p:nvSpPr>
          <p:cNvPr id="8" name="Map – graticule"/>
          <p:cNvSpPr/>
          <p:nvPr/>
        </p:nvSpPr>
        <p:spPr>
          <a:xfrm>
            <a:off x="11374222" y="0"/>
            <a:ext cx="914" cy="6858000"/>
          </a:xfrm>
          <a:custGeom>
            <a:avLst/>
            <a:gdLst/>
            <a:ahLst/>
            <a:cxnLst/>
            <a:rect l="l" t="t" r="r" b="b"/>
            <a:pathLst>
              <a:path w="914" h="6858000">
                <a:moveTo>
                  <a:pt x="0" y="6858000"/>
                </a:moveTo>
                <a:lnTo>
                  <a:pt x="0" y="2905963"/>
                </a:lnTo>
                <a:lnTo>
                  <a:pt x="0" y="0"/>
                </a:lnTo>
              </a:path>
            </a:pathLst>
          </a:custGeom>
          <a:ln w="6350">
            <a:solidFill>
              <a:srgbClr val="FFFFFF">
                <a:alpha val="10000"/>
              </a:srgbClr>
            </a:solidFill>
            <a:prstDash val="solid"/>
          </a:ln>
        </p:spPr>
      </p:sp>
      <p:sp>
        <p:nvSpPr>
          <p:cNvPr id="9" name="Map – graticule"/>
          <p:cNvSpPr/>
          <p:nvPr/>
        </p:nvSpPr>
        <p:spPr>
          <a:xfrm>
            <a:off x="4940503" y="6238037"/>
            <a:ext cx="7251192" cy="914"/>
          </a:xfrm>
          <a:custGeom>
            <a:avLst/>
            <a:gdLst/>
            <a:ahLst/>
            <a:cxnLst/>
            <a:rect l="l" t="t" r="r" b="b"/>
            <a:pathLst>
              <a:path w="7251192" h="914">
                <a:moveTo>
                  <a:pt x="0" y="0"/>
                </a:moveTo>
                <a:lnTo>
                  <a:pt x="51206" y="0"/>
                </a:lnTo>
                <a:lnTo>
                  <a:pt x="689458" y="0"/>
                </a:lnTo>
                <a:lnTo>
                  <a:pt x="1327709" y="0"/>
                </a:lnTo>
                <a:lnTo>
                  <a:pt x="1965960" y="0"/>
                </a:lnTo>
                <a:lnTo>
                  <a:pt x="2604211" y="0"/>
                </a:lnTo>
                <a:lnTo>
                  <a:pt x="3242462" y="0"/>
                </a:lnTo>
                <a:lnTo>
                  <a:pt x="3880714" y="0"/>
                </a:lnTo>
                <a:lnTo>
                  <a:pt x="4518965" y="0"/>
                </a:lnTo>
                <a:lnTo>
                  <a:pt x="5157216" y="0"/>
                </a:lnTo>
                <a:lnTo>
                  <a:pt x="5795467" y="0"/>
                </a:lnTo>
                <a:lnTo>
                  <a:pt x="6433718" y="0"/>
                </a:lnTo>
                <a:lnTo>
                  <a:pt x="7072884" y="0"/>
                </a:lnTo>
                <a:lnTo>
                  <a:pt x="7251192" y="0"/>
                </a:lnTo>
              </a:path>
            </a:pathLst>
          </a:custGeom>
          <a:ln w="6350">
            <a:solidFill>
              <a:srgbClr val="FFFFFF">
                <a:alpha val="10000"/>
              </a:srgbClr>
            </a:solidFill>
            <a:prstDash val="solid"/>
          </a:ln>
        </p:spPr>
      </p:sp>
      <p:sp>
        <p:nvSpPr>
          <p:cNvPr id="10" name="Map – graticule"/>
          <p:cNvSpPr/>
          <p:nvPr/>
        </p:nvSpPr>
        <p:spPr>
          <a:xfrm>
            <a:off x="4940503" y="4929530"/>
            <a:ext cx="7251192" cy="914"/>
          </a:xfrm>
          <a:custGeom>
            <a:avLst/>
            <a:gdLst/>
            <a:ahLst/>
            <a:cxnLst/>
            <a:rect l="l" t="t" r="r" b="b"/>
            <a:pathLst>
              <a:path w="7251192" h="914">
                <a:moveTo>
                  <a:pt x="0" y="0"/>
                </a:moveTo>
                <a:lnTo>
                  <a:pt x="51206" y="0"/>
                </a:lnTo>
                <a:lnTo>
                  <a:pt x="689458" y="0"/>
                </a:lnTo>
                <a:lnTo>
                  <a:pt x="1327709" y="0"/>
                </a:lnTo>
                <a:lnTo>
                  <a:pt x="1965960" y="0"/>
                </a:lnTo>
                <a:lnTo>
                  <a:pt x="2604211" y="0"/>
                </a:lnTo>
                <a:lnTo>
                  <a:pt x="3242462" y="0"/>
                </a:lnTo>
                <a:lnTo>
                  <a:pt x="3880714" y="0"/>
                </a:lnTo>
                <a:lnTo>
                  <a:pt x="4518965" y="0"/>
                </a:lnTo>
                <a:lnTo>
                  <a:pt x="5157216" y="0"/>
                </a:lnTo>
                <a:lnTo>
                  <a:pt x="5795467" y="0"/>
                </a:lnTo>
                <a:lnTo>
                  <a:pt x="6433718" y="0"/>
                </a:lnTo>
                <a:lnTo>
                  <a:pt x="7072884" y="0"/>
                </a:lnTo>
                <a:lnTo>
                  <a:pt x="7251192" y="0"/>
                </a:lnTo>
              </a:path>
            </a:pathLst>
          </a:custGeom>
          <a:ln w="6350">
            <a:solidFill>
              <a:srgbClr val="FFFFFF">
                <a:alpha val="10000"/>
              </a:srgbClr>
            </a:solidFill>
            <a:prstDash val="solid"/>
          </a:ln>
        </p:spPr>
      </p:sp>
      <p:sp>
        <p:nvSpPr>
          <p:cNvPr id="11" name="Map – graticule"/>
          <p:cNvSpPr/>
          <p:nvPr/>
        </p:nvSpPr>
        <p:spPr>
          <a:xfrm>
            <a:off x="4940503" y="3590849"/>
            <a:ext cx="7251192" cy="914"/>
          </a:xfrm>
          <a:custGeom>
            <a:avLst/>
            <a:gdLst/>
            <a:ahLst/>
            <a:cxnLst/>
            <a:rect l="l" t="t" r="r" b="b"/>
            <a:pathLst>
              <a:path w="7251192" h="914">
                <a:moveTo>
                  <a:pt x="0" y="0"/>
                </a:moveTo>
                <a:lnTo>
                  <a:pt x="51206" y="0"/>
                </a:lnTo>
                <a:lnTo>
                  <a:pt x="689458" y="0"/>
                </a:lnTo>
                <a:lnTo>
                  <a:pt x="1327709" y="0"/>
                </a:lnTo>
                <a:lnTo>
                  <a:pt x="1965960" y="0"/>
                </a:lnTo>
                <a:lnTo>
                  <a:pt x="2604211" y="0"/>
                </a:lnTo>
                <a:lnTo>
                  <a:pt x="3242462" y="0"/>
                </a:lnTo>
                <a:lnTo>
                  <a:pt x="3880714" y="0"/>
                </a:lnTo>
                <a:lnTo>
                  <a:pt x="4518965" y="0"/>
                </a:lnTo>
                <a:lnTo>
                  <a:pt x="5157216" y="0"/>
                </a:lnTo>
                <a:lnTo>
                  <a:pt x="5795467" y="0"/>
                </a:lnTo>
                <a:lnTo>
                  <a:pt x="6433718" y="0"/>
                </a:lnTo>
                <a:lnTo>
                  <a:pt x="7072884" y="0"/>
                </a:lnTo>
                <a:lnTo>
                  <a:pt x="7251192" y="0"/>
                </a:lnTo>
              </a:path>
            </a:pathLst>
          </a:custGeom>
          <a:ln w="6350">
            <a:solidFill>
              <a:srgbClr val="FFFFFF">
                <a:alpha val="10000"/>
              </a:srgbClr>
            </a:solidFill>
            <a:prstDash val="solid"/>
          </a:ln>
        </p:spPr>
      </p:sp>
      <p:sp>
        <p:nvSpPr>
          <p:cNvPr id="12" name="Map – graticule"/>
          <p:cNvSpPr/>
          <p:nvPr/>
        </p:nvSpPr>
        <p:spPr>
          <a:xfrm>
            <a:off x="4940503" y="2208276"/>
            <a:ext cx="7251192" cy="914"/>
          </a:xfrm>
          <a:custGeom>
            <a:avLst/>
            <a:gdLst/>
            <a:ahLst/>
            <a:cxnLst/>
            <a:rect l="l" t="t" r="r" b="b"/>
            <a:pathLst>
              <a:path w="7251192" h="914">
                <a:moveTo>
                  <a:pt x="0" y="0"/>
                </a:moveTo>
                <a:lnTo>
                  <a:pt x="51206" y="0"/>
                </a:lnTo>
                <a:lnTo>
                  <a:pt x="689458" y="0"/>
                </a:lnTo>
                <a:lnTo>
                  <a:pt x="1327709" y="0"/>
                </a:lnTo>
                <a:lnTo>
                  <a:pt x="1965960" y="0"/>
                </a:lnTo>
                <a:lnTo>
                  <a:pt x="2604211" y="0"/>
                </a:lnTo>
                <a:lnTo>
                  <a:pt x="3242462" y="0"/>
                </a:lnTo>
                <a:lnTo>
                  <a:pt x="3880714" y="0"/>
                </a:lnTo>
                <a:lnTo>
                  <a:pt x="4518965" y="0"/>
                </a:lnTo>
                <a:lnTo>
                  <a:pt x="5157216" y="0"/>
                </a:lnTo>
                <a:lnTo>
                  <a:pt x="5795467" y="0"/>
                </a:lnTo>
                <a:lnTo>
                  <a:pt x="6433718" y="0"/>
                </a:lnTo>
                <a:lnTo>
                  <a:pt x="7072884" y="0"/>
                </a:lnTo>
                <a:lnTo>
                  <a:pt x="7251192" y="0"/>
                </a:lnTo>
              </a:path>
            </a:pathLst>
          </a:custGeom>
          <a:ln w="6350">
            <a:solidFill>
              <a:srgbClr val="FFFFFF">
                <a:alpha val="10000"/>
              </a:srgbClr>
            </a:solidFill>
            <a:prstDash val="solid"/>
          </a:ln>
        </p:spPr>
      </p:sp>
      <p:sp>
        <p:nvSpPr>
          <p:cNvPr id="13" name="Map – graticule"/>
          <p:cNvSpPr/>
          <p:nvPr/>
        </p:nvSpPr>
        <p:spPr>
          <a:xfrm>
            <a:off x="4940503" y="768096"/>
            <a:ext cx="7251192" cy="914"/>
          </a:xfrm>
          <a:custGeom>
            <a:avLst/>
            <a:gdLst/>
            <a:ahLst/>
            <a:cxnLst/>
            <a:rect l="l" t="t" r="r" b="b"/>
            <a:pathLst>
              <a:path w="7251192" h="914">
                <a:moveTo>
                  <a:pt x="0" y="0"/>
                </a:moveTo>
                <a:lnTo>
                  <a:pt x="51206" y="0"/>
                </a:lnTo>
                <a:lnTo>
                  <a:pt x="689458" y="0"/>
                </a:lnTo>
                <a:lnTo>
                  <a:pt x="1327709" y="0"/>
                </a:lnTo>
                <a:lnTo>
                  <a:pt x="1965960" y="0"/>
                </a:lnTo>
                <a:lnTo>
                  <a:pt x="2604211" y="0"/>
                </a:lnTo>
                <a:lnTo>
                  <a:pt x="3242462" y="0"/>
                </a:lnTo>
                <a:lnTo>
                  <a:pt x="3880714" y="0"/>
                </a:lnTo>
                <a:lnTo>
                  <a:pt x="4518965" y="0"/>
                </a:lnTo>
                <a:lnTo>
                  <a:pt x="5157216" y="0"/>
                </a:lnTo>
                <a:lnTo>
                  <a:pt x="5795467" y="0"/>
                </a:lnTo>
                <a:lnTo>
                  <a:pt x="6433718" y="0"/>
                </a:lnTo>
                <a:lnTo>
                  <a:pt x="7072884" y="0"/>
                </a:lnTo>
                <a:lnTo>
                  <a:pt x="7251192" y="0"/>
                </a:lnTo>
              </a:path>
            </a:pathLst>
          </a:custGeom>
          <a:ln w="6350">
            <a:solidFill>
              <a:srgbClr val="FFFFFF">
                <a:alpha val="10000"/>
              </a:srgbClr>
            </a:solidFill>
            <a:prstDash val="solid"/>
          </a:ln>
        </p:spPr>
      </p:sp>
      <p:sp>
        <p:nvSpPr>
          <p:cNvPr id="14" name="Map – Venezuela"/>
          <p:cNvSpPr/>
          <p:nvPr/>
        </p:nvSpPr>
        <p:spPr>
          <a:xfrm>
            <a:off x="7961681" y="5671109"/>
            <a:ext cx="3457346" cy="1186891"/>
          </a:xfrm>
          <a:custGeom>
            <a:avLst/>
            <a:gdLst/>
            <a:ahLst/>
            <a:cxnLst/>
            <a:rect l="l" t="t" r="r" b="b"/>
            <a:pathLst>
              <a:path w="3457346" h="1186891">
                <a:moveTo>
                  <a:pt x="3203143" y="790042"/>
                </a:moveTo>
                <a:lnTo>
                  <a:pt x="3172968" y="798271"/>
                </a:lnTo>
                <a:lnTo>
                  <a:pt x="3172968" y="791870"/>
                </a:lnTo>
                <a:lnTo>
                  <a:pt x="3181198" y="779069"/>
                </a:lnTo>
                <a:lnTo>
                  <a:pt x="3196742" y="776326"/>
                </a:lnTo>
                <a:lnTo>
                  <a:pt x="3203143" y="771754"/>
                </a:lnTo>
                <a:lnTo>
                  <a:pt x="3213202" y="769010"/>
                </a:lnTo>
                <a:lnTo>
                  <a:pt x="3218688" y="769925"/>
                </a:lnTo>
                <a:lnTo>
                  <a:pt x="3225089" y="772668"/>
                </a:lnTo>
                <a:lnTo>
                  <a:pt x="3210458" y="779983"/>
                </a:lnTo>
                <a:close/>
                <a:moveTo>
                  <a:pt x="2430475" y="273406"/>
                </a:moveTo>
                <a:lnTo>
                  <a:pt x="2438705" y="307238"/>
                </a:lnTo>
                <a:lnTo>
                  <a:pt x="2435962" y="313639"/>
                </a:lnTo>
                <a:lnTo>
                  <a:pt x="2413102" y="336499"/>
                </a:lnTo>
                <a:lnTo>
                  <a:pt x="2393899" y="337414"/>
                </a:lnTo>
                <a:lnTo>
                  <a:pt x="2378354" y="337414"/>
                </a:lnTo>
                <a:lnTo>
                  <a:pt x="2366467" y="332842"/>
                </a:lnTo>
                <a:lnTo>
                  <a:pt x="2350008" y="318211"/>
                </a:lnTo>
                <a:lnTo>
                  <a:pt x="2335378" y="322783"/>
                </a:lnTo>
                <a:lnTo>
                  <a:pt x="2298802" y="317297"/>
                </a:lnTo>
                <a:lnTo>
                  <a:pt x="2288743" y="311810"/>
                </a:lnTo>
                <a:lnTo>
                  <a:pt x="2302459" y="293522"/>
                </a:lnTo>
                <a:lnTo>
                  <a:pt x="2328062" y="286207"/>
                </a:lnTo>
                <a:lnTo>
                  <a:pt x="2337206" y="284378"/>
                </a:lnTo>
                <a:lnTo>
                  <a:pt x="2344522" y="296266"/>
                </a:lnTo>
                <a:lnTo>
                  <a:pt x="2363724" y="305410"/>
                </a:lnTo>
                <a:lnTo>
                  <a:pt x="2384755" y="306324"/>
                </a:lnTo>
                <a:lnTo>
                  <a:pt x="2390242" y="289865"/>
                </a:lnTo>
                <a:lnTo>
                  <a:pt x="2419502" y="263347"/>
                </a:lnTo>
                <a:close/>
                <a:moveTo>
                  <a:pt x="2082089" y="331927"/>
                </a:moveTo>
                <a:lnTo>
                  <a:pt x="2068373" y="337414"/>
                </a:lnTo>
                <a:lnTo>
                  <a:pt x="2043684" y="331927"/>
                </a:lnTo>
                <a:lnTo>
                  <a:pt x="2030882" y="323698"/>
                </a:lnTo>
                <a:lnTo>
                  <a:pt x="2039112" y="313639"/>
                </a:lnTo>
                <a:lnTo>
                  <a:pt x="2059229" y="313639"/>
                </a:lnTo>
                <a:lnTo>
                  <a:pt x="2078431" y="325526"/>
                </a:lnTo>
                <a:close/>
                <a:moveTo>
                  <a:pt x="3158338" y="859536"/>
                </a:moveTo>
                <a:lnTo>
                  <a:pt x="3142793" y="865022"/>
                </a:lnTo>
                <a:lnTo>
                  <a:pt x="3140050" y="839419"/>
                </a:lnTo>
                <a:lnTo>
                  <a:pt x="3144622" y="832104"/>
                </a:lnTo>
                <a:lnTo>
                  <a:pt x="3172054" y="811073"/>
                </a:lnTo>
                <a:lnTo>
                  <a:pt x="3179369" y="807415"/>
                </a:lnTo>
                <a:lnTo>
                  <a:pt x="3184855" y="811987"/>
                </a:lnTo>
                <a:lnTo>
                  <a:pt x="3183026" y="817474"/>
                </a:lnTo>
                <a:lnTo>
                  <a:pt x="3195828" y="826618"/>
                </a:lnTo>
                <a:lnTo>
                  <a:pt x="3193085" y="838505"/>
                </a:lnTo>
                <a:lnTo>
                  <a:pt x="3178454" y="851306"/>
                </a:lnTo>
                <a:close/>
                <a:moveTo>
                  <a:pt x="227686" y="1186891"/>
                </a:moveTo>
                <a:lnTo>
                  <a:pt x="226771" y="1183234"/>
                </a:lnTo>
                <a:lnTo>
                  <a:pt x="228600" y="1145743"/>
                </a:lnTo>
                <a:lnTo>
                  <a:pt x="231343" y="1132942"/>
                </a:lnTo>
                <a:lnTo>
                  <a:pt x="235001" y="1092708"/>
                </a:lnTo>
                <a:lnTo>
                  <a:pt x="249631" y="1071677"/>
                </a:lnTo>
                <a:lnTo>
                  <a:pt x="257861" y="1061618"/>
                </a:lnTo>
                <a:lnTo>
                  <a:pt x="256946" y="1044245"/>
                </a:lnTo>
                <a:lnTo>
                  <a:pt x="249631" y="1009498"/>
                </a:lnTo>
                <a:lnTo>
                  <a:pt x="242316" y="984809"/>
                </a:lnTo>
                <a:lnTo>
                  <a:pt x="214884" y="957377"/>
                </a:lnTo>
                <a:lnTo>
                  <a:pt x="179222" y="921715"/>
                </a:lnTo>
                <a:lnTo>
                  <a:pt x="163678" y="865022"/>
                </a:lnTo>
                <a:lnTo>
                  <a:pt x="145390" y="797357"/>
                </a:lnTo>
                <a:lnTo>
                  <a:pt x="131674" y="790956"/>
                </a:lnTo>
                <a:lnTo>
                  <a:pt x="117958" y="794614"/>
                </a:lnTo>
                <a:lnTo>
                  <a:pt x="104242" y="790956"/>
                </a:lnTo>
                <a:lnTo>
                  <a:pt x="91440" y="763524"/>
                </a:lnTo>
                <a:lnTo>
                  <a:pt x="79553" y="758952"/>
                </a:lnTo>
                <a:lnTo>
                  <a:pt x="58522" y="768096"/>
                </a:lnTo>
                <a:lnTo>
                  <a:pt x="43891" y="775411"/>
                </a:lnTo>
                <a:lnTo>
                  <a:pt x="7315" y="781812"/>
                </a:lnTo>
                <a:lnTo>
                  <a:pt x="0" y="775411"/>
                </a:lnTo>
                <a:lnTo>
                  <a:pt x="2743" y="767182"/>
                </a:lnTo>
                <a:lnTo>
                  <a:pt x="18288" y="742493"/>
                </a:lnTo>
                <a:lnTo>
                  <a:pt x="36576" y="711403"/>
                </a:lnTo>
                <a:lnTo>
                  <a:pt x="57607" y="682142"/>
                </a:lnTo>
                <a:lnTo>
                  <a:pt x="77724" y="652882"/>
                </a:lnTo>
                <a:lnTo>
                  <a:pt x="92354" y="620878"/>
                </a:lnTo>
                <a:lnTo>
                  <a:pt x="102413" y="558698"/>
                </a:lnTo>
                <a:lnTo>
                  <a:pt x="108814" y="515722"/>
                </a:lnTo>
                <a:lnTo>
                  <a:pt x="127102" y="438912"/>
                </a:lnTo>
                <a:lnTo>
                  <a:pt x="160020" y="377647"/>
                </a:lnTo>
                <a:lnTo>
                  <a:pt x="172822" y="350215"/>
                </a:lnTo>
                <a:lnTo>
                  <a:pt x="202997" y="312725"/>
                </a:lnTo>
                <a:lnTo>
                  <a:pt x="216713" y="293522"/>
                </a:lnTo>
                <a:lnTo>
                  <a:pt x="235001" y="277063"/>
                </a:lnTo>
                <a:lnTo>
                  <a:pt x="286207" y="256032"/>
                </a:lnTo>
                <a:lnTo>
                  <a:pt x="345643" y="149962"/>
                </a:lnTo>
                <a:lnTo>
                  <a:pt x="359359" y="133502"/>
                </a:lnTo>
                <a:lnTo>
                  <a:pt x="420624" y="117958"/>
                </a:lnTo>
                <a:lnTo>
                  <a:pt x="468173" y="105156"/>
                </a:lnTo>
                <a:lnTo>
                  <a:pt x="502006" y="92354"/>
                </a:lnTo>
                <a:lnTo>
                  <a:pt x="513893" y="85954"/>
                </a:lnTo>
                <a:lnTo>
                  <a:pt x="523037" y="82296"/>
                </a:lnTo>
                <a:lnTo>
                  <a:pt x="514807" y="95098"/>
                </a:lnTo>
                <a:lnTo>
                  <a:pt x="498348" y="110642"/>
                </a:lnTo>
                <a:lnTo>
                  <a:pt x="480060" y="119786"/>
                </a:lnTo>
                <a:lnTo>
                  <a:pt x="382219" y="143561"/>
                </a:lnTo>
                <a:lnTo>
                  <a:pt x="372161" y="149047"/>
                </a:lnTo>
                <a:lnTo>
                  <a:pt x="360274" y="159106"/>
                </a:lnTo>
                <a:lnTo>
                  <a:pt x="360274" y="181051"/>
                </a:lnTo>
                <a:lnTo>
                  <a:pt x="362102" y="199339"/>
                </a:lnTo>
                <a:lnTo>
                  <a:pt x="391363" y="257861"/>
                </a:lnTo>
                <a:lnTo>
                  <a:pt x="402336" y="271577"/>
                </a:lnTo>
                <a:lnTo>
                  <a:pt x="440741" y="303581"/>
                </a:lnTo>
                <a:lnTo>
                  <a:pt x="432511" y="308153"/>
                </a:lnTo>
                <a:lnTo>
                  <a:pt x="416966" y="308153"/>
                </a:lnTo>
                <a:lnTo>
                  <a:pt x="428854" y="350215"/>
                </a:lnTo>
                <a:lnTo>
                  <a:pt x="451714" y="378562"/>
                </a:lnTo>
                <a:lnTo>
                  <a:pt x="452628" y="395935"/>
                </a:lnTo>
                <a:lnTo>
                  <a:pt x="435254" y="451714"/>
                </a:lnTo>
                <a:lnTo>
                  <a:pt x="401422" y="484632"/>
                </a:lnTo>
                <a:lnTo>
                  <a:pt x="378562" y="523951"/>
                </a:lnTo>
                <a:lnTo>
                  <a:pt x="360274" y="538582"/>
                </a:lnTo>
                <a:lnTo>
                  <a:pt x="320040" y="614477"/>
                </a:lnTo>
                <a:lnTo>
                  <a:pt x="351130" y="660197"/>
                </a:lnTo>
                <a:lnTo>
                  <a:pt x="354787" y="682142"/>
                </a:lnTo>
                <a:lnTo>
                  <a:pt x="381305" y="715061"/>
                </a:lnTo>
                <a:lnTo>
                  <a:pt x="398678" y="725119"/>
                </a:lnTo>
                <a:lnTo>
                  <a:pt x="409651" y="738835"/>
                </a:lnTo>
                <a:lnTo>
                  <a:pt x="404165" y="760781"/>
                </a:lnTo>
                <a:lnTo>
                  <a:pt x="415138" y="790956"/>
                </a:lnTo>
                <a:lnTo>
                  <a:pt x="429768" y="806501"/>
                </a:lnTo>
                <a:lnTo>
                  <a:pt x="446227" y="812902"/>
                </a:lnTo>
                <a:lnTo>
                  <a:pt x="467258" y="812902"/>
                </a:lnTo>
                <a:lnTo>
                  <a:pt x="528523" y="793699"/>
                </a:lnTo>
                <a:lnTo>
                  <a:pt x="542239" y="784555"/>
                </a:lnTo>
                <a:lnTo>
                  <a:pt x="551383" y="768096"/>
                </a:lnTo>
                <a:lnTo>
                  <a:pt x="582473" y="735178"/>
                </a:lnTo>
                <a:lnTo>
                  <a:pt x="584302" y="694030"/>
                </a:lnTo>
                <a:lnTo>
                  <a:pt x="590702" y="642823"/>
                </a:lnTo>
                <a:lnTo>
                  <a:pt x="583387" y="609905"/>
                </a:lnTo>
                <a:lnTo>
                  <a:pt x="551383" y="563270"/>
                </a:lnTo>
                <a:lnTo>
                  <a:pt x="537667" y="529438"/>
                </a:lnTo>
                <a:lnTo>
                  <a:pt x="505663" y="498348"/>
                </a:lnTo>
                <a:lnTo>
                  <a:pt x="486461" y="445313"/>
                </a:lnTo>
                <a:lnTo>
                  <a:pt x="478231" y="428854"/>
                </a:lnTo>
                <a:lnTo>
                  <a:pt x="472745" y="405079"/>
                </a:lnTo>
                <a:lnTo>
                  <a:pt x="465430" y="364846"/>
                </a:lnTo>
                <a:lnTo>
                  <a:pt x="486461" y="350215"/>
                </a:lnTo>
                <a:lnTo>
                  <a:pt x="484632" y="316382"/>
                </a:lnTo>
                <a:lnTo>
                  <a:pt x="536753" y="307238"/>
                </a:lnTo>
                <a:lnTo>
                  <a:pt x="650138" y="253289"/>
                </a:lnTo>
                <a:lnTo>
                  <a:pt x="720547" y="238658"/>
                </a:lnTo>
                <a:lnTo>
                  <a:pt x="801014" y="210312"/>
                </a:lnTo>
                <a:lnTo>
                  <a:pt x="819302" y="195682"/>
                </a:lnTo>
                <a:lnTo>
                  <a:pt x="834847" y="171907"/>
                </a:lnTo>
                <a:lnTo>
                  <a:pt x="847649" y="169164"/>
                </a:lnTo>
                <a:lnTo>
                  <a:pt x="888797" y="191110"/>
                </a:lnTo>
                <a:lnTo>
                  <a:pt x="908914" y="183794"/>
                </a:lnTo>
                <a:lnTo>
                  <a:pt x="917143" y="166421"/>
                </a:lnTo>
                <a:lnTo>
                  <a:pt x="906170" y="132588"/>
                </a:lnTo>
                <a:lnTo>
                  <a:pt x="882396" y="132588"/>
                </a:lnTo>
                <a:lnTo>
                  <a:pt x="811073" y="144475"/>
                </a:lnTo>
                <a:lnTo>
                  <a:pt x="803758" y="129845"/>
                </a:lnTo>
                <a:lnTo>
                  <a:pt x="803758" y="117043"/>
                </a:lnTo>
                <a:lnTo>
                  <a:pt x="787298" y="76810"/>
                </a:lnTo>
                <a:lnTo>
                  <a:pt x="797357" y="45720"/>
                </a:lnTo>
                <a:lnTo>
                  <a:pt x="808330" y="21031"/>
                </a:lnTo>
                <a:lnTo>
                  <a:pt x="828446" y="10973"/>
                </a:lnTo>
                <a:lnTo>
                  <a:pt x="858622" y="0"/>
                </a:lnTo>
                <a:lnTo>
                  <a:pt x="881482" y="16459"/>
                </a:lnTo>
                <a:lnTo>
                  <a:pt x="895198" y="32918"/>
                </a:lnTo>
                <a:lnTo>
                  <a:pt x="902513" y="47549"/>
                </a:lnTo>
                <a:lnTo>
                  <a:pt x="907999" y="88697"/>
                </a:lnTo>
                <a:lnTo>
                  <a:pt x="919886" y="131674"/>
                </a:lnTo>
                <a:lnTo>
                  <a:pt x="932688" y="160020"/>
                </a:lnTo>
                <a:lnTo>
                  <a:pt x="954634" y="181966"/>
                </a:lnTo>
                <a:lnTo>
                  <a:pt x="970178" y="180137"/>
                </a:lnTo>
                <a:lnTo>
                  <a:pt x="981151" y="177394"/>
                </a:lnTo>
                <a:lnTo>
                  <a:pt x="1055218" y="171907"/>
                </a:lnTo>
                <a:lnTo>
                  <a:pt x="1100938" y="186538"/>
                </a:lnTo>
                <a:lnTo>
                  <a:pt x="1159459" y="194767"/>
                </a:lnTo>
                <a:lnTo>
                  <a:pt x="1213409" y="226771"/>
                </a:lnTo>
                <a:lnTo>
                  <a:pt x="1268273" y="265176"/>
                </a:lnTo>
                <a:lnTo>
                  <a:pt x="1281989" y="293522"/>
                </a:lnTo>
                <a:lnTo>
                  <a:pt x="1287475" y="320040"/>
                </a:lnTo>
                <a:lnTo>
                  <a:pt x="1300277" y="338328"/>
                </a:lnTo>
                <a:lnTo>
                  <a:pt x="1287475" y="356616"/>
                </a:lnTo>
                <a:lnTo>
                  <a:pt x="1293876" y="387706"/>
                </a:lnTo>
                <a:lnTo>
                  <a:pt x="1311250" y="418795"/>
                </a:lnTo>
                <a:lnTo>
                  <a:pt x="1335024" y="438912"/>
                </a:lnTo>
                <a:lnTo>
                  <a:pt x="1402690" y="444398"/>
                </a:lnTo>
                <a:lnTo>
                  <a:pt x="1476756" y="430682"/>
                </a:lnTo>
                <a:lnTo>
                  <a:pt x="1591970" y="418795"/>
                </a:lnTo>
                <a:lnTo>
                  <a:pt x="1628546" y="407822"/>
                </a:lnTo>
                <a:lnTo>
                  <a:pt x="1817827" y="402336"/>
                </a:lnTo>
                <a:lnTo>
                  <a:pt x="1854403" y="417881"/>
                </a:lnTo>
                <a:lnTo>
                  <a:pt x="1858061" y="432511"/>
                </a:lnTo>
                <a:lnTo>
                  <a:pt x="1858061" y="444398"/>
                </a:lnTo>
                <a:lnTo>
                  <a:pt x="1919326" y="500177"/>
                </a:lnTo>
                <a:lnTo>
                  <a:pt x="1968703" y="507492"/>
                </a:lnTo>
                <a:lnTo>
                  <a:pt x="2011680" y="525780"/>
                </a:lnTo>
                <a:lnTo>
                  <a:pt x="2055571" y="534924"/>
                </a:lnTo>
                <a:lnTo>
                  <a:pt x="2103120" y="548640"/>
                </a:lnTo>
                <a:lnTo>
                  <a:pt x="2130552" y="546811"/>
                </a:lnTo>
                <a:lnTo>
                  <a:pt x="2150669" y="542239"/>
                </a:lnTo>
                <a:lnTo>
                  <a:pt x="2174443" y="541325"/>
                </a:lnTo>
                <a:lnTo>
                  <a:pt x="2343607" y="448056"/>
                </a:lnTo>
                <a:lnTo>
                  <a:pt x="2434133" y="450799"/>
                </a:lnTo>
                <a:lnTo>
                  <a:pt x="2447849" y="444398"/>
                </a:lnTo>
                <a:lnTo>
                  <a:pt x="2459736" y="436169"/>
                </a:lnTo>
                <a:lnTo>
                  <a:pt x="2426818" y="421538"/>
                </a:lnTo>
                <a:lnTo>
                  <a:pt x="2350922" y="416052"/>
                </a:lnTo>
                <a:lnTo>
                  <a:pt x="2328062" y="426110"/>
                </a:lnTo>
                <a:lnTo>
                  <a:pt x="2315261" y="401422"/>
                </a:lnTo>
                <a:lnTo>
                  <a:pt x="2339950" y="402336"/>
                </a:lnTo>
                <a:lnTo>
                  <a:pt x="2424074" y="395021"/>
                </a:lnTo>
                <a:lnTo>
                  <a:pt x="2520086" y="399593"/>
                </a:lnTo>
                <a:lnTo>
                  <a:pt x="2598725" y="382219"/>
                </a:lnTo>
                <a:lnTo>
                  <a:pt x="2638044" y="379476"/>
                </a:lnTo>
                <a:lnTo>
                  <a:pt x="2659990" y="383134"/>
                </a:lnTo>
                <a:lnTo>
                  <a:pt x="2723083" y="372161"/>
                </a:lnTo>
                <a:lnTo>
                  <a:pt x="2840126" y="384962"/>
                </a:lnTo>
                <a:lnTo>
                  <a:pt x="2933395" y="373990"/>
                </a:lnTo>
                <a:lnTo>
                  <a:pt x="2922422" y="389534"/>
                </a:lnTo>
                <a:lnTo>
                  <a:pt x="2892247" y="399593"/>
                </a:lnTo>
                <a:lnTo>
                  <a:pt x="2842870" y="402336"/>
                </a:lnTo>
                <a:lnTo>
                  <a:pt x="2805379" y="425196"/>
                </a:lnTo>
                <a:lnTo>
                  <a:pt x="2725826" y="420624"/>
                </a:lnTo>
                <a:lnTo>
                  <a:pt x="2669134" y="428854"/>
                </a:lnTo>
                <a:lnTo>
                  <a:pt x="2686507" y="435254"/>
                </a:lnTo>
                <a:lnTo>
                  <a:pt x="2686507" y="458114"/>
                </a:lnTo>
                <a:lnTo>
                  <a:pt x="2694737" y="463601"/>
                </a:lnTo>
                <a:lnTo>
                  <a:pt x="2702052" y="463601"/>
                </a:lnTo>
                <a:lnTo>
                  <a:pt x="2722169" y="480060"/>
                </a:lnTo>
                <a:lnTo>
                  <a:pt x="2727655" y="491947"/>
                </a:lnTo>
                <a:lnTo>
                  <a:pt x="2734056" y="515722"/>
                </a:lnTo>
                <a:lnTo>
                  <a:pt x="2724912" y="540410"/>
                </a:lnTo>
                <a:lnTo>
                  <a:pt x="2713939" y="552298"/>
                </a:lnTo>
                <a:lnTo>
                  <a:pt x="2736799" y="548640"/>
                </a:lnTo>
                <a:lnTo>
                  <a:pt x="2749601" y="536753"/>
                </a:lnTo>
                <a:lnTo>
                  <a:pt x="2747772" y="524866"/>
                </a:lnTo>
                <a:lnTo>
                  <a:pt x="2749601" y="510235"/>
                </a:lnTo>
                <a:lnTo>
                  <a:pt x="2762402" y="514807"/>
                </a:lnTo>
                <a:lnTo>
                  <a:pt x="2770632" y="521208"/>
                </a:lnTo>
                <a:lnTo>
                  <a:pt x="2799893" y="587959"/>
                </a:lnTo>
                <a:lnTo>
                  <a:pt x="2820010" y="622706"/>
                </a:lnTo>
                <a:lnTo>
                  <a:pt x="2825496" y="621792"/>
                </a:lnTo>
                <a:lnTo>
                  <a:pt x="2830068" y="619963"/>
                </a:lnTo>
                <a:lnTo>
                  <a:pt x="2836469" y="613562"/>
                </a:lnTo>
                <a:lnTo>
                  <a:pt x="2845613" y="597103"/>
                </a:lnTo>
                <a:lnTo>
                  <a:pt x="2853842" y="608076"/>
                </a:lnTo>
                <a:lnTo>
                  <a:pt x="2858414" y="611734"/>
                </a:lnTo>
                <a:lnTo>
                  <a:pt x="2862986" y="613562"/>
                </a:lnTo>
                <a:lnTo>
                  <a:pt x="2858414" y="598018"/>
                </a:lnTo>
                <a:lnTo>
                  <a:pt x="2863901" y="578815"/>
                </a:lnTo>
                <a:lnTo>
                  <a:pt x="2862072" y="572414"/>
                </a:lnTo>
                <a:lnTo>
                  <a:pt x="2871216" y="570586"/>
                </a:lnTo>
                <a:lnTo>
                  <a:pt x="2882189" y="573329"/>
                </a:lnTo>
                <a:lnTo>
                  <a:pt x="2898648" y="578815"/>
                </a:lnTo>
                <a:lnTo>
                  <a:pt x="2926080" y="600761"/>
                </a:lnTo>
                <a:lnTo>
                  <a:pt x="2944368" y="623621"/>
                </a:lnTo>
                <a:lnTo>
                  <a:pt x="2945282" y="636422"/>
                </a:lnTo>
                <a:lnTo>
                  <a:pt x="2952598" y="642823"/>
                </a:lnTo>
                <a:lnTo>
                  <a:pt x="2963570" y="650138"/>
                </a:lnTo>
                <a:lnTo>
                  <a:pt x="2969971" y="662026"/>
                </a:lnTo>
                <a:lnTo>
                  <a:pt x="2970886" y="643738"/>
                </a:lnTo>
                <a:lnTo>
                  <a:pt x="2963570" y="630022"/>
                </a:lnTo>
                <a:lnTo>
                  <a:pt x="2961742" y="614477"/>
                </a:lnTo>
                <a:lnTo>
                  <a:pt x="2998318" y="614477"/>
                </a:lnTo>
                <a:lnTo>
                  <a:pt x="3007462" y="594360"/>
                </a:lnTo>
                <a:lnTo>
                  <a:pt x="3026664" y="606247"/>
                </a:lnTo>
                <a:lnTo>
                  <a:pt x="3078785" y="662026"/>
                </a:lnTo>
                <a:lnTo>
                  <a:pt x="3097987" y="671170"/>
                </a:lnTo>
                <a:lnTo>
                  <a:pt x="3154680" y="682142"/>
                </a:lnTo>
                <a:lnTo>
                  <a:pt x="3189427" y="708660"/>
                </a:lnTo>
                <a:lnTo>
                  <a:pt x="3210458" y="732434"/>
                </a:lnTo>
                <a:lnTo>
                  <a:pt x="3197657" y="757123"/>
                </a:lnTo>
                <a:lnTo>
                  <a:pt x="3164738" y="769925"/>
                </a:lnTo>
                <a:lnTo>
                  <a:pt x="3151937" y="785470"/>
                </a:lnTo>
                <a:lnTo>
                  <a:pt x="3143707" y="801014"/>
                </a:lnTo>
                <a:lnTo>
                  <a:pt x="3143707" y="816559"/>
                </a:lnTo>
                <a:lnTo>
                  <a:pt x="3133649" y="834847"/>
                </a:lnTo>
                <a:lnTo>
                  <a:pt x="3132734" y="841248"/>
                </a:lnTo>
                <a:lnTo>
                  <a:pt x="3126334" y="865937"/>
                </a:lnTo>
                <a:lnTo>
                  <a:pt x="3112618" y="896112"/>
                </a:lnTo>
                <a:lnTo>
                  <a:pt x="3095244" y="929030"/>
                </a:lnTo>
                <a:lnTo>
                  <a:pt x="2999232" y="929945"/>
                </a:lnTo>
                <a:lnTo>
                  <a:pt x="3023006" y="942746"/>
                </a:lnTo>
                <a:lnTo>
                  <a:pt x="3044038" y="952805"/>
                </a:lnTo>
                <a:lnTo>
                  <a:pt x="3080614" y="978408"/>
                </a:lnTo>
                <a:lnTo>
                  <a:pt x="3108046" y="958291"/>
                </a:lnTo>
                <a:lnTo>
                  <a:pt x="3148279" y="956462"/>
                </a:lnTo>
                <a:lnTo>
                  <a:pt x="3192170" y="934517"/>
                </a:lnTo>
                <a:lnTo>
                  <a:pt x="3208630" y="930859"/>
                </a:lnTo>
                <a:lnTo>
                  <a:pt x="3290011" y="942746"/>
                </a:lnTo>
                <a:lnTo>
                  <a:pt x="3310128" y="926287"/>
                </a:lnTo>
                <a:lnTo>
                  <a:pt x="3325673" y="921715"/>
                </a:lnTo>
                <a:lnTo>
                  <a:pt x="3369564" y="924458"/>
                </a:lnTo>
                <a:lnTo>
                  <a:pt x="3407969" y="941832"/>
                </a:lnTo>
                <a:lnTo>
                  <a:pt x="3407969" y="941832"/>
                </a:lnTo>
                <a:lnTo>
                  <a:pt x="3456432" y="1004926"/>
                </a:lnTo>
                <a:lnTo>
                  <a:pt x="3457346" y="1011326"/>
                </a:lnTo>
                <a:lnTo>
                  <a:pt x="3451860" y="1019556"/>
                </a:lnTo>
                <a:lnTo>
                  <a:pt x="3422599" y="1034186"/>
                </a:lnTo>
                <a:lnTo>
                  <a:pt x="3415284" y="1042416"/>
                </a:lnTo>
                <a:lnTo>
                  <a:pt x="3404311" y="1069848"/>
                </a:lnTo>
                <a:lnTo>
                  <a:pt x="3367735" y="1085393"/>
                </a:lnTo>
                <a:lnTo>
                  <a:pt x="3342132" y="1104595"/>
                </a:lnTo>
                <a:lnTo>
                  <a:pt x="3324758" y="1121054"/>
                </a:lnTo>
                <a:lnTo>
                  <a:pt x="3315614" y="1128370"/>
                </a:lnTo>
                <a:lnTo>
                  <a:pt x="3281782" y="1132027"/>
                </a:lnTo>
                <a:lnTo>
                  <a:pt x="3270809" y="1142086"/>
                </a:lnTo>
                <a:lnTo>
                  <a:pt x="3258007" y="1175004"/>
                </a:lnTo>
                <a:lnTo>
                  <a:pt x="3247949" y="1186891"/>
                </a:lnTo>
                <a:lnTo>
                  <a:pt x="227686" y="1186891"/>
                </a:lnTo>
                <a:close/>
              </a:path>
            </a:pathLst>
          </a:custGeom>
          <a:solidFill>
            <a:srgbClr val="2C7396"/>
          </a:solidFill>
          <a:ln w="7620">
            <a:solidFill>
              <a:srgbClr val="4C93B3"/>
            </a:solidFill>
            <a:prstDash val="solid"/>
          </a:ln>
        </p:spPr>
      </p:sp>
      <p:sp>
        <p:nvSpPr>
          <p:cNvPr id="15" name="Map – United States of America"/>
          <p:cNvSpPr/>
          <p:nvPr/>
        </p:nvSpPr>
        <p:spPr>
          <a:xfrm>
            <a:off x="4940503" y="0"/>
            <a:ext cx="1316736" cy="2337206"/>
          </a:xfrm>
          <a:custGeom>
            <a:avLst/>
            <a:gdLst/>
            <a:ahLst/>
            <a:cxnLst/>
            <a:rect l="l" t="t" r="r" b="b"/>
            <a:pathLst>
              <a:path w="1316736" h="2337206">
                <a:moveTo>
                  <a:pt x="1268273" y="0"/>
                </a:moveTo>
                <a:lnTo>
                  <a:pt x="1259129" y="10058"/>
                </a:lnTo>
                <a:lnTo>
                  <a:pt x="1235354" y="21946"/>
                </a:lnTo>
                <a:lnTo>
                  <a:pt x="1209751" y="15545"/>
                </a:lnTo>
                <a:lnTo>
                  <a:pt x="1182319" y="11887"/>
                </a:lnTo>
                <a:lnTo>
                  <a:pt x="1165860" y="18288"/>
                </a:lnTo>
                <a:lnTo>
                  <a:pt x="1192378" y="29261"/>
                </a:lnTo>
                <a:lnTo>
                  <a:pt x="1207008" y="44806"/>
                </a:lnTo>
                <a:lnTo>
                  <a:pt x="1204265" y="66751"/>
                </a:lnTo>
                <a:lnTo>
                  <a:pt x="1196950" y="74981"/>
                </a:lnTo>
                <a:lnTo>
                  <a:pt x="1180490" y="85954"/>
                </a:lnTo>
                <a:lnTo>
                  <a:pt x="1173175" y="84125"/>
                </a:lnTo>
                <a:lnTo>
                  <a:pt x="1168603" y="74066"/>
                </a:lnTo>
                <a:lnTo>
                  <a:pt x="1163117" y="53035"/>
                </a:lnTo>
                <a:lnTo>
                  <a:pt x="1153973" y="57607"/>
                </a:lnTo>
                <a:lnTo>
                  <a:pt x="1153058" y="67666"/>
                </a:lnTo>
                <a:lnTo>
                  <a:pt x="1145743" y="71323"/>
                </a:lnTo>
                <a:lnTo>
                  <a:pt x="1122883" y="37490"/>
                </a:lnTo>
                <a:lnTo>
                  <a:pt x="1123798" y="63094"/>
                </a:lnTo>
                <a:lnTo>
                  <a:pt x="1132027" y="82296"/>
                </a:lnTo>
                <a:lnTo>
                  <a:pt x="1140257" y="92354"/>
                </a:lnTo>
                <a:lnTo>
                  <a:pt x="1147572" y="98755"/>
                </a:lnTo>
                <a:lnTo>
                  <a:pt x="1150315" y="107899"/>
                </a:lnTo>
                <a:lnTo>
                  <a:pt x="1133856" y="129845"/>
                </a:lnTo>
                <a:lnTo>
                  <a:pt x="1125626" y="134417"/>
                </a:lnTo>
                <a:lnTo>
                  <a:pt x="1110996" y="138074"/>
                </a:lnTo>
                <a:lnTo>
                  <a:pt x="1101852" y="151790"/>
                </a:lnTo>
                <a:lnTo>
                  <a:pt x="1104595" y="163678"/>
                </a:lnTo>
                <a:lnTo>
                  <a:pt x="1091794" y="189281"/>
                </a:lnTo>
                <a:lnTo>
                  <a:pt x="1060704" y="204826"/>
                </a:lnTo>
                <a:lnTo>
                  <a:pt x="1051560" y="203911"/>
                </a:lnTo>
                <a:lnTo>
                  <a:pt x="1043330" y="209398"/>
                </a:lnTo>
                <a:lnTo>
                  <a:pt x="1047902" y="220370"/>
                </a:lnTo>
                <a:lnTo>
                  <a:pt x="1056132" y="228600"/>
                </a:lnTo>
                <a:lnTo>
                  <a:pt x="1055218" y="235915"/>
                </a:lnTo>
                <a:lnTo>
                  <a:pt x="1046988" y="246888"/>
                </a:lnTo>
                <a:lnTo>
                  <a:pt x="1031443" y="249631"/>
                </a:lnTo>
                <a:lnTo>
                  <a:pt x="1022299" y="261518"/>
                </a:lnTo>
                <a:lnTo>
                  <a:pt x="1025042" y="272491"/>
                </a:lnTo>
                <a:lnTo>
                  <a:pt x="1030529" y="278892"/>
                </a:lnTo>
                <a:lnTo>
                  <a:pt x="1029614" y="289865"/>
                </a:lnTo>
                <a:lnTo>
                  <a:pt x="1010412" y="299923"/>
                </a:lnTo>
                <a:lnTo>
                  <a:pt x="1006754" y="310896"/>
                </a:lnTo>
                <a:lnTo>
                  <a:pt x="1015898" y="314554"/>
                </a:lnTo>
                <a:lnTo>
                  <a:pt x="1022299" y="310896"/>
                </a:lnTo>
                <a:lnTo>
                  <a:pt x="1027786" y="313639"/>
                </a:lnTo>
                <a:lnTo>
                  <a:pt x="1016813" y="331013"/>
                </a:lnTo>
                <a:lnTo>
                  <a:pt x="1006754" y="341986"/>
                </a:lnTo>
                <a:lnTo>
                  <a:pt x="997610" y="361188"/>
                </a:lnTo>
                <a:lnTo>
                  <a:pt x="974750" y="366674"/>
                </a:lnTo>
                <a:lnTo>
                  <a:pt x="975665" y="373075"/>
                </a:lnTo>
                <a:lnTo>
                  <a:pt x="988466" y="378562"/>
                </a:lnTo>
                <a:lnTo>
                  <a:pt x="999439" y="393192"/>
                </a:lnTo>
                <a:lnTo>
                  <a:pt x="978408" y="420624"/>
                </a:lnTo>
                <a:lnTo>
                  <a:pt x="966521" y="418795"/>
                </a:lnTo>
                <a:lnTo>
                  <a:pt x="959206" y="412394"/>
                </a:lnTo>
                <a:lnTo>
                  <a:pt x="954634" y="434340"/>
                </a:lnTo>
                <a:lnTo>
                  <a:pt x="956462" y="445313"/>
                </a:lnTo>
                <a:lnTo>
                  <a:pt x="951890" y="469087"/>
                </a:lnTo>
                <a:lnTo>
                  <a:pt x="944575" y="497434"/>
                </a:lnTo>
                <a:lnTo>
                  <a:pt x="939089" y="509321"/>
                </a:lnTo>
                <a:lnTo>
                  <a:pt x="940003" y="531266"/>
                </a:lnTo>
                <a:lnTo>
                  <a:pt x="943661" y="552298"/>
                </a:lnTo>
                <a:lnTo>
                  <a:pt x="955548" y="578815"/>
                </a:lnTo>
                <a:lnTo>
                  <a:pt x="973836" y="688543"/>
                </a:lnTo>
                <a:lnTo>
                  <a:pt x="986638" y="726948"/>
                </a:lnTo>
                <a:lnTo>
                  <a:pt x="1008583" y="829361"/>
                </a:lnTo>
                <a:lnTo>
                  <a:pt x="1046074" y="928116"/>
                </a:lnTo>
                <a:lnTo>
                  <a:pt x="1098194" y="1046988"/>
                </a:lnTo>
                <a:lnTo>
                  <a:pt x="1184148" y="1191463"/>
                </a:lnTo>
                <a:lnTo>
                  <a:pt x="1194206" y="1211580"/>
                </a:lnTo>
                <a:lnTo>
                  <a:pt x="1183234" y="1228954"/>
                </a:lnTo>
                <a:lnTo>
                  <a:pt x="1179576" y="1246327"/>
                </a:lnTo>
                <a:lnTo>
                  <a:pt x="1178662" y="1273759"/>
                </a:lnTo>
                <a:lnTo>
                  <a:pt x="1181405" y="1300277"/>
                </a:lnTo>
                <a:lnTo>
                  <a:pt x="1191463" y="1332281"/>
                </a:lnTo>
                <a:lnTo>
                  <a:pt x="1211580" y="1381658"/>
                </a:lnTo>
                <a:lnTo>
                  <a:pt x="1200607" y="1371600"/>
                </a:lnTo>
                <a:lnTo>
                  <a:pt x="1172261" y="1301191"/>
                </a:lnTo>
                <a:lnTo>
                  <a:pt x="1168603" y="1260043"/>
                </a:lnTo>
                <a:lnTo>
                  <a:pt x="1173175" y="1200607"/>
                </a:lnTo>
                <a:lnTo>
                  <a:pt x="1166774" y="1202436"/>
                </a:lnTo>
                <a:lnTo>
                  <a:pt x="1161288" y="1221638"/>
                </a:lnTo>
                <a:lnTo>
                  <a:pt x="1158545" y="1243584"/>
                </a:lnTo>
                <a:lnTo>
                  <a:pt x="1150315" y="1252728"/>
                </a:lnTo>
                <a:lnTo>
                  <a:pt x="1140257" y="1217981"/>
                </a:lnTo>
                <a:lnTo>
                  <a:pt x="1141171" y="1202436"/>
                </a:lnTo>
                <a:lnTo>
                  <a:pt x="1151230" y="1184148"/>
                </a:lnTo>
                <a:lnTo>
                  <a:pt x="1148486" y="1177747"/>
                </a:lnTo>
                <a:lnTo>
                  <a:pt x="1132027" y="1168603"/>
                </a:lnTo>
                <a:lnTo>
                  <a:pt x="1128370" y="1153973"/>
                </a:lnTo>
                <a:lnTo>
                  <a:pt x="1130198" y="1139342"/>
                </a:lnTo>
                <a:lnTo>
                  <a:pt x="1121054" y="1132027"/>
                </a:lnTo>
                <a:lnTo>
                  <a:pt x="1113739" y="1132027"/>
                </a:lnTo>
                <a:lnTo>
                  <a:pt x="1118311" y="1167689"/>
                </a:lnTo>
                <a:lnTo>
                  <a:pt x="1126541" y="1189634"/>
                </a:lnTo>
                <a:lnTo>
                  <a:pt x="1136599" y="1241755"/>
                </a:lnTo>
                <a:lnTo>
                  <a:pt x="1152144" y="1273759"/>
                </a:lnTo>
                <a:lnTo>
                  <a:pt x="1162202" y="1300277"/>
                </a:lnTo>
                <a:lnTo>
                  <a:pt x="1270102" y="1580998"/>
                </a:lnTo>
                <a:lnTo>
                  <a:pt x="1295705" y="1616659"/>
                </a:lnTo>
                <a:lnTo>
                  <a:pt x="1304849" y="1642262"/>
                </a:lnTo>
                <a:lnTo>
                  <a:pt x="1314907" y="1695298"/>
                </a:lnTo>
                <a:lnTo>
                  <a:pt x="1316736" y="1763878"/>
                </a:lnTo>
                <a:lnTo>
                  <a:pt x="1299362" y="1888236"/>
                </a:lnTo>
                <a:lnTo>
                  <a:pt x="1294790" y="1972361"/>
                </a:lnTo>
                <a:lnTo>
                  <a:pt x="1292962" y="1970532"/>
                </a:lnTo>
                <a:lnTo>
                  <a:pt x="1291133" y="1961388"/>
                </a:lnTo>
                <a:lnTo>
                  <a:pt x="1286561" y="1960474"/>
                </a:lnTo>
                <a:lnTo>
                  <a:pt x="1271930" y="1998878"/>
                </a:lnTo>
                <a:lnTo>
                  <a:pt x="1250899" y="2033626"/>
                </a:lnTo>
                <a:lnTo>
                  <a:pt x="1243584" y="2087575"/>
                </a:lnTo>
                <a:lnTo>
                  <a:pt x="1234440" y="2115007"/>
                </a:lnTo>
                <a:lnTo>
                  <a:pt x="1204265" y="2143354"/>
                </a:lnTo>
                <a:lnTo>
                  <a:pt x="1185977" y="2143354"/>
                </a:lnTo>
                <a:lnTo>
                  <a:pt x="1139342" y="2164385"/>
                </a:lnTo>
                <a:lnTo>
                  <a:pt x="1107338" y="2158898"/>
                </a:lnTo>
                <a:lnTo>
                  <a:pt x="1068934" y="2170786"/>
                </a:lnTo>
                <a:lnTo>
                  <a:pt x="1044245" y="2169871"/>
                </a:lnTo>
                <a:lnTo>
                  <a:pt x="1029614" y="2144268"/>
                </a:lnTo>
                <a:lnTo>
                  <a:pt x="1032358" y="2132381"/>
                </a:lnTo>
                <a:lnTo>
                  <a:pt x="1037844" y="2120494"/>
                </a:lnTo>
                <a:lnTo>
                  <a:pt x="1047902" y="2118665"/>
                </a:lnTo>
                <a:lnTo>
                  <a:pt x="1080821" y="2145182"/>
                </a:lnTo>
                <a:lnTo>
                  <a:pt x="1087222" y="2133295"/>
                </a:lnTo>
                <a:lnTo>
                  <a:pt x="1077163" y="2120494"/>
                </a:lnTo>
                <a:lnTo>
                  <a:pt x="1057961" y="2113178"/>
                </a:lnTo>
                <a:lnTo>
                  <a:pt x="1043330" y="2104949"/>
                </a:lnTo>
                <a:lnTo>
                  <a:pt x="1014984" y="2043684"/>
                </a:lnTo>
                <a:lnTo>
                  <a:pt x="984809" y="2001622"/>
                </a:lnTo>
                <a:lnTo>
                  <a:pt x="978408" y="1973275"/>
                </a:lnTo>
                <a:lnTo>
                  <a:pt x="927202" y="1955902"/>
                </a:lnTo>
                <a:lnTo>
                  <a:pt x="889711" y="1930298"/>
                </a:lnTo>
                <a:lnTo>
                  <a:pt x="865022" y="1883664"/>
                </a:lnTo>
                <a:lnTo>
                  <a:pt x="851306" y="1801368"/>
                </a:lnTo>
                <a:lnTo>
                  <a:pt x="834847" y="1792224"/>
                </a:lnTo>
                <a:lnTo>
                  <a:pt x="827532" y="1785823"/>
                </a:lnTo>
                <a:lnTo>
                  <a:pt x="843991" y="1754734"/>
                </a:lnTo>
                <a:lnTo>
                  <a:pt x="861365" y="1730045"/>
                </a:lnTo>
                <a:lnTo>
                  <a:pt x="847649" y="1736446"/>
                </a:lnTo>
                <a:lnTo>
                  <a:pt x="837590" y="1745590"/>
                </a:lnTo>
                <a:lnTo>
                  <a:pt x="824789" y="1768450"/>
                </a:lnTo>
                <a:lnTo>
                  <a:pt x="815645" y="1771193"/>
                </a:lnTo>
                <a:lnTo>
                  <a:pt x="807415" y="1768450"/>
                </a:lnTo>
                <a:lnTo>
                  <a:pt x="796442" y="1724558"/>
                </a:lnTo>
                <a:lnTo>
                  <a:pt x="799186" y="1671523"/>
                </a:lnTo>
                <a:lnTo>
                  <a:pt x="813816" y="1651406"/>
                </a:lnTo>
                <a:lnTo>
                  <a:pt x="791870" y="1650492"/>
                </a:lnTo>
                <a:lnTo>
                  <a:pt x="770839" y="1658722"/>
                </a:lnTo>
                <a:lnTo>
                  <a:pt x="773582" y="1676095"/>
                </a:lnTo>
                <a:lnTo>
                  <a:pt x="770839" y="1686154"/>
                </a:lnTo>
                <a:lnTo>
                  <a:pt x="754380" y="1683410"/>
                </a:lnTo>
                <a:lnTo>
                  <a:pt x="742493" y="1677010"/>
                </a:lnTo>
                <a:lnTo>
                  <a:pt x="726948" y="1658722"/>
                </a:lnTo>
                <a:lnTo>
                  <a:pt x="704088" y="1623060"/>
                </a:lnTo>
                <a:lnTo>
                  <a:pt x="659282" y="1525219"/>
                </a:lnTo>
                <a:lnTo>
                  <a:pt x="650138" y="1511503"/>
                </a:lnTo>
                <a:lnTo>
                  <a:pt x="634594" y="1496873"/>
                </a:lnTo>
                <a:lnTo>
                  <a:pt x="641909" y="1492301"/>
                </a:lnTo>
                <a:lnTo>
                  <a:pt x="654710" y="1489558"/>
                </a:lnTo>
                <a:lnTo>
                  <a:pt x="683971" y="1445666"/>
                </a:lnTo>
                <a:lnTo>
                  <a:pt x="706831" y="1418234"/>
                </a:lnTo>
                <a:lnTo>
                  <a:pt x="715061" y="1399946"/>
                </a:lnTo>
                <a:lnTo>
                  <a:pt x="713232" y="1391717"/>
                </a:lnTo>
                <a:lnTo>
                  <a:pt x="703174" y="1379830"/>
                </a:lnTo>
                <a:lnTo>
                  <a:pt x="690372" y="1389888"/>
                </a:lnTo>
                <a:lnTo>
                  <a:pt x="683971" y="1388059"/>
                </a:lnTo>
                <a:lnTo>
                  <a:pt x="669341" y="1364285"/>
                </a:lnTo>
                <a:lnTo>
                  <a:pt x="654710" y="1357884"/>
                </a:lnTo>
                <a:lnTo>
                  <a:pt x="644652" y="1362456"/>
                </a:lnTo>
                <a:lnTo>
                  <a:pt x="655625" y="1381658"/>
                </a:lnTo>
                <a:lnTo>
                  <a:pt x="664769" y="1388974"/>
                </a:lnTo>
                <a:lnTo>
                  <a:pt x="661111" y="1416406"/>
                </a:lnTo>
                <a:lnTo>
                  <a:pt x="657454" y="1425550"/>
                </a:lnTo>
                <a:lnTo>
                  <a:pt x="648310" y="1433779"/>
                </a:lnTo>
                <a:lnTo>
                  <a:pt x="634594" y="1429207"/>
                </a:lnTo>
                <a:lnTo>
                  <a:pt x="627278" y="1436522"/>
                </a:lnTo>
                <a:lnTo>
                  <a:pt x="619049" y="1429207"/>
                </a:lnTo>
                <a:lnTo>
                  <a:pt x="610819" y="1416406"/>
                </a:lnTo>
                <a:lnTo>
                  <a:pt x="601675" y="1397203"/>
                </a:lnTo>
                <a:lnTo>
                  <a:pt x="625450" y="1283818"/>
                </a:lnTo>
                <a:lnTo>
                  <a:pt x="648310" y="1211580"/>
                </a:lnTo>
                <a:lnTo>
                  <a:pt x="651053" y="1129284"/>
                </a:lnTo>
                <a:lnTo>
                  <a:pt x="652882" y="1116482"/>
                </a:lnTo>
                <a:lnTo>
                  <a:pt x="651053" y="1094537"/>
                </a:lnTo>
                <a:lnTo>
                  <a:pt x="619963" y="1046988"/>
                </a:lnTo>
                <a:lnTo>
                  <a:pt x="487375" y="929945"/>
                </a:lnTo>
                <a:lnTo>
                  <a:pt x="384048" y="790042"/>
                </a:lnTo>
                <a:lnTo>
                  <a:pt x="295351" y="737921"/>
                </a:lnTo>
                <a:lnTo>
                  <a:pt x="226771" y="748894"/>
                </a:lnTo>
                <a:lnTo>
                  <a:pt x="215798" y="759866"/>
                </a:lnTo>
                <a:lnTo>
                  <a:pt x="210312" y="773582"/>
                </a:lnTo>
                <a:lnTo>
                  <a:pt x="214884" y="789127"/>
                </a:lnTo>
                <a:lnTo>
                  <a:pt x="208483" y="795528"/>
                </a:lnTo>
                <a:lnTo>
                  <a:pt x="190195" y="794614"/>
                </a:lnTo>
                <a:lnTo>
                  <a:pt x="166421" y="798271"/>
                </a:lnTo>
                <a:lnTo>
                  <a:pt x="102413" y="834847"/>
                </a:lnTo>
                <a:lnTo>
                  <a:pt x="78638" y="833933"/>
                </a:lnTo>
                <a:lnTo>
                  <a:pt x="58522" y="843077"/>
                </a:lnTo>
                <a:lnTo>
                  <a:pt x="42977" y="850392"/>
                </a:lnTo>
                <a:lnTo>
                  <a:pt x="3658" y="854964"/>
                </a:lnTo>
                <a:lnTo>
                  <a:pt x="0" y="855878"/>
                </a:lnTo>
                <a:lnTo>
                  <a:pt x="0" y="0"/>
                </a:lnTo>
                <a:close/>
                <a:moveTo>
                  <a:pt x="808330" y="1795882"/>
                </a:moveTo>
                <a:lnTo>
                  <a:pt x="798271" y="1804111"/>
                </a:lnTo>
                <a:lnTo>
                  <a:pt x="779983" y="1798625"/>
                </a:lnTo>
                <a:lnTo>
                  <a:pt x="769925" y="1788566"/>
                </a:lnTo>
                <a:lnTo>
                  <a:pt x="765353" y="1769364"/>
                </a:lnTo>
                <a:lnTo>
                  <a:pt x="780898" y="1789481"/>
                </a:lnTo>
                <a:lnTo>
                  <a:pt x="787298" y="1794053"/>
                </a:lnTo>
                <a:close/>
                <a:moveTo>
                  <a:pt x="795528" y="1768450"/>
                </a:moveTo>
                <a:lnTo>
                  <a:pt x="794614" y="1784909"/>
                </a:lnTo>
                <a:lnTo>
                  <a:pt x="781812" y="1756562"/>
                </a:lnTo>
                <a:lnTo>
                  <a:pt x="773582" y="1725473"/>
                </a:lnTo>
                <a:lnTo>
                  <a:pt x="785470" y="1735531"/>
                </a:lnTo>
                <a:close/>
                <a:moveTo>
                  <a:pt x="1229868" y="2168042"/>
                </a:moveTo>
                <a:lnTo>
                  <a:pt x="1179576" y="2221078"/>
                </a:lnTo>
                <a:lnTo>
                  <a:pt x="1185062" y="2208276"/>
                </a:lnTo>
                <a:lnTo>
                  <a:pt x="1205179" y="2179930"/>
                </a:lnTo>
                <a:lnTo>
                  <a:pt x="1211580" y="2166214"/>
                </a:lnTo>
                <a:lnTo>
                  <a:pt x="1224382" y="2157984"/>
                </a:lnTo>
                <a:lnTo>
                  <a:pt x="1237183" y="2142439"/>
                </a:lnTo>
                <a:lnTo>
                  <a:pt x="1238098" y="2124151"/>
                </a:lnTo>
                <a:lnTo>
                  <a:pt x="1256386" y="2112264"/>
                </a:lnTo>
                <a:lnTo>
                  <a:pt x="1261872" y="2110435"/>
                </a:lnTo>
                <a:close/>
                <a:moveTo>
                  <a:pt x="987552" y="2307031"/>
                </a:moveTo>
                <a:lnTo>
                  <a:pt x="978408" y="2312518"/>
                </a:lnTo>
                <a:lnTo>
                  <a:pt x="974750" y="2310689"/>
                </a:lnTo>
                <a:lnTo>
                  <a:pt x="974750" y="2302459"/>
                </a:lnTo>
                <a:lnTo>
                  <a:pt x="964692" y="2283257"/>
                </a:lnTo>
                <a:lnTo>
                  <a:pt x="964692" y="2278685"/>
                </a:lnTo>
                <a:lnTo>
                  <a:pt x="990295" y="2296973"/>
                </a:lnTo>
                <a:lnTo>
                  <a:pt x="991210" y="2301545"/>
                </a:lnTo>
                <a:close/>
                <a:moveTo>
                  <a:pt x="1115568" y="2264054"/>
                </a:moveTo>
                <a:lnTo>
                  <a:pt x="1110996" y="2264054"/>
                </a:lnTo>
                <a:lnTo>
                  <a:pt x="1112825" y="2259482"/>
                </a:lnTo>
                <a:lnTo>
                  <a:pt x="1122883" y="2251253"/>
                </a:lnTo>
                <a:lnTo>
                  <a:pt x="1126541" y="2254910"/>
                </a:lnTo>
                <a:lnTo>
                  <a:pt x="1126541" y="2258568"/>
                </a:lnTo>
                <a:close/>
                <a:moveTo>
                  <a:pt x="1164946" y="2235708"/>
                </a:moveTo>
                <a:lnTo>
                  <a:pt x="1158545" y="2236622"/>
                </a:lnTo>
                <a:lnTo>
                  <a:pt x="1168603" y="2224735"/>
                </a:lnTo>
                <a:lnTo>
                  <a:pt x="1171346" y="2225650"/>
                </a:lnTo>
                <a:close/>
                <a:moveTo>
                  <a:pt x="1060704" y="2287829"/>
                </a:moveTo>
                <a:lnTo>
                  <a:pt x="1049731" y="2294230"/>
                </a:lnTo>
                <a:lnTo>
                  <a:pt x="1037844" y="2289658"/>
                </a:lnTo>
                <a:lnTo>
                  <a:pt x="1050646" y="2283257"/>
                </a:lnTo>
                <a:lnTo>
                  <a:pt x="1089965" y="2275942"/>
                </a:lnTo>
                <a:lnTo>
                  <a:pt x="1075334" y="2285086"/>
                </a:lnTo>
                <a:close/>
                <a:moveTo>
                  <a:pt x="964692" y="480974"/>
                </a:moveTo>
                <a:lnTo>
                  <a:pt x="953719" y="553212"/>
                </a:lnTo>
                <a:lnTo>
                  <a:pt x="949147" y="527609"/>
                </a:lnTo>
                <a:lnTo>
                  <a:pt x="948233" y="502006"/>
                </a:lnTo>
                <a:lnTo>
                  <a:pt x="956462" y="488290"/>
                </a:lnTo>
                <a:close/>
                <a:moveTo>
                  <a:pt x="927202" y="2320747"/>
                </a:moveTo>
                <a:lnTo>
                  <a:pt x="910742" y="2323490"/>
                </a:lnTo>
                <a:lnTo>
                  <a:pt x="924458" y="2312518"/>
                </a:lnTo>
                <a:lnTo>
                  <a:pt x="929030" y="2296058"/>
                </a:lnTo>
                <a:lnTo>
                  <a:pt x="936346" y="2308860"/>
                </a:lnTo>
                <a:lnTo>
                  <a:pt x="936346" y="2317090"/>
                </a:lnTo>
                <a:close/>
                <a:moveTo>
                  <a:pt x="1280160" y="1559966"/>
                </a:moveTo>
                <a:lnTo>
                  <a:pt x="1283818" y="1580998"/>
                </a:lnTo>
                <a:lnTo>
                  <a:pt x="1260958" y="1532534"/>
                </a:lnTo>
                <a:lnTo>
                  <a:pt x="1231697" y="1455725"/>
                </a:lnTo>
                <a:lnTo>
                  <a:pt x="1216152" y="1395374"/>
                </a:lnTo>
                <a:lnTo>
                  <a:pt x="1227125" y="1411834"/>
                </a:lnTo>
                <a:lnTo>
                  <a:pt x="1237183" y="1444752"/>
                </a:lnTo>
                <a:close/>
                <a:moveTo>
                  <a:pt x="872338" y="2336292"/>
                </a:moveTo>
                <a:lnTo>
                  <a:pt x="865937" y="2337206"/>
                </a:lnTo>
                <a:lnTo>
                  <a:pt x="865022" y="2332634"/>
                </a:lnTo>
                <a:lnTo>
                  <a:pt x="875995" y="2327148"/>
                </a:lnTo>
                <a:lnTo>
                  <a:pt x="884225" y="2328062"/>
                </a:lnTo>
                <a:lnTo>
                  <a:pt x="883310" y="2333549"/>
                </a:lnTo>
                <a:close/>
                <a:moveTo>
                  <a:pt x="74066" y="873252"/>
                </a:moveTo>
                <a:lnTo>
                  <a:pt x="48463" y="884225"/>
                </a:lnTo>
                <a:lnTo>
                  <a:pt x="21031" y="876910"/>
                </a:lnTo>
                <a:lnTo>
                  <a:pt x="38405" y="875081"/>
                </a:lnTo>
                <a:lnTo>
                  <a:pt x="50292" y="877824"/>
                </a:lnTo>
                <a:lnTo>
                  <a:pt x="82296" y="863194"/>
                </a:lnTo>
                <a:lnTo>
                  <a:pt x="98755" y="851306"/>
                </a:lnTo>
                <a:lnTo>
                  <a:pt x="118872" y="846734"/>
                </a:lnTo>
                <a:close/>
              </a:path>
            </a:pathLst>
          </a:custGeom>
          <a:solidFill>
            <a:srgbClr val="2C7396"/>
          </a:solidFill>
          <a:ln w="7620">
            <a:solidFill>
              <a:srgbClr val="4C93B3"/>
            </a:solidFill>
            <a:prstDash val="solid"/>
          </a:ln>
        </p:spPr>
      </p:sp>
      <p:sp>
        <p:nvSpPr>
          <p:cNvPr id="16" name="Map – Bermuda"/>
          <p:cNvSpPr/>
          <p:nvPr/>
        </p:nvSpPr>
        <p:spPr>
          <a:xfrm>
            <a:off x="10132466" y="55778"/>
            <a:ext cx="50292" cy="38405"/>
          </a:xfrm>
          <a:custGeom>
            <a:avLst/>
            <a:gdLst/>
            <a:ahLst/>
            <a:cxnLst/>
            <a:rect l="l" t="t" r="r" b="b"/>
            <a:pathLst>
              <a:path w="50292" h="38405">
                <a:moveTo>
                  <a:pt x="34747" y="28346"/>
                </a:moveTo>
                <a:lnTo>
                  <a:pt x="10973" y="38405"/>
                </a:lnTo>
                <a:lnTo>
                  <a:pt x="4572" y="37490"/>
                </a:lnTo>
                <a:lnTo>
                  <a:pt x="0" y="33833"/>
                </a:lnTo>
                <a:lnTo>
                  <a:pt x="24689" y="23774"/>
                </a:lnTo>
                <a:lnTo>
                  <a:pt x="43891" y="0"/>
                </a:lnTo>
                <a:lnTo>
                  <a:pt x="50292" y="1829"/>
                </a:lnTo>
                <a:close/>
              </a:path>
            </a:pathLst>
          </a:custGeom>
          <a:solidFill>
            <a:srgbClr val="2C7396"/>
          </a:solidFill>
          <a:ln w="7620">
            <a:solidFill>
              <a:srgbClr val="4C93B3"/>
            </a:solidFill>
            <a:prstDash val="solid"/>
          </a:ln>
        </p:spPr>
      </p:sp>
      <p:sp>
        <p:nvSpPr>
          <p:cNvPr id="17" name="Map – Panama"/>
          <p:cNvSpPr/>
          <p:nvPr/>
        </p:nvSpPr>
        <p:spPr>
          <a:xfrm>
            <a:off x="5495544" y="6342278"/>
            <a:ext cx="1488643" cy="515722"/>
          </a:xfrm>
          <a:custGeom>
            <a:avLst/>
            <a:gdLst/>
            <a:ahLst/>
            <a:cxnLst/>
            <a:rect l="l" t="t" r="r" b="b"/>
            <a:pathLst>
              <a:path w="1488643" h="515722">
                <a:moveTo>
                  <a:pt x="1375258" y="515722"/>
                </a:moveTo>
                <a:lnTo>
                  <a:pt x="1370686" y="506578"/>
                </a:lnTo>
                <a:lnTo>
                  <a:pt x="1358798" y="491947"/>
                </a:lnTo>
                <a:lnTo>
                  <a:pt x="1351483" y="487375"/>
                </a:lnTo>
                <a:lnTo>
                  <a:pt x="1347826" y="486461"/>
                </a:lnTo>
                <a:lnTo>
                  <a:pt x="1344168" y="490118"/>
                </a:lnTo>
                <a:lnTo>
                  <a:pt x="1342339" y="498348"/>
                </a:lnTo>
                <a:lnTo>
                  <a:pt x="1345082" y="515722"/>
                </a:lnTo>
                <a:lnTo>
                  <a:pt x="1231697" y="515722"/>
                </a:lnTo>
                <a:lnTo>
                  <a:pt x="1231697" y="515722"/>
                </a:lnTo>
                <a:lnTo>
                  <a:pt x="1186891" y="438912"/>
                </a:lnTo>
                <a:lnTo>
                  <a:pt x="1175918" y="396850"/>
                </a:lnTo>
                <a:lnTo>
                  <a:pt x="1189634" y="394106"/>
                </a:lnTo>
                <a:lnTo>
                  <a:pt x="1202436" y="395935"/>
                </a:lnTo>
                <a:lnTo>
                  <a:pt x="1209751" y="388620"/>
                </a:lnTo>
                <a:lnTo>
                  <a:pt x="1217981" y="376733"/>
                </a:lnTo>
                <a:lnTo>
                  <a:pt x="1211580" y="348386"/>
                </a:lnTo>
                <a:lnTo>
                  <a:pt x="1237183" y="327355"/>
                </a:lnTo>
                <a:lnTo>
                  <a:pt x="1247242" y="313639"/>
                </a:lnTo>
                <a:lnTo>
                  <a:pt x="1253642" y="314554"/>
                </a:lnTo>
                <a:lnTo>
                  <a:pt x="1271016" y="339242"/>
                </a:lnTo>
                <a:lnTo>
                  <a:pt x="1294790" y="352958"/>
                </a:lnTo>
                <a:lnTo>
                  <a:pt x="1325880" y="373990"/>
                </a:lnTo>
                <a:lnTo>
                  <a:pt x="1345082" y="378562"/>
                </a:lnTo>
                <a:lnTo>
                  <a:pt x="1321308" y="357530"/>
                </a:lnTo>
                <a:lnTo>
                  <a:pt x="1280160" y="329184"/>
                </a:lnTo>
                <a:lnTo>
                  <a:pt x="1268273" y="309982"/>
                </a:lnTo>
                <a:lnTo>
                  <a:pt x="1257300" y="284378"/>
                </a:lnTo>
                <a:lnTo>
                  <a:pt x="1241755" y="295351"/>
                </a:lnTo>
                <a:lnTo>
                  <a:pt x="1234440" y="305410"/>
                </a:lnTo>
                <a:lnTo>
                  <a:pt x="1226210" y="310896"/>
                </a:lnTo>
                <a:lnTo>
                  <a:pt x="1218895" y="303581"/>
                </a:lnTo>
                <a:lnTo>
                  <a:pt x="1217981" y="295351"/>
                </a:lnTo>
                <a:lnTo>
                  <a:pt x="1194206" y="293522"/>
                </a:lnTo>
                <a:lnTo>
                  <a:pt x="1187806" y="286207"/>
                </a:lnTo>
                <a:lnTo>
                  <a:pt x="1181405" y="282550"/>
                </a:lnTo>
                <a:lnTo>
                  <a:pt x="1184148" y="298094"/>
                </a:lnTo>
                <a:lnTo>
                  <a:pt x="1188720" y="308153"/>
                </a:lnTo>
                <a:lnTo>
                  <a:pt x="1186891" y="320040"/>
                </a:lnTo>
                <a:lnTo>
                  <a:pt x="1178662" y="320954"/>
                </a:lnTo>
                <a:lnTo>
                  <a:pt x="1172261" y="309067"/>
                </a:lnTo>
                <a:lnTo>
                  <a:pt x="1164031" y="297180"/>
                </a:lnTo>
                <a:lnTo>
                  <a:pt x="1152144" y="250546"/>
                </a:lnTo>
                <a:lnTo>
                  <a:pt x="1124712" y="228600"/>
                </a:lnTo>
                <a:lnTo>
                  <a:pt x="1111910" y="221285"/>
                </a:lnTo>
                <a:lnTo>
                  <a:pt x="1101852" y="218542"/>
                </a:lnTo>
                <a:lnTo>
                  <a:pt x="1086307" y="202997"/>
                </a:lnTo>
                <a:lnTo>
                  <a:pt x="1066190" y="195682"/>
                </a:lnTo>
                <a:lnTo>
                  <a:pt x="1039673" y="171907"/>
                </a:lnTo>
                <a:lnTo>
                  <a:pt x="1005840" y="155448"/>
                </a:lnTo>
                <a:lnTo>
                  <a:pt x="965606" y="149047"/>
                </a:lnTo>
                <a:lnTo>
                  <a:pt x="915314" y="152705"/>
                </a:lnTo>
                <a:lnTo>
                  <a:pt x="897941" y="161849"/>
                </a:lnTo>
                <a:lnTo>
                  <a:pt x="886968" y="174650"/>
                </a:lnTo>
                <a:lnTo>
                  <a:pt x="881482" y="179222"/>
                </a:lnTo>
                <a:lnTo>
                  <a:pt x="852221" y="192938"/>
                </a:lnTo>
                <a:lnTo>
                  <a:pt x="841248" y="212141"/>
                </a:lnTo>
                <a:lnTo>
                  <a:pt x="834847" y="228600"/>
                </a:lnTo>
                <a:lnTo>
                  <a:pt x="820217" y="247802"/>
                </a:lnTo>
                <a:lnTo>
                  <a:pt x="836676" y="258775"/>
                </a:lnTo>
                <a:lnTo>
                  <a:pt x="740664" y="322783"/>
                </a:lnTo>
                <a:lnTo>
                  <a:pt x="721462" y="331927"/>
                </a:lnTo>
                <a:lnTo>
                  <a:pt x="678485" y="338328"/>
                </a:lnTo>
                <a:lnTo>
                  <a:pt x="668426" y="344729"/>
                </a:lnTo>
                <a:lnTo>
                  <a:pt x="655625" y="357530"/>
                </a:lnTo>
                <a:lnTo>
                  <a:pt x="653796" y="376733"/>
                </a:lnTo>
                <a:lnTo>
                  <a:pt x="655625" y="393192"/>
                </a:lnTo>
                <a:lnTo>
                  <a:pt x="668426" y="405079"/>
                </a:lnTo>
                <a:lnTo>
                  <a:pt x="679399" y="413309"/>
                </a:lnTo>
                <a:lnTo>
                  <a:pt x="705917" y="450799"/>
                </a:lnTo>
                <a:lnTo>
                  <a:pt x="753466" y="498348"/>
                </a:lnTo>
                <a:lnTo>
                  <a:pt x="761695" y="515722"/>
                </a:lnTo>
                <a:lnTo>
                  <a:pt x="521208" y="515722"/>
                </a:lnTo>
                <a:lnTo>
                  <a:pt x="521208" y="515722"/>
                </a:lnTo>
                <a:lnTo>
                  <a:pt x="508406" y="486461"/>
                </a:lnTo>
                <a:lnTo>
                  <a:pt x="501091" y="438912"/>
                </a:lnTo>
                <a:lnTo>
                  <a:pt x="493776" y="444398"/>
                </a:lnTo>
                <a:lnTo>
                  <a:pt x="477317" y="449885"/>
                </a:lnTo>
                <a:lnTo>
                  <a:pt x="471830" y="462686"/>
                </a:lnTo>
                <a:lnTo>
                  <a:pt x="467258" y="498348"/>
                </a:lnTo>
                <a:lnTo>
                  <a:pt x="461772" y="510235"/>
                </a:lnTo>
                <a:lnTo>
                  <a:pt x="448970" y="509321"/>
                </a:lnTo>
                <a:lnTo>
                  <a:pt x="422453" y="496519"/>
                </a:lnTo>
                <a:lnTo>
                  <a:pt x="388620" y="484632"/>
                </a:lnTo>
                <a:lnTo>
                  <a:pt x="344729" y="408737"/>
                </a:lnTo>
                <a:lnTo>
                  <a:pt x="340157" y="394106"/>
                </a:lnTo>
                <a:lnTo>
                  <a:pt x="331927" y="377647"/>
                </a:lnTo>
                <a:lnTo>
                  <a:pt x="298094" y="370332"/>
                </a:lnTo>
                <a:lnTo>
                  <a:pt x="268834" y="357530"/>
                </a:lnTo>
                <a:lnTo>
                  <a:pt x="236830" y="355702"/>
                </a:lnTo>
                <a:lnTo>
                  <a:pt x="221285" y="362102"/>
                </a:lnTo>
                <a:lnTo>
                  <a:pt x="204826" y="352958"/>
                </a:lnTo>
                <a:lnTo>
                  <a:pt x="202082" y="332842"/>
                </a:lnTo>
                <a:lnTo>
                  <a:pt x="169164" y="341986"/>
                </a:lnTo>
                <a:lnTo>
                  <a:pt x="126187" y="338328"/>
                </a:lnTo>
                <a:lnTo>
                  <a:pt x="88697" y="330098"/>
                </a:lnTo>
                <a:lnTo>
                  <a:pt x="62179" y="334670"/>
                </a:lnTo>
                <a:lnTo>
                  <a:pt x="40234" y="349301"/>
                </a:lnTo>
                <a:lnTo>
                  <a:pt x="43891" y="386791"/>
                </a:lnTo>
                <a:lnTo>
                  <a:pt x="37490" y="394106"/>
                </a:lnTo>
                <a:lnTo>
                  <a:pt x="36576" y="379476"/>
                </a:lnTo>
                <a:lnTo>
                  <a:pt x="28346" y="361188"/>
                </a:lnTo>
                <a:lnTo>
                  <a:pt x="19202" y="346558"/>
                </a:lnTo>
                <a:lnTo>
                  <a:pt x="914" y="331013"/>
                </a:lnTo>
                <a:lnTo>
                  <a:pt x="0" y="325526"/>
                </a:lnTo>
                <a:lnTo>
                  <a:pt x="7315" y="317297"/>
                </a:lnTo>
                <a:lnTo>
                  <a:pt x="42062" y="295351"/>
                </a:lnTo>
                <a:lnTo>
                  <a:pt x="45720" y="286207"/>
                </a:lnTo>
                <a:lnTo>
                  <a:pt x="46634" y="267005"/>
                </a:lnTo>
                <a:lnTo>
                  <a:pt x="42977" y="248717"/>
                </a:lnTo>
                <a:lnTo>
                  <a:pt x="27432" y="222199"/>
                </a:lnTo>
                <a:lnTo>
                  <a:pt x="36576" y="204826"/>
                </a:lnTo>
                <a:lnTo>
                  <a:pt x="53950" y="191110"/>
                </a:lnTo>
                <a:lnTo>
                  <a:pt x="72238" y="180137"/>
                </a:lnTo>
                <a:lnTo>
                  <a:pt x="76810" y="175565"/>
                </a:lnTo>
                <a:lnTo>
                  <a:pt x="72238" y="167335"/>
                </a:lnTo>
                <a:lnTo>
                  <a:pt x="61265" y="157277"/>
                </a:lnTo>
                <a:lnTo>
                  <a:pt x="36576" y="139903"/>
                </a:lnTo>
                <a:lnTo>
                  <a:pt x="21946" y="138989"/>
                </a:lnTo>
                <a:lnTo>
                  <a:pt x="21031" y="90526"/>
                </a:lnTo>
                <a:lnTo>
                  <a:pt x="21946" y="38405"/>
                </a:lnTo>
                <a:lnTo>
                  <a:pt x="25603" y="32918"/>
                </a:lnTo>
                <a:lnTo>
                  <a:pt x="34747" y="30175"/>
                </a:lnTo>
                <a:lnTo>
                  <a:pt x="42062" y="21946"/>
                </a:lnTo>
                <a:lnTo>
                  <a:pt x="46634" y="6401"/>
                </a:lnTo>
                <a:lnTo>
                  <a:pt x="56693" y="914"/>
                </a:lnTo>
                <a:lnTo>
                  <a:pt x="77724" y="12802"/>
                </a:lnTo>
                <a:lnTo>
                  <a:pt x="97841" y="23774"/>
                </a:lnTo>
                <a:lnTo>
                  <a:pt x="106070" y="20117"/>
                </a:lnTo>
                <a:lnTo>
                  <a:pt x="112471" y="15545"/>
                </a:lnTo>
                <a:lnTo>
                  <a:pt x="117043" y="10058"/>
                </a:lnTo>
                <a:lnTo>
                  <a:pt x="117958" y="5486"/>
                </a:lnTo>
                <a:lnTo>
                  <a:pt x="134417" y="19202"/>
                </a:lnTo>
                <a:lnTo>
                  <a:pt x="167335" y="43891"/>
                </a:lnTo>
                <a:lnTo>
                  <a:pt x="169164" y="55778"/>
                </a:lnTo>
                <a:lnTo>
                  <a:pt x="166421" y="67666"/>
                </a:lnTo>
                <a:lnTo>
                  <a:pt x="175565" y="100584"/>
                </a:lnTo>
                <a:lnTo>
                  <a:pt x="192024" y="105156"/>
                </a:lnTo>
                <a:lnTo>
                  <a:pt x="209398" y="98755"/>
                </a:lnTo>
                <a:lnTo>
                  <a:pt x="213970" y="105156"/>
                </a:lnTo>
                <a:lnTo>
                  <a:pt x="210312" y="110642"/>
                </a:lnTo>
                <a:lnTo>
                  <a:pt x="202082" y="117958"/>
                </a:lnTo>
                <a:lnTo>
                  <a:pt x="199339" y="146304"/>
                </a:lnTo>
                <a:lnTo>
                  <a:pt x="227686" y="160020"/>
                </a:lnTo>
                <a:lnTo>
                  <a:pt x="241402" y="171907"/>
                </a:lnTo>
                <a:lnTo>
                  <a:pt x="288950" y="165506"/>
                </a:lnTo>
                <a:lnTo>
                  <a:pt x="306324" y="169164"/>
                </a:lnTo>
                <a:lnTo>
                  <a:pt x="318211" y="165506"/>
                </a:lnTo>
                <a:lnTo>
                  <a:pt x="305410" y="142646"/>
                </a:lnTo>
                <a:lnTo>
                  <a:pt x="288036" y="126187"/>
                </a:lnTo>
                <a:lnTo>
                  <a:pt x="288950" y="117958"/>
                </a:lnTo>
                <a:lnTo>
                  <a:pt x="302666" y="124358"/>
                </a:lnTo>
                <a:lnTo>
                  <a:pt x="312725" y="135331"/>
                </a:lnTo>
                <a:lnTo>
                  <a:pt x="335585" y="149962"/>
                </a:lnTo>
                <a:lnTo>
                  <a:pt x="377647" y="199339"/>
                </a:lnTo>
                <a:lnTo>
                  <a:pt x="427025" y="211226"/>
                </a:lnTo>
                <a:lnTo>
                  <a:pt x="465430" y="209398"/>
                </a:lnTo>
                <a:lnTo>
                  <a:pt x="501091" y="202997"/>
                </a:lnTo>
                <a:lnTo>
                  <a:pt x="558698" y="183794"/>
                </a:lnTo>
                <a:lnTo>
                  <a:pt x="599846" y="149047"/>
                </a:lnTo>
                <a:lnTo>
                  <a:pt x="633679" y="133502"/>
                </a:lnTo>
                <a:lnTo>
                  <a:pt x="739750" y="100584"/>
                </a:lnTo>
                <a:lnTo>
                  <a:pt x="779069" y="65837"/>
                </a:lnTo>
                <a:lnTo>
                  <a:pt x="794614" y="61265"/>
                </a:lnTo>
                <a:lnTo>
                  <a:pt x="810158" y="56693"/>
                </a:lnTo>
                <a:lnTo>
                  <a:pt x="843077" y="30175"/>
                </a:lnTo>
                <a:lnTo>
                  <a:pt x="861365" y="10058"/>
                </a:lnTo>
                <a:lnTo>
                  <a:pt x="880567" y="0"/>
                </a:lnTo>
                <a:lnTo>
                  <a:pt x="937260" y="7315"/>
                </a:lnTo>
                <a:lnTo>
                  <a:pt x="973836" y="17374"/>
                </a:lnTo>
                <a:lnTo>
                  <a:pt x="999439" y="15545"/>
                </a:lnTo>
                <a:lnTo>
                  <a:pt x="1024128" y="22860"/>
                </a:lnTo>
                <a:lnTo>
                  <a:pt x="1034186" y="37490"/>
                </a:lnTo>
                <a:lnTo>
                  <a:pt x="1045159" y="43891"/>
                </a:lnTo>
                <a:lnTo>
                  <a:pt x="1104595" y="42062"/>
                </a:lnTo>
                <a:lnTo>
                  <a:pt x="1154887" y="49378"/>
                </a:lnTo>
                <a:lnTo>
                  <a:pt x="1261872" y="93269"/>
                </a:lnTo>
                <a:lnTo>
                  <a:pt x="1326794" y="137160"/>
                </a:lnTo>
                <a:lnTo>
                  <a:pt x="1360627" y="182880"/>
                </a:lnTo>
                <a:lnTo>
                  <a:pt x="1442923" y="243230"/>
                </a:lnTo>
                <a:lnTo>
                  <a:pt x="1442923" y="243230"/>
                </a:lnTo>
                <a:lnTo>
                  <a:pt x="1438351" y="245974"/>
                </a:lnTo>
                <a:lnTo>
                  <a:pt x="1423721" y="267005"/>
                </a:lnTo>
                <a:lnTo>
                  <a:pt x="1416406" y="284378"/>
                </a:lnTo>
                <a:lnTo>
                  <a:pt x="1434694" y="302666"/>
                </a:lnTo>
                <a:lnTo>
                  <a:pt x="1440180" y="321869"/>
                </a:lnTo>
                <a:lnTo>
                  <a:pt x="1450238" y="342900"/>
                </a:lnTo>
                <a:lnTo>
                  <a:pt x="1465783" y="363931"/>
                </a:lnTo>
                <a:lnTo>
                  <a:pt x="1484986" y="404165"/>
                </a:lnTo>
                <a:lnTo>
                  <a:pt x="1488643" y="419710"/>
                </a:lnTo>
                <a:lnTo>
                  <a:pt x="1484071" y="429768"/>
                </a:lnTo>
                <a:lnTo>
                  <a:pt x="1465783" y="436169"/>
                </a:lnTo>
                <a:lnTo>
                  <a:pt x="1450238" y="454457"/>
                </a:lnTo>
                <a:lnTo>
                  <a:pt x="1445666" y="477317"/>
                </a:lnTo>
                <a:lnTo>
                  <a:pt x="1448410" y="488290"/>
                </a:lnTo>
                <a:lnTo>
                  <a:pt x="1412748" y="515722"/>
                </a:lnTo>
                <a:lnTo>
                  <a:pt x="1375258" y="515722"/>
                </a:lnTo>
                <a:close/>
                <a:moveTo>
                  <a:pt x="1054303" y="341986"/>
                </a:moveTo>
                <a:lnTo>
                  <a:pt x="1048817" y="352958"/>
                </a:lnTo>
                <a:lnTo>
                  <a:pt x="1036930" y="328270"/>
                </a:lnTo>
                <a:lnTo>
                  <a:pt x="1038758" y="321869"/>
                </a:lnTo>
                <a:lnTo>
                  <a:pt x="1037844" y="299923"/>
                </a:lnTo>
                <a:lnTo>
                  <a:pt x="1049731" y="294437"/>
                </a:lnTo>
                <a:lnTo>
                  <a:pt x="1057961" y="293522"/>
                </a:lnTo>
                <a:lnTo>
                  <a:pt x="1064362" y="297180"/>
                </a:lnTo>
                <a:lnTo>
                  <a:pt x="1068934" y="322783"/>
                </a:lnTo>
                <a:lnTo>
                  <a:pt x="1065276" y="334670"/>
                </a:lnTo>
                <a:close/>
                <a:moveTo>
                  <a:pt x="313639" y="515722"/>
                </a:moveTo>
                <a:lnTo>
                  <a:pt x="325526" y="510235"/>
                </a:lnTo>
                <a:lnTo>
                  <a:pt x="331013" y="510235"/>
                </a:lnTo>
                <a:lnTo>
                  <a:pt x="333756" y="515722"/>
                </a:lnTo>
                <a:lnTo>
                  <a:pt x="313639" y="515722"/>
                </a:lnTo>
                <a:close/>
                <a:moveTo>
                  <a:pt x="202082" y="55778"/>
                </a:moveTo>
                <a:lnTo>
                  <a:pt x="199339" y="68580"/>
                </a:lnTo>
                <a:lnTo>
                  <a:pt x="180137" y="46634"/>
                </a:lnTo>
                <a:lnTo>
                  <a:pt x="191110" y="42977"/>
                </a:lnTo>
                <a:lnTo>
                  <a:pt x="195682" y="42977"/>
                </a:lnTo>
                <a:close/>
                <a:moveTo>
                  <a:pt x="1011326" y="347472"/>
                </a:moveTo>
                <a:lnTo>
                  <a:pt x="1000354" y="358445"/>
                </a:lnTo>
                <a:lnTo>
                  <a:pt x="995782" y="347472"/>
                </a:lnTo>
                <a:lnTo>
                  <a:pt x="1004011" y="336499"/>
                </a:lnTo>
                <a:lnTo>
                  <a:pt x="1006754" y="336499"/>
                </a:lnTo>
                <a:close/>
              </a:path>
            </a:pathLst>
          </a:custGeom>
          <a:solidFill>
            <a:srgbClr val="2C7396"/>
          </a:solidFill>
          <a:ln w="7620">
            <a:solidFill>
              <a:srgbClr val="4C93B3"/>
            </a:solidFill>
            <a:prstDash val="solid"/>
          </a:ln>
        </p:spPr>
      </p:sp>
      <p:sp>
        <p:nvSpPr>
          <p:cNvPr id="18" name="Map – Nicaragua"/>
          <p:cNvSpPr/>
          <p:nvPr/>
        </p:nvSpPr>
        <p:spPr>
          <a:xfrm>
            <a:off x="4940503" y="4927702"/>
            <a:ext cx="521208" cy="1119226"/>
          </a:xfrm>
          <a:custGeom>
            <a:avLst/>
            <a:gdLst/>
            <a:ahLst/>
            <a:cxnLst/>
            <a:rect l="l" t="t" r="r" b="b"/>
            <a:pathLst>
              <a:path w="521208" h="1119226">
                <a:moveTo>
                  <a:pt x="0" y="181051"/>
                </a:moveTo>
                <a:lnTo>
                  <a:pt x="5486" y="175565"/>
                </a:lnTo>
                <a:lnTo>
                  <a:pt x="914" y="164592"/>
                </a:lnTo>
                <a:lnTo>
                  <a:pt x="1829" y="148133"/>
                </a:lnTo>
                <a:lnTo>
                  <a:pt x="10058" y="127102"/>
                </a:lnTo>
                <a:lnTo>
                  <a:pt x="21031" y="115214"/>
                </a:lnTo>
                <a:lnTo>
                  <a:pt x="35662" y="112471"/>
                </a:lnTo>
                <a:lnTo>
                  <a:pt x="41148" y="106070"/>
                </a:lnTo>
                <a:lnTo>
                  <a:pt x="38405" y="96012"/>
                </a:lnTo>
                <a:lnTo>
                  <a:pt x="41148" y="85039"/>
                </a:lnTo>
                <a:lnTo>
                  <a:pt x="54864" y="67666"/>
                </a:lnTo>
                <a:lnTo>
                  <a:pt x="85954" y="52121"/>
                </a:lnTo>
                <a:lnTo>
                  <a:pt x="105156" y="57607"/>
                </a:lnTo>
                <a:lnTo>
                  <a:pt x="120701" y="77724"/>
                </a:lnTo>
                <a:lnTo>
                  <a:pt x="141732" y="91440"/>
                </a:lnTo>
                <a:lnTo>
                  <a:pt x="169164" y="98755"/>
                </a:lnTo>
                <a:lnTo>
                  <a:pt x="190195" y="96012"/>
                </a:lnTo>
                <a:lnTo>
                  <a:pt x="205740" y="83210"/>
                </a:lnTo>
                <a:lnTo>
                  <a:pt x="219456" y="79553"/>
                </a:lnTo>
                <a:lnTo>
                  <a:pt x="231343" y="85039"/>
                </a:lnTo>
                <a:lnTo>
                  <a:pt x="237744" y="82296"/>
                </a:lnTo>
                <a:lnTo>
                  <a:pt x="238658" y="71323"/>
                </a:lnTo>
                <a:lnTo>
                  <a:pt x="245059" y="68580"/>
                </a:lnTo>
                <a:lnTo>
                  <a:pt x="256946" y="74981"/>
                </a:lnTo>
                <a:lnTo>
                  <a:pt x="267919" y="75895"/>
                </a:lnTo>
                <a:lnTo>
                  <a:pt x="277978" y="73152"/>
                </a:lnTo>
                <a:lnTo>
                  <a:pt x="281635" y="67666"/>
                </a:lnTo>
                <a:lnTo>
                  <a:pt x="283464" y="63094"/>
                </a:lnTo>
                <a:lnTo>
                  <a:pt x="289865" y="58522"/>
                </a:lnTo>
                <a:lnTo>
                  <a:pt x="313639" y="63094"/>
                </a:lnTo>
                <a:lnTo>
                  <a:pt x="340157" y="56693"/>
                </a:lnTo>
                <a:lnTo>
                  <a:pt x="370332" y="40234"/>
                </a:lnTo>
                <a:lnTo>
                  <a:pt x="389534" y="32918"/>
                </a:lnTo>
                <a:lnTo>
                  <a:pt x="399593" y="34747"/>
                </a:lnTo>
                <a:lnTo>
                  <a:pt x="410566" y="26518"/>
                </a:lnTo>
                <a:lnTo>
                  <a:pt x="424282" y="8230"/>
                </a:lnTo>
                <a:lnTo>
                  <a:pt x="456286" y="0"/>
                </a:lnTo>
                <a:lnTo>
                  <a:pt x="521208" y="3658"/>
                </a:lnTo>
                <a:lnTo>
                  <a:pt x="521208" y="3658"/>
                </a:lnTo>
                <a:lnTo>
                  <a:pt x="514807" y="13716"/>
                </a:lnTo>
                <a:lnTo>
                  <a:pt x="506578" y="20117"/>
                </a:lnTo>
                <a:lnTo>
                  <a:pt x="490118" y="52121"/>
                </a:lnTo>
                <a:lnTo>
                  <a:pt x="484632" y="54864"/>
                </a:lnTo>
                <a:lnTo>
                  <a:pt x="483718" y="31090"/>
                </a:lnTo>
                <a:lnTo>
                  <a:pt x="474574" y="27432"/>
                </a:lnTo>
                <a:lnTo>
                  <a:pt x="462686" y="36576"/>
                </a:lnTo>
                <a:lnTo>
                  <a:pt x="456286" y="48463"/>
                </a:lnTo>
                <a:lnTo>
                  <a:pt x="466344" y="64008"/>
                </a:lnTo>
                <a:lnTo>
                  <a:pt x="475488" y="64008"/>
                </a:lnTo>
                <a:lnTo>
                  <a:pt x="485546" y="68580"/>
                </a:lnTo>
                <a:lnTo>
                  <a:pt x="513893" y="176479"/>
                </a:lnTo>
                <a:lnTo>
                  <a:pt x="507492" y="195682"/>
                </a:lnTo>
                <a:lnTo>
                  <a:pt x="490118" y="224942"/>
                </a:lnTo>
                <a:lnTo>
                  <a:pt x="473659" y="250546"/>
                </a:lnTo>
                <a:lnTo>
                  <a:pt x="457200" y="267005"/>
                </a:lnTo>
                <a:lnTo>
                  <a:pt x="435254" y="334670"/>
                </a:lnTo>
                <a:lnTo>
                  <a:pt x="416966" y="444398"/>
                </a:lnTo>
                <a:lnTo>
                  <a:pt x="429768" y="543154"/>
                </a:lnTo>
                <a:lnTo>
                  <a:pt x="423367" y="633679"/>
                </a:lnTo>
                <a:lnTo>
                  <a:pt x="428854" y="655625"/>
                </a:lnTo>
                <a:lnTo>
                  <a:pt x="430682" y="682142"/>
                </a:lnTo>
                <a:lnTo>
                  <a:pt x="416966" y="686714"/>
                </a:lnTo>
                <a:lnTo>
                  <a:pt x="409651" y="686714"/>
                </a:lnTo>
                <a:lnTo>
                  <a:pt x="401422" y="669341"/>
                </a:lnTo>
                <a:lnTo>
                  <a:pt x="402336" y="655625"/>
                </a:lnTo>
                <a:lnTo>
                  <a:pt x="410566" y="638251"/>
                </a:lnTo>
                <a:lnTo>
                  <a:pt x="414223" y="615391"/>
                </a:lnTo>
                <a:lnTo>
                  <a:pt x="409651" y="603504"/>
                </a:lnTo>
                <a:lnTo>
                  <a:pt x="401422" y="630022"/>
                </a:lnTo>
                <a:lnTo>
                  <a:pt x="387706" y="641909"/>
                </a:lnTo>
                <a:lnTo>
                  <a:pt x="378562" y="645566"/>
                </a:lnTo>
                <a:lnTo>
                  <a:pt x="369418" y="659282"/>
                </a:lnTo>
                <a:lnTo>
                  <a:pt x="378562" y="683971"/>
                </a:lnTo>
                <a:lnTo>
                  <a:pt x="391363" y="702259"/>
                </a:lnTo>
                <a:lnTo>
                  <a:pt x="395021" y="715061"/>
                </a:lnTo>
                <a:lnTo>
                  <a:pt x="390449" y="730606"/>
                </a:lnTo>
                <a:lnTo>
                  <a:pt x="387706" y="783641"/>
                </a:lnTo>
                <a:lnTo>
                  <a:pt x="383134" y="781812"/>
                </a:lnTo>
                <a:lnTo>
                  <a:pt x="378562" y="775411"/>
                </a:lnTo>
                <a:lnTo>
                  <a:pt x="365760" y="774497"/>
                </a:lnTo>
                <a:lnTo>
                  <a:pt x="363931" y="795528"/>
                </a:lnTo>
                <a:lnTo>
                  <a:pt x="364846" y="807415"/>
                </a:lnTo>
                <a:lnTo>
                  <a:pt x="353873" y="817474"/>
                </a:lnTo>
                <a:lnTo>
                  <a:pt x="350215" y="826618"/>
                </a:lnTo>
                <a:lnTo>
                  <a:pt x="359359" y="832104"/>
                </a:lnTo>
                <a:lnTo>
                  <a:pt x="369418" y="836676"/>
                </a:lnTo>
                <a:lnTo>
                  <a:pt x="381305" y="835762"/>
                </a:lnTo>
                <a:lnTo>
                  <a:pt x="392278" y="862279"/>
                </a:lnTo>
                <a:lnTo>
                  <a:pt x="395021" y="883310"/>
                </a:lnTo>
                <a:lnTo>
                  <a:pt x="371246" y="903427"/>
                </a:lnTo>
                <a:lnTo>
                  <a:pt x="363017" y="919886"/>
                </a:lnTo>
                <a:lnTo>
                  <a:pt x="350215" y="939089"/>
                </a:lnTo>
                <a:lnTo>
                  <a:pt x="342900" y="958291"/>
                </a:lnTo>
                <a:lnTo>
                  <a:pt x="340157" y="972007"/>
                </a:lnTo>
                <a:lnTo>
                  <a:pt x="349301" y="1016813"/>
                </a:lnTo>
                <a:lnTo>
                  <a:pt x="365760" y="1047902"/>
                </a:lnTo>
                <a:lnTo>
                  <a:pt x="379476" y="1068019"/>
                </a:lnTo>
                <a:lnTo>
                  <a:pt x="397764" y="1072591"/>
                </a:lnTo>
                <a:lnTo>
                  <a:pt x="393192" y="1092708"/>
                </a:lnTo>
                <a:lnTo>
                  <a:pt x="379476" y="1106424"/>
                </a:lnTo>
                <a:lnTo>
                  <a:pt x="354787" y="1117397"/>
                </a:lnTo>
                <a:lnTo>
                  <a:pt x="327355" y="1119226"/>
                </a:lnTo>
                <a:lnTo>
                  <a:pt x="282550" y="1109167"/>
                </a:lnTo>
                <a:lnTo>
                  <a:pt x="263347" y="1107338"/>
                </a:lnTo>
                <a:lnTo>
                  <a:pt x="256032" y="1101852"/>
                </a:lnTo>
                <a:lnTo>
                  <a:pt x="253289" y="1091794"/>
                </a:lnTo>
                <a:lnTo>
                  <a:pt x="240487" y="1076249"/>
                </a:lnTo>
                <a:lnTo>
                  <a:pt x="217627" y="1056132"/>
                </a:lnTo>
                <a:lnTo>
                  <a:pt x="203911" y="1057046"/>
                </a:lnTo>
                <a:lnTo>
                  <a:pt x="181966" y="1052474"/>
                </a:lnTo>
                <a:lnTo>
                  <a:pt x="144475" y="1038758"/>
                </a:lnTo>
                <a:lnTo>
                  <a:pt x="128016" y="1036930"/>
                </a:lnTo>
                <a:lnTo>
                  <a:pt x="103327" y="1048817"/>
                </a:lnTo>
                <a:lnTo>
                  <a:pt x="74066" y="1064362"/>
                </a:lnTo>
                <a:lnTo>
                  <a:pt x="5486" y="1039673"/>
                </a:lnTo>
                <a:lnTo>
                  <a:pt x="0" y="1037844"/>
                </a:lnTo>
                <a:lnTo>
                  <a:pt x="0" y="181051"/>
                </a:lnTo>
                <a:close/>
              </a:path>
            </a:pathLst>
          </a:custGeom>
          <a:solidFill>
            <a:srgbClr val="2C7396"/>
          </a:solidFill>
          <a:ln w="7620">
            <a:solidFill>
              <a:srgbClr val="4C93B3"/>
            </a:solidFill>
            <a:prstDash val="solid"/>
          </a:ln>
        </p:spPr>
      </p:sp>
      <p:sp>
        <p:nvSpPr>
          <p:cNvPr id="19" name="Map – Honduras"/>
          <p:cNvSpPr/>
          <p:nvPr/>
        </p:nvSpPr>
        <p:spPr>
          <a:xfrm>
            <a:off x="4940503" y="4668012"/>
            <a:ext cx="521208" cy="440741"/>
          </a:xfrm>
          <a:custGeom>
            <a:avLst/>
            <a:gdLst/>
            <a:ahLst/>
            <a:cxnLst/>
            <a:rect l="l" t="t" r="r" b="b"/>
            <a:pathLst>
              <a:path w="521208" h="440741">
                <a:moveTo>
                  <a:pt x="0" y="19202"/>
                </a:moveTo>
                <a:lnTo>
                  <a:pt x="9144" y="18288"/>
                </a:lnTo>
                <a:lnTo>
                  <a:pt x="38405" y="3658"/>
                </a:lnTo>
                <a:lnTo>
                  <a:pt x="57607" y="0"/>
                </a:lnTo>
                <a:lnTo>
                  <a:pt x="141732" y="27432"/>
                </a:lnTo>
                <a:lnTo>
                  <a:pt x="163678" y="49378"/>
                </a:lnTo>
                <a:lnTo>
                  <a:pt x="181051" y="51206"/>
                </a:lnTo>
                <a:lnTo>
                  <a:pt x="193853" y="46634"/>
                </a:lnTo>
                <a:lnTo>
                  <a:pt x="197510" y="42062"/>
                </a:lnTo>
                <a:lnTo>
                  <a:pt x="181051" y="37490"/>
                </a:lnTo>
                <a:lnTo>
                  <a:pt x="173736" y="30175"/>
                </a:lnTo>
                <a:lnTo>
                  <a:pt x="239573" y="43891"/>
                </a:lnTo>
                <a:lnTo>
                  <a:pt x="363931" y="146304"/>
                </a:lnTo>
                <a:lnTo>
                  <a:pt x="366674" y="154534"/>
                </a:lnTo>
                <a:lnTo>
                  <a:pt x="313639" y="124358"/>
                </a:lnTo>
                <a:lnTo>
                  <a:pt x="285293" y="127102"/>
                </a:lnTo>
                <a:lnTo>
                  <a:pt x="277978" y="131674"/>
                </a:lnTo>
                <a:lnTo>
                  <a:pt x="279806" y="148133"/>
                </a:lnTo>
                <a:lnTo>
                  <a:pt x="282550" y="155448"/>
                </a:lnTo>
                <a:lnTo>
                  <a:pt x="294437" y="156362"/>
                </a:lnTo>
                <a:lnTo>
                  <a:pt x="303581" y="151790"/>
                </a:lnTo>
                <a:lnTo>
                  <a:pt x="325526" y="157277"/>
                </a:lnTo>
                <a:lnTo>
                  <a:pt x="339242" y="168250"/>
                </a:lnTo>
                <a:lnTo>
                  <a:pt x="356616" y="185623"/>
                </a:lnTo>
                <a:lnTo>
                  <a:pt x="367589" y="203911"/>
                </a:lnTo>
                <a:lnTo>
                  <a:pt x="378562" y="203911"/>
                </a:lnTo>
                <a:lnTo>
                  <a:pt x="389534" y="192938"/>
                </a:lnTo>
                <a:lnTo>
                  <a:pt x="410566" y="192024"/>
                </a:lnTo>
                <a:lnTo>
                  <a:pt x="424282" y="203911"/>
                </a:lnTo>
                <a:lnTo>
                  <a:pt x="434340" y="202997"/>
                </a:lnTo>
                <a:lnTo>
                  <a:pt x="420624" y="183794"/>
                </a:lnTo>
                <a:lnTo>
                  <a:pt x="388620" y="164592"/>
                </a:lnTo>
                <a:lnTo>
                  <a:pt x="396850" y="164592"/>
                </a:lnTo>
                <a:lnTo>
                  <a:pt x="468173" y="198425"/>
                </a:lnTo>
                <a:lnTo>
                  <a:pt x="487375" y="240487"/>
                </a:lnTo>
                <a:lnTo>
                  <a:pt x="504749" y="250546"/>
                </a:lnTo>
                <a:lnTo>
                  <a:pt x="521208" y="263347"/>
                </a:lnTo>
                <a:lnTo>
                  <a:pt x="521208" y="263347"/>
                </a:lnTo>
                <a:lnTo>
                  <a:pt x="456286" y="259690"/>
                </a:lnTo>
                <a:lnTo>
                  <a:pt x="424282" y="267919"/>
                </a:lnTo>
                <a:lnTo>
                  <a:pt x="410566" y="286207"/>
                </a:lnTo>
                <a:lnTo>
                  <a:pt x="399593" y="294437"/>
                </a:lnTo>
                <a:lnTo>
                  <a:pt x="389534" y="292608"/>
                </a:lnTo>
                <a:lnTo>
                  <a:pt x="370332" y="299923"/>
                </a:lnTo>
                <a:lnTo>
                  <a:pt x="340157" y="316382"/>
                </a:lnTo>
                <a:lnTo>
                  <a:pt x="313639" y="322783"/>
                </a:lnTo>
                <a:lnTo>
                  <a:pt x="289865" y="318211"/>
                </a:lnTo>
                <a:lnTo>
                  <a:pt x="283464" y="322783"/>
                </a:lnTo>
                <a:lnTo>
                  <a:pt x="281635" y="327355"/>
                </a:lnTo>
                <a:lnTo>
                  <a:pt x="277978" y="332842"/>
                </a:lnTo>
                <a:lnTo>
                  <a:pt x="267919" y="335585"/>
                </a:lnTo>
                <a:lnTo>
                  <a:pt x="256946" y="334670"/>
                </a:lnTo>
                <a:lnTo>
                  <a:pt x="245059" y="328270"/>
                </a:lnTo>
                <a:lnTo>
                  <a:pt x="238658" y="331013"/>
                </a:lnTo>
                <a:lnTo>
                  <a:pt x="237744" y="341986"/>
                </a:lnTo>
                <a:lnTo>
                  <a:pt x="231343" y="344729"/>
                </a:lnTo>
                <a:lnTo>
                  <a:pt x="219456" y="339242"/>
                </a:lnTo>
                <a:lnTo>
                  <a:pt x="205740" y="342900"/>
                </a:lnTo>
                <a:lnTo>
                  <a:pt x="190195" y="355702"/>
                </a:lnTo>
                <a:lnTo>
                  <a:pt x="169164" y="358445"/>
                </a:lnTo>
                <a:lnTo>
                  <a:pt x="141732" y="351130"/>
                </a:lnTo>
                <a:lnTo>
                  <a:pt x="120701" y="337414"/>
                </a:lnTo>
                <a:lnTo>
                  <a:pt x="105156" y="317297"/>
                </a:lnTo>
                <a:lnTo>
                  <a:pt x="85954" y="311810"/>
                </a:lnTo>
                <a:lnTo>
                  <a:pt x="54864" y="327355"/>
                </a:lnTo>
                <a:lnTo>
                  <a:pt x="41148" y="344729"/>
                </a:lnTo>
                <a:lnTo>
                  <a:pt x="38405" y="355702"/>
                </a:lnTo>
                <a:lnTo>
                  <a:pt x="41148" y="365760"/>
                </a:lnTo>
                <a:lnTo>
                  <a:pt x="35662" y="372161"/>
                </a:lnTo>
                <a:lnTo>
                  <a:pt x="21031" y="374904"/>
                </a:lnTo>
                <a:lnTo>
                  <a:pt x="10058" y="386791"/>
                </a:lnTo>
                <a:lnTo>
                  <a:pt x="1829" y="407822"/>
                </a:lnTo>
                <a:lnTo>
                  <a:pt x="914" y="424282"/>
                </a:lnTo>
                <a:lnTo>
                  <a:pt x="5486" y="435254"/>
                </a:lnTo>
                <a:lnTo>
                  <a:pt x="0" y="440741"/>
                </a:lnTo>
                <a:lnTo>
                  <a:pt x="0" y="19202"/>
                </a:lnTo>
                <a:close/>
              </a:path>
            </a:pathLst>
          </a:custGeom>
          <a:solidFill>
            <a:srgbClr val="2C7396"/>
          </a:solidFill>
          <a:ln w="7620">
            <a:solidFill>
              <a:srgbClr val="4C93B3"/>
            </a:solidFill>
            <a:prstDash val="solid"/>
          </a:ln>
        </p:spPr>
      </p:sp>
      <p:sp>
        <p:nvSpPr>
          <p:cNvPr id="20" name="Map – Guyana"/>
          <p:cNvSpPr/>
          <p:nvPr/>
        </p:nvSpPr>
        <p:spPr>
          <a:xfrm>
            <a:off x="11209630" y="6612941"/>
            <a:ext cx="498348" cy="245059"/>
          </a:xfrm>
          <a:custGeom>
            <a:avLst/>
            <a:gdLst/>
            <a:ahLst/>
            <a:cxnLst/>
            <a:rect l="l" t="t" r="r" b="b"/>
            <a:pathLst>
              <a:path w="498348" h="245059">
                <a:moveTo>
                  <a:pt x="0" y="245059"/>
                </a:moveTo>
                <a:lnTo>
                  <a:pt x="10058" y="233172"/>
                </a:lnTo>
                <a:lnTo>
                  <a:pt x="22860" y="200254"/>
                </a:lnTo>
                <a:lnTo>
                  <a:pt x="33833" y="190195"/>
                </a:lnTo>
                <a:lnTo>
                  <a:pt x="67666" y="186538"/>
                </a:lnTo>
                <a:lnTo>
                  <a:pt x="76810" y="179222"/>
                </a:lnTo>
                <a:lnTo>
                  <a:pt x="94183" y="162763"/>
                </a:lnTo>
                <a:lnTo>
                  <a:pt x="119786" y="143561"/>
                </a:lnTo>
                <a:lnTo>
                  <a:pt x="156362" y="128016"/>
                </a:lnTo>
                <a:lnTo>
                  <a:pt x="167335" y="100584"/>
                </a:lnTo>
                <a:lnTo>
                  <a:pt x="174650" y="92354"/>
                </a:lnTo>
                <a:lnTo>
                  <a:pt x="203911" y="77724"/>
                </a:lnTo>
                <a:lnTo>
                  <a:pt x="209398" y="69494"/>
                </a:lnTo>
                <a:lnTo>
                  <a:pt x="208483" y="63094"/>
                </a:lnTo>
                <a:lnTo>
                  <a:pt x="160020" y="0"/>
                </a:lnTo>
                <a:lnTo>
                  <a:pt x="170078" y="4572"/>
                </a:lnTo>
                <a:lnTo>
                  <a:pt x="206654" y="45720"/>
                </a:lnTo>
                <a:lnTo>
                  <a:pt x="227686" y="54864"/>
                </a:lnTo>
                <a:lnTo>
                  <a:pt x="231343" y="54864"/>
                </a:lnTo>
                <a:lnTo>
                  <a:pt x="231343" y="43891"/>
                </a:lnTo>
                <a:lnTo>
                  <a:pt x="250546" y="48463"/>
                </a:lnTo>
                <a:lnTo>
                  <a:pt x="298094" y="76810"/>
                </a:lnTo>
                <a:lnTo>
                  <a:pt x="369418" y="122530"/>
                </a:lnTo>
                <a:lnTo>
                  <a:pt x="468173" y="210312"/>
                </a:lnTo>
                <a:lnTo>
                  <a:pt x="496519" y="243230"/>
                </a:lnTo>
                <a:lnTo>
                  <a:pt x="498348" y="245059"/>
                </a:lnTo>
                <a:lnTo>
                  <a:pt x="0" y="245059"/>
                </a:lnTo>
                <a:close/>
              </a:path>
            </a:pathLst>
          </a:custGeom>
          <a:solidFill>
            <a:srgbClr val="2C7396"/>
          </a:solidFill>
          <a:ln w="7620">
            <a:solidFill>
              <a:srgbClr val="4C93B3"/>
            </a:solidFill>
            <a:prstDash val="solid"/>
          </a:ln>
        </p:spPr>
      </p:sp>
      <p:sp>
        <p:nvSpPr>
          <p:cNvPr id="21" name="Map – Costa Rica"/>
          <p:cNvSpPr/>
          <p:nvPr/>
        </p:nvSpPr>
        <p:spPr>
          <a:xfrm>
            <a:off x="4940503" y="5964631"/>
            <a:ext cx="672998" cy="771754"/>
          </a:xfrm>
          <a:custGeom>
            <a:avLst/>
            <a:gdLst/>
            <a:ahLst/>
            <a:cxnLst/>
            <a:rect l="l" t="t" r="r" b="b"/>
            <a:pathLst>
              <a:path w="672998" h="771754">
                <a:moveTo>
                  <a:pt x="0" y="256946"/>
                </a:moveTo>
                <a:lnTo>
                  <a:pt x="10058" y="268834"/>
                </a:lnTo>
                <a:lnTo>
                  <a:pt x="60350" y="290779"/>
                </a:lnTo>
                <a:lnTo>
                  <a:pt x="74066" y="302666"/>
                </a:lnTo>
                <a:lnTo>
                  <a:pt x="79553" y="320040"/>
                </a:lnTo>
                <a:lnTo>
                  <a:pt x="50292" y="351130"/>
                </a:lnTo>
                <a:lnTo>
                  <a:pt x="35662" y="359359"/>
                </a:lnTo>
                <a:lnTo>
                  <a:pt x="31090" y="375818"/>
                </a:lnTo>
                <a:lnTo>
                  <a:pt x="21946" y="381305"/>
                </a:lnTo>
                <a:lnTo>
                  <a:pt x="11887" y="372161"/>
                </a:lnTo>
                <a:lnTo>
                  <a:pt x="0" y="357530"/>
                </a:lnTo>
                <a:lnTo>
                  <a:pt x="0" y="256946"/>
                </a:lnTo>
                <a:close/>
                <a:moveTo>
                  <a:pt x="0" y="914"/>
                </a:moveTo>
                <a:lnTo>
                  <a:pt x="5486" y="2743"/>
                </a:lnTo>
                <a:lnTo>
                  <a:pt x="74066" y="27432"/>
                </a:lnTo>
                <a:lnTo>
                  <a:pt x="103327" y="11887"/>
                </a:lnTo>
                <a:lnTo>
                  <a:pt x="128016" y="0"/>
                </a:lnTo>
                <a:lnTo>
                  <a:pt x="144475" y="1829"/>
                </a:lnTo>
                <a:lnTo>
                  <a:pt x="181966" y="15545"/>
                </a:lnTo>
                <a:lnTo>
                  <a:pt x="203911" y="20117"/>
                </a:lnTo>
                <a:lnTo>
                  <a:pt x="217627" y="19202"/>
                </a:lnTo>
                <a:lnTo>
                  <a:pt x="240487" y="39319"/>
                </a:lnTo>
                <a:lnTo>
                  <a:pt x="253289" y="54864"/>
                </a:lnTo>
                <a:lnTo>
                  <a:pt x="256032" y="64922"/>
                </a:lnTo>
                <a:lnTo>
                  <a:pt x="263347" y="70409"/>
                </a:lnTo>
                <a:lnTo>
                  <a:pt x="282550" y="72238"/>
                </a:lnTo>
                <a:lnTo>
                  <a:pt x="327355" y="82296"/>
                </a:lnTo>
                <a:lnTo>
                  <a:pt x="354787" y="80467"/>
                </a:lnTo>
                <a:lnTo>
                  <a:pt x="379476" y="69494"/>
                </a:lnTo>
                <a:lnTo>
                  <a:pt x="393192" y="55778"/>
                </a:lnTo>
                <a:lnTo>
                  <a:pt x="397764" y="35662"/>
                </a:lnTo>
                <a:lnTo>
                  <a:pt x="404165" y="45720"/>
                </a:lnTo>
                <a:lnTo>
                  <a:pt x="411480" y="62179"/>
                </a:lnTo>
                <a:lnTo>
                  <a:pt x="414223" y="82296"/>
                </a:lnTo>
                <a:lnTo>
                  <a:pt x="447142" y="152705"/>
                </a:lnTo>
                <a:lnTo>
                  <a:pt x="473659" y="191110"/>
                </a:lnTo>
                <a:lnTo>
                  <a:pt x="530352" y="262433"/>
                </a:lnTo>
                <a:lnTo>
                  <a:pt x="554126" y="275234"/>
                </a:lnTo>
                <a:lnTo>
                  <a:pt x="595274" y="332842"/>
                </a:lnTo>
                <a:lnTo>
                  <a:pt x="609905" y="341986"/>
                </a:lnTo>
                <a:lnTo>
                  <a:pt x="618134" y="358445"/>
                </a:lnTo>
                <a:lnTo>
                  <a:pt x="661111" y="373075"/>
                </a:lnTo>
                <a:lnTo>
                  <a:pt x="672998" y="383134"/>
                </a:lnTo>
                <a:lnTo>
                  <a:pt x="672998" y="383134"/>
                </a:lnTo>
                <a:lnTo>
                  <a:pt x="672084" y="387706"/>
                </a:lnTo>
                <a:lnTo>
                  <a:pt x="667512" y="393192"/>
                </a:lnTo>
                <a:lnTo>
                  <a:pt x="661111" y="397764"/>
                </a:lnTo>
                <a:lnTo>
                  <a:pt x="652882" y="401422"/>
                </a:lnTo>
                <a:lnTo>
                  <a:pt x="632765" y="390449"/>
                </a:lnTo>
                <a:lnTo>
                  <a:pt x="611734" y="378562"/>
                </a:lnTo>
                <a:lnTo>
                  <a:pt x="601675" y="384048"/>
                </a:lnTo>
                <a:lnTo>
                  <a:pt x="597103" y="399593"/>
                </a:lnTo>
                <a:lnTo>
                  <a:pt x="589788" y="407822"/>
                </a:lnTo>
                <a:lnTo>
                  <a:pt x="580644" y="410566"/>
                </a:lnTo>
                <a:lnTo>
                  <a:pt x="576986" y="416052"/>
                </a:lnTo>
                <a:lnTo>
                  <a:pt x="576072" y="468173"/>
                </a:lnTo>
                <a:lnTo>
                  <a:pt x="576986" y="516636"/>
                </a:lnTo>
                <a:lnTo>
                  <a:pt x="591617" y="517550"/>
                </a:lnTo>
                <a:lnTo>
                  <a:pt x="616306" y="534924"/>
                </a:lnTo>
                <a:lnTo>
                  <a:pt x="627278" y="544982"/>
                </a:lnTo>
                <a:lnTo>
                  <a:pt x="631850" y="553212"/>
                </a:lnTo>
                <a:lnTo>
                  <a:pt x="627278" y="557784"/>
                </a:lnTo>
                <a:lnTo>
                  <a:pt x="608990" y="568757"/>
                </a:lnTo>
                <a:lnTo>
                  <a:pt x="591617" y="582473"/>
                </a:lnTo>
                <a:lnTo>
                  <a:pt x="582473" y="599846"/>
                </a:lnTo>
                <a:lnTo>
                  <a:pt x="598018" y="626364"/>
                </a:lnTo>
                <a:lnTo>
                  <a:pt x="601675" y="644652"/>
                </a:lnTo>
                <a:lnTo>
                  <a:pt x="600761" y="663854"/>
                </a:lnTo>
                <a:lnTo>
                  <a:pt x="597103" y="672998"/>
                </a:lnTo>
                <a:lnTo>
                  <a:pt x="562356" y="694944"/>
                </a:lnTo>
                <a:lnTo>
                  <a:pt x="555041" y="703174"/>
                </a:lnTo>
                <a:lnTo>
                  <a:pt x="555955" y="708660"/>
                </a:lnTo>
                <a:lnTo>
                  <a:pt x="574243" y="724205"/>
                </a:lnTo>
                <a:lnTo>
                  <a:pt x="583387" y="738835"/>
                </a:lnTo>
                <a:lnTo>
                  <a:pt x="591617" y="757123"/>
                </a:lnTo>
                <a:lnTo>
                  <a:pt x="592531" y="771754"/>
                </a:lnTo>
                <a:lnTo>
                  <a:pt x="575158" y="743407"/>
                </a:lnTo>
                <a:lnTo>
                  <a:pt x="551383" y="715975"/>
                </a:lnTo>
                <a:lnTo>
                  <a:pt x="530352" y="699516"/>
                </a:lnTo>
                <a:lnTo>
                  <a:pt x="528523" y="660197"/>
                </a:lnTo>
                <a:lnTo>
                  <a:pt x="520294" y="638251"/>
                </a:lnTo>
                <a:lnTo>
                  <a:pt x="489204" y="619049"/>
                </a:lnTo>
                <a:lnTo>
                  <a:pt x="461772" y="605333"/>
                </a:lnTo>
                <a:lnTo>
                  <a:pt x="441655" y="608076"/>
                </a:lnTo>
                <a:lnTo>
                  <a:pt x="454457" y="630022"/>
                </a:lnTo>
                <a:lnTo>
                  <a:pt x="485546" y="659282"/>
                </a:lnTo>
                <a:lnTo>
                  <a:pt x="488290" y="670255"/>
                </a:lnTo>
                <a:lnTo>
                  <a:pt x="487375" y="685800"/>
                </a:lnTo>
                <a:lnTo>
                  <a:pt x="466344" y="683057"/>
                </a:lnTo>
                <a:lnTo>
                  <a:pt x="446227" y="676656"/>
                </a:lnTo>
                <a:lnTo>
                  <a:pt x="422453" y="674827"/>
                </a:lnTo>
                <a:lnTo>
                  <a:pt x="406908" y="666598"/>
                </a:lnTo>
                <a:lnTo>
                  <a:pt x="373990" y="631850"/>
                </a:lnTo>
                <a:lnTo>
                  <a:pt x="397764" y="601675"/>
                </a:lnTo>
                <a:lnTo>
                  <a:pt x="405079" y="582473"/>
                </a:lnTo>
                <a:lnTo>
                  <a:pt x="404165" y="542239"/>
                </a:lnTo>
                <a:lnTo>
                  <a:pt x="398678" y="523037"/>
                </a:lnTo>
                <a:lnTo>
                  <a:pt x="373075" y="492862"/>
                </a:lnTo>
                <a:lnTo>
                  <a:pt x="332842" y="460858"/>
                </a:lnTo>
                <a:lnTo>
                  <a:pt x="277063" y="433426"/>
                </a:lnTo>
                <a:lnTo>
                  <a:pt x="249631" y="412394"/>
                </a:lnTo>
                <a:lnTo>
                  <a:pt x="182880" y="395935"/>
                </a:lnTo>
                <a:lnTo>
                  <a:pt x="158191" y="384962"/>
                </a:lnTo>
                <a:lnTo>
                  <a:pt x="138074" y="364846"/>
                </a:lnTo>
                <a:lnTo>
                  <a:pt x="135331" y="350215"/>
                </a:lnTo>
                <a:lnTo>
                  <a:pt x="142646" y="327355"/>
                </a:lnTo>
                <a:lnTo>
                  <a:pt x="124358" y="299009"/>
                </a:lnTo>
                <a:lnTo>
                  <a:pt x="44806" y="243230"/>
                </a:lnTo>
                <a:lnTo>
                  <a:pt x="914" y="222199"/>
                </a:lnTo>
                <a:lnTo>
                  <a:pt x="0" y="221285"/>
                </a:lnTo>
                <a:lnTo>
                  <a:pt x="0" y="914"/>
                </a:lnTo>
                <a:close/>
              </a:path>
            </a:pathLst>
          </a:custGeom>
          <a:solidFill>
            <a:srgbClr val="2C7396"/>
          </a:solidFill>
          <a:ln w="7620">
            <a:solidFill>
              <a:srgbClr val="4C93B3"/>
            </a:solidFill>
            <a:prstDash val="solid"/>
          </a:ln>
        </p:spPr>
      </p:sp>
      <p:sp>
        <p:nvSpPr>
          <p:cNvPr id="22" name="Map – Colombia"/>
          <p:cNvSpPr/>
          <p:nvPr/>
        </p:nvSpPr>
        <p:spPr>
          <a:xfrm>
            <a:off x="6837883" y="5604358"/>
            <a:ext cx="1692554" cy="1253642"/>
          </a:xfrm>
          <a:custGeom>
            <a:avLst/>
            <a:gdLst/>
            <a:ahLst/>
            <a:cxnLst/>
            <a:rect l="l" t="t" r="r" b="b"/>
            <a:pathLst>
              <a:path w="1692554" h="1253642">
                <a:moveTo>
                  <a:pt x="2743" y="1253642"/>
                </a:moveTo>
                <a:lnTo>
                  <a:pt x="0" y="1236269"/>
                </a:lnTo>
                <a:lnTo>
                  <a:pt x="1829" y="1228039"/>
                </a:lnTo>
                <a:lnTo>
                  <a:pt x="5486" y="1224382"/>
                </a:lnTo>
                <a:lnTo>
                  <a:pt x="9144" y="1225296"/>
                </a:lnTo>
                <a:lnTo>
                  <a:pt x="16459" y="1229868"/>
                </a:lnTo>
                <a:lnTo>
                  <a:pt x="28346" y="1244498"/>
                </a:lnTo>
                <a:lnTo>
                  <a:pt x="32918" y="1253642"/>
                </a:lnTo>
                <a:lnTo>
                  <a:pt x="2743" y="1253642"/>
                </a:lnTo>
                <a:close/>
                <a:moveTo>
                  <a:pt x="70409" y="1253642"/>
                </a:moveTo>
                <a:lnTo>
                  <a:pt x="106070" y="1226210"/>
                </a:lnTo>
                <a:lnTo>
                  <a:pt x="103327" y="1215238"/>
                </a:lnTo>
                <a:lnTo>
                  <a:pt x="107899" y="1192378"/>
                </a:lnTo>
                <a:lnTo>
                  <a:pt x="123444" y="1174090"/>
                </a:lnTo>
                <a:lnTo>
                  <a:pt x="141732" y="1167689"/>
                </a:lnTo>
                <a:lnTo>
                  <a:pt x="146304" y="1157630"/>
                </a:lnTo>
                <a:lnTo>
                  <a:pt x="142646" y="1142086"/>
                </a:lnTo>
                <a:lnTo>
                  <a:pt x="123444" y="1101852"/>
                </a:lnTo>
                <a:lnTo>
                  <a:pt x="107899" y="1080821"/>
                </a:lnTo>
                <a:lnTo>
                  <a:pt x="97841" y="1059790"/>
                </a:lnTo>
                <a:lnTo>
                  <a:pt x="92354" y="1040587"/>
                </a:lnTo>
                <a:lnTo>
                  <a:pt x="74066" y="1022299"/>
                </a:lnTo>
                <a:lnTo>
                  <a:pt x="81382" y="1004926"/>
                </a:lnTo>
                <a:lnTo>
                  <a:pt x="96012" y="983894"/>
                </a:lnTo>
                <a:lnTo>
                  <a:pt x="100584" y="981151"/>
                </a:lnTo>
                <a:lnTo>
                  <a:pt x="107899" y="985723"/>
                </a:lnTo>
                <a:lnTo>
                  <a:pt x="128930" y="1023214"/>
                </a:lnTo>
                <a:lnTo>
                  <a:pt x="163678" y="1046988"/>
                </a:lnTo>
                <a:lnTo>
                  <a:pt x="198425" y="1086307"/>
                </a:lnTo>
                <a:lnTo>
                  <a:pt x="213055" y="1112825"/>
                </a:lnTo>
                <a:lnTo>
                  <a:pt x="224028" y="1117397"/>
                </a:lnTo>
                <a:lnTo>
                  <a:pt x="234086" y="1127455"/>
                </a:lnTo>
                <a:lnTo>
                  <a:pt x="229514" y="1134770"/>
                </a:lnTo>
                <a:lnTo>
                  <a:pt x="218542" y="1142086"/>
                </a:lnTo>
                <a:lnTo>
                  <a:pt x="215798" y="1157630"/>
                </a:lnTo>
                <a:lnTo>
                  <a:pt x="223114" y="1165860"/>
                </a:lnTo>
                <a:lnTo>
                  <a:pt x="230429" y="1171346"/>
                </a:lnTo>
                <a:lnTo>
                  <a:pt x="250546" y="1167689"/>
                </a:lnTo>
                <a:lnTo>
                  <a:pt x="261518" y="1150315"/>
                </a:lnTo>
                <a:lnTo>
                  <a:pt x="254203" y="1070762"/>
                </a:lnTo>
                <a:lnTo>
                  <a:pt x="242316" y="1030529"/>
                </a:lnTo>
                <a:lnTo>
                  <a:pt x="228600" y="1018642"/>
                </a:lnTo>
                <a:lnTo>
                  <a:pt x="216713" y="1003097"/>
                </a:lnTo>
                <a:lnTo>
                  <a:pt x="224942" y="990295"/>
                </a:lnTo>
                <a:lnTo>
                  <a:pt x="246888" y="984809"/>
                </a:lnTo>
                <a:lnTo>
                  <a:pt x="275234" y="971093"/>
                </a:lnTo>
                <a:lnTo>
                  <a:pt x="381305" y="895198"/>
                </a:lnTo>
                <a:lnTo>
                  <a:pt x="416966" y="823874"/>
                </a:lnTo>
                <a:lnTo>
                  <a:pt x="444398" y="797357"/>
                </a:lnTo>
                <a:lnTo>
                  <a:pt x="475488" y="780898"/>
                </a:lnTo>
                <a:lnTo>
                  <a:pt x="513893" y="785470"/>
                </a:lnTo>
                <a:lnTo>
                  <a:pt x="544068" y="776326"/>
                </a:lnTo>
                <a:lnTo>
                  <a:pt x="553212" y="753466"/>
                </a:lnTo>
                <a:lnTo>
                  <a:pt x="544982" y="722376"/>
                </a:lnTo>
                <a:lnTo>
                  <a:pt x="533095" y="704088"/>
                </a:lnTo>
                <a:lnTo>
                  <a:pt x="544068" y="676656"/>
                </a:lnTo>
                <a:lnTo>
                  <a:pt x="555955" y="635508"/>
                </a:lnTo>
                <a:lnTo>
                  <a:pt x="555041" y="600761"/>
                </a:lnTo>
                <a:lnTo>
                  <a:pt x="569671" y="580644"/>
                </a:lnTo>
                <a:lnTo>
                  <a:pt x="564185" y="572414"/>
                </a:lnTo>
                <a:lnTo>
                  <a:pt x="543154" y="588874"/>
                </a:lnTo>
                <a:lnTo>
                  <a:pt x="526694" y="596189"/>
                </a:lnTo>
                <a:lnTo>
                  <a:pt x="535838" y="582473"/>
                </a:lnTo>
                <a:lnTo>
                  <a:pt x="566014" y="548640"/>
                </a:lnTo>
                <a:lnTo>
                  <a:pt x="580644" y="496519"/>
                </a:lnTo>
                <a:lnTo>
                  <a:pt x="592531" y="474574"/>
                </a:lnTo>
                <a:lnTo>
                  <a:pt x="634594" y="444398"/>
                </a:lnTo>
                <a:lnTo>
                  <a:pt x="643738" y="430682"/>
                </a:lnTo>
                <a:lnTo>
                  <a:pt x="675742" y="407822"/>
                </a:lnTo>
                <a:lnTo>
                  <a:pt x="726948" y="359359"/>
                </a:lnTo>
                <a:lnTo>
                  <a:pt x="747065" y="345643"/>
                </a:lnTo>
                <a:lnTo>
                  <a:pt x="846734" y="376733"/>
                </a:lnTo>
                <a:lnTo>
                  <a:pt x="877824" y="374904"/>
                </a:lnTo>
                <a:lnTo>
                  <a:pt x="872338" y="380390"/>
                </a:lnTo>
                <a:lnTo>
                  <a:pt x="857707" y="382219"/>
                </a:lnTo>
                <a:lnTo>
                  <a:pt x="835762" y="391363"/>
                </a:lnTo>
                <a:lnTo>
                  <a:pt x="830275" y="409651"/>
                </a:lnTo>
                <a:lnTo>
                  <a:pt x="844906" y="429768"/>
                </a:lnTo>
                <a:lnTo>
                  <a:pt x="860450" y="434340"/>
                </a:lnTo>
                <a:lnTo>
                  <a:pt x="873252" y="422453"/>
                </a:lnTo>
                <a:lnTo>
                  <a:pt x="886054" y="385877"/>
                </a:lnTo>
                <a:lnTo>
                  <a:pt x="906170" y="346558"/>
                </a:lnTo>
                <a:lnTo>
                  <a:pt x="911657" y="304495"/>
                </a:lnTo>
                <a:lnTo>
                  <a:pt x="925373" y="289865"/>
                </a:lnTo>
                <a:lnTo>
                  <a:pt x="947318" y="285293"/>
                </a:lnTo>
                <a:lnTo>
                  <a:pt x="984809" y="293522"/>
                </a:lnTo>
                <a:lnTo>
                  <a:pt x="1014070" y="301752"/>
                </a:lnTo>
                <a:lnTo>
                  <a:pt x="1045159" y="303581"/>
                </a:lnTo>
                <a:lnTo>
                  <a:pt x="1137514" y="297180"/>
                </a:lnTo>
                <a:lnTo>
                  <a:pt x="1288390" y="188366"/>
                </a:lnTo>
                <a:lnTo>
                  <a:pt x="1358798" y="164592"/>
                </a:lnTo>
                <a:lnTo>
                  <a:pt x="1402690" y="142646"/>
                </a:lnTo>
                <a:lnTo>
                  <a:pt x="1431036" y="97841"/>
                </a:lnTo>
                <a:lnTo>
                  <a:pt x="1438351" y="64008"/>
                </a:lnTo>
                <a:lnTo>
                  <a:pt x="1458468" y="51206"/>
                </a:lnTo>
                <a:lnTo>
                  <a:pt x="1480414" y="51206"/>
                </a:lnTo>
                <a:lnTo>
                  <a:pt x="1490472" y="42977"/>
                </a:lnTo>
                <a:lnTo>
                  <a:pt x="1493215" y="32918"/>
                </a:lnTo>
                <a:lnTo>
                  <a:pt x="1545336" y="3658"/>
                </a:lnTo>
                <a:lnTo>
                  <a:pt x="1576426" y="0"/>
                </a:lnTo>
                <a:lnTo>
                  <a:pt x="1602029" y="0"/>
                </a:lnTo>
                <a:lnTo>
                  <a:pt x="1661465" y="25603"/>
                </a:lnTo>
                <a:lnTo>
                  <a:pt x="1687982" y="70409"/>
                </a:lnTo>
                <a:lnTo>
                  <a:pt x="1692554" y="101498"/>
                </a:lnTo>
                <a:lnTo>
                  <a:pt x="1655978" y="134417"/>
                </a:lnTo>
                <a:lnTo>
                  <a:pt x="1646834" y="149047"/>
                </a:lnTo>
                <a:lnTo>
                  <a:pt x="1646834" y="149047"/>
                </a:lnTo>
                <a:lnTo>
                  <a:pt x="1637690" y="152705"/>
                </a:lnTo>
                <a:lnTo>
                  <a:pt x="1625803" y="159106"/>
                </a:lnTo>
                <a:lnTo>
                  <a:pt x="1591970" y="171907"/>
                </a:lnTo>
                <a:lnTo>
                  <a:pt x="1544422" y="184709"/>
                </a:lnTo>
                <a:lnTo>
                  <a:pt x="1483157" y="200254"/>
                </a:lnTo>
                <a:lnTo>
                  <a:pt x="1469441" y="216713"/>
                </a:lnTo>
                <a:lnTo>
                  <a:pt x="1410005" y="322783"/>
                </a:lnTo>
                <a:lnTo>
                  <a:pt x="1358798" y="343814"/>
                </a:lnTo>
                <a:lnTo>
                  <a:pt x="1340510" y="360274"/>
                </a:lnTo>
                <a:lnTo>
                  <a:pt x="1326794" y="379476"/>
                </a:lnTo>
                <a:lnTo>
                  <a:pt x="1296619" y="416966"/>
                </a:lnTo>
                <a:lnTo>
                  <a:pt x="1283818" y="444398"/>
                </a:lnTo>
                <a:lnTo>
                  <a:pt x="1250899" y="505663"/>
                </a:lnTo>
                <a:lnTo>
                  <a:pt x="1232611" y="582473"/>
                </a:lnTo>
                <a:lnTo>
                  <a:pt x="1226210" y="625450"/>
                </a:lnTo>
                <a:lnTo>
                  <a:pt x="1216152" y="687629"/>
                </a:lnTo>
                <a:lnTo>
                  <a:pt x="1201522" y="719633"/>
                </a:lnTo>
                <a:lnTo>
                  <a:pt x="1181405" y="748894"/>
                </a:lnTo>
                <a:lnTo>
                  <a:pt x="1160374" y="778154"/>
                </a:lnTo>
                <a:lnTo>
                  <a:pt x="1142086" y="809244"/>
                </a:lnTo>
                <a:lnTo>
                  <a:pt x="1126541" y="833933"/>
                </a:lnTo>
                <a:lnTo>
                  <a:pt x="1123798" y="842162"/>
                </a:lnTo>
                <a:lnTo>
                  <a:pt x="1131113" y="848563"/>
                </a:lnTo>
                <a:lnTo>
                  <a:pt x="1167689" y="842162"/>
                </a:lnTo>
                <a:lnTo>
                  <a:pt x="1182319" y="834847"/>
                </a:lnTo>
                <a:lnTo>
                  <a:pt x="1203350" y="825703"/>
                </a:lnTo>
                <a:lnTo>
                  <a:pt x="1215238" y="830275"/>
                </a:lnTo>
                <a:lnTo>
                  <a:pt x="1228039" y="857707"/>
                </a:lnTo>
                <a:lnTo>
                  <a:pt x="1241755" y="861365"/>
                </a:lnTo>
                <a:lnTo>
                  <a:pt x="1255471" y="857707"/>
                </a:lnTo>
                <a:lnTo>
                  <a:pt x="1269187" y="864108"/>
                </a:lnTo>
                <a:lnTo>
                  <a:pt x="1287475" y="931774"/>
                </a:lnTo>
                <a:lnTo>
                  <a:pt x="1303020" y="988466"/>
                </a:lnTo>
                <a:lnTo>
                  <a:pt x="1338682" y="1024128"/>
                </a:lnTo>
                <a:lnTo>
                  <a:pt x="1366114" y="1051560"/>
                </a:lnTo>
                <a:lnTo>
                  <a:pt x="1373429" y="1076249"/>
                </a:lnTo>
                <a:lnTo>
                  <a:pt x="1380744" y="1110996"/>
                </a:lnTo>
                <a:lnTo>
                  <a:pt x="1381658" y="1128370"/>
                </a:lnTo>
                <a:lnTo>
                  <a:pt x="1373429" y="1138428"/>
                </a:lnTo>
                <a:lnTo>
                  <a:pt x="1358798" y="1159459"/>
                </a:lnTo>
                <a:lnTo>
                  <a:pt x="1355141" y="1199693"/>
                </a:lnTo>
                <a:lnTo>
                  <a:pt x="1352398" y="1212494"/>
                </a:lnTo>
                <a:lnTo>
                  <a:pt x="1350569" y="1249985"/>
                </a:lnTo>
                <a:lnTo>
                  <a:pt x="1351483" y="1253642"/>
                </a:lnTo>
                <a:lnTo>
                  <a:pt x="70409" y="1253642"/>
                </a:lnTo>
                <a:close/>
              </a:path>
            </a:pathLst>
          </a:custGeom>
          <a:solidFill>
            <a:srgbClr val="2C7396"/>
          </a:solidFill>
          <a:ln w="7620">
            <a:solidFill>
              <a:srgbClr val="4C93B3"/>
            </a:solidFill>
            <a:prstDash val="solid"/>
          </a:ln>
        </p:spPr>
      </p:sp>
      <p:sp>
        <p:nvSpPr>
          <p:cNvPr id="23" name="Map – U.S. Virgin Is."/>
          <p:cNvSpPr/>
          <p:nvPr/>
        </p:nvSpPr>
        <p:spPr>
          <a:xfrm>
            <a:off x="10092233" y="4027018"/>
            <a:ext cx="113386" cy="183794"/>
          </a:xfrm>
          <a:custGeom>
            <a:avLst/>
            <a:gdLst/>
            <a:ahLst/>
            <a:cxnLst/>
            <a:rect l="l" t="t" r="r" b="b"/>
            <a:pathLst>
              <a:path w="113386" h="183794">
                <a:moveTo>
                  <a:pt x="44806" y="15545"/>
                </a:moveTo>
                <a:lnTo>
                  <a:pt x="25603" y="17374"/>
                </a:lnTo>
                <a:lnTo>
                  <a:pt x="0" y="5486"/>
                </a:lnTo>
                <a:lnTo>
                  <a:pt x="20117" y="0"/>
                </a:lnTo>
                <a:lnTo>
                  <a:pt x="33833" y="2743"/>
                </a:lnTo>
                <a:close/>
                <a:moveTo>
                  <a:pt x="93269" y="9144"/>
                </a:moveTo>
                <a:lnTo>
                  <a:pt x="75895" y="15545"/>
                </a:lnTo>
                <a:lnTo>
                  <a:pt x="64922" y="14630"/>
                </a:lnTo>
                <a:lnTo>
                  <a:pt x="60350" y="11887"/>
                </a:lnTo>
                <a:lnTo>
                  <a:pt x="69494" y="3658"/>
                </a:lnTo>
                <a:close/>
                <a:moveTo>
                  <a:pt x="65837" y="159106"/>
                </a:moveTo>
                <a:lnTo>
                  <a:pt x="87782" y="170993"/>
                </a:lnTo>
                <a:lnTo>
                  <a:pt x="113386" y="170993"/>
                </a:lnTo>
                <a:lnTo>
                  <a:pt x="85954" y="182880"/>
                </a:lnTo>
                <a:lnTo>
                  <a:pt x="33833" y="183794"/>
                </a:lnTo>
                <a:lnTo>
                  <a:pt x="34747" y="164592"/>
                </a:lnTo>
                <a:close/>
              </a:path>
            </a:pathLst>
          </a:custGeom>
          <a:solidFill>
            <a:srgbClr val="EAF4F4"/>
          </a:solidFill>
          <a:ln w="7620">
            <a:solidFill>
              <a:srgbClr val="8CBBCB"/>
            </a:solidFill>
            <a:prstDash val="solid"/>
          </a:ln>
        </p:spPr>
      </p:sp>
      <p:sp>
        <p:nvSpPr>
          <p:cNvPr id="24" name="Map – Puerto Rico"/>
          <p:cNvSpPr/>
          <p:nvPr/>
        </p:nvSpPr>
        <p:spPr>
          <a:xfrm>
            <a:off x="9347911" y="3990442"/>
            <a:ext cx="674827" cy="154534"/>
          </a:xfrm>
          <a:custGeom>
            <a:avLst/>
            <a:gdLst/>
            <a:ahLst/>
            <a:cxnLst/>
            <a:rect l="l" t="t" r="r" b="b"/>
            <a:pathLst>
              <a:path w="674827" h="154534">
                <a:moveTo>
                  <a:pt x="461772" y="21031"/>
                </a:moveTo>
                <a:lnTo>
                  <a:pt x="470002" y="26518"/>
                </a:lnTo>
                <a:lnTo>
                  <a:pt x="477317" y="25603"/>
                </a:lnTo>
                <a:lnTo>
                  <a:pt x="471830" y="14630"/>
                </a:lnTo>
                <a:lnTo>
                  <a:pt x="477317" y="14630"/>
                </a:lnTo>
                <a:lnTo>
                  <a:pt x="525780" y="21031"/>
                </a:lnTo>
                <a:lnTo>
                  <a:pt x="556870" y="32004"/>
                </a:lnTo>
                <a:lnTo>
                  <a:pt x="588874" y="37490"/>
                </a:lnTo>
                <a:lnTo>
                  <a:pt x="591617" y="74981"/>
                </a:lnTo>
                <a:lnTo>
                  <a:pt x="566928" y="90526"/>
                </a:lnTo>
                <a:lnTo>
                  <a:pt x="550469" y="106070"/>
                </a:lnTo>
                <a:lnTo>
                  <a:pt x="536753" y="125273"/>
                </a:lnTo>
                <a:lnTo>
                  <a:pt x="502006" y="147218"/>
                </a:lnTo>
                <a:lnTo>
                  <a:pt x="460858" y="153619"/>
                </a:lnTo>
                <a:lnTo>
                  <a:pt x="431597" y="154534"/>
                </a:lnTo>
                <a:lnTo>
                  <a:pt x="421538" y="153619"/>
                </a:lnTo>
                <a:lnTo>
                  <a:pt x="411480" y="149962"/>
                </a:lnTo>
                <a:lnTo>
                  <a:pt x="390449" y="153619"/>
                </a:lnTo>
                <a:lnTo>
                  <a:pt x="363931" y="143561"/>
                </a:lnTo>
                <a:lnTo>
                  <a:pt x="341986" y="146304"/>
                </a:lnTo>
                <a:lnTo>
                  <a:pt x="298094" y="143561"/>
                </a:lnTo>
                <a:lnTo>
                  <a:pt x="281635" y="152705"/>
                </a:lnTo>
                <a:lnTo>
                  <a:pt x="264262" y="154534"/>
                </a:lnTo>
                <a:lnTo>
                  <a:pt x="248717" y="152705"/>
                </a:lnTo>
                <a:lnTo>
                  <a:pt x="235915" y="149047"/>
                </a:lnTo>
                <a:lnTo>
                  <a:pt x="202997" y="149047"/>
                </a:lnTo>
                <a:lnTo>
                  <a:pt x="189281" y="141732"/>
                </a:lnTo>
                <a:lnTo>
                  <a:pt x="194767" y="99670"/>
                </a:lnTo>
                <a:lnTo>
                  <a:pt x="195682" y="80467"/>
                </a:lnTo>
                <a:lnTo>
                  <a:pt x="187452" y="64008"/>
                </a:lnTo>
                <a:lnTo>
                  <a:pt x="178308" y="53950"/>
                </a:lnTo>
                <a:lnTo>
                  <a:pt x="171907" y="42977"/>
                </a:lnTo>
                <a:lnTo>
                  <a:pt x="184709" y="34747"/>
                </a:lnTo>
                <a:lnTo>
                  <a:pt x="195682" y="23774"/>
                </a:lnTo>
                <a:lnTo>
                  <a:pt x="199339" y="6401"/>
                </a:lnTo>
                <a:lnTo>
                  <a:pt x="210312" y="1829"/>
                </a:lnTo>
                <a:lnTo>
                  <a:pt x="224028" y="0"/>
                </a:lnTo>
                <a:lnTo>
                  <a:pt x="288036" y="8230"/>
                </a:lnTo>
                <a:lnTo>
                  <a:pt x="447142" y="12802"/>
                </a:lnTo>
                <a:lnTo>
                  <a:pt x="456286" y="13716"/>
                </a:lnTo>
                <a:close/>
                <a:moveTo>
                  <a:pt x="641909" y="112471"/>
                </a:moveTo>
                <a:lnTo>
                  <a:pt x="620878" y="113386"/>
                </a:lnTo>
                <a:lnTo>
                  <a:pt x="608076" y="111557"/>
                </a:lnTo>
                <a:lnTo>
                  <a:pt x="603504" y="103327"/>
                </a:lnTo>
                <a:lnTo>
                  <a:pt x="629107" y="96012"/>
                </a:lnTo>
                <a:lnTo>
                  <a:pt x="656539" y="96926"/>
                </a:lnTo>
                <a:lnTo>
                  <a:pt x="672998" y="101498"/>
                </a:lnTo>
                <a:lnTo>
                  <a:pt x="674827" y="104242"/>
                </a:lnTo>
                <a:close/>
                <a:moveTo>
                  <a:pt x="16459" y="124358"/>
                </a:moveTo>
                <a:lnTo>
                  <a:pt x="14630" y="124358"/>
                </a:lnTo>
                <a:lnTo>
                  <a:pt x="11887" y="124358"/>
                </a:lnTo>
                <a:lnTo>
                  <a:pt x="10973" y="123444"/>
                </a:lnTo>
                <a:lnTo>
                  <a:pt x="9144" y="120701"/>
                </a:lnTo>
                <a:lnTo>
                  <a:pt x="1829" y="117043"/>
                </a:lnTo>
                <a:lnTo>
                  <a:pt x="0" y="113386"/>
                </a:lnTo>
                <a:lnTo>
                  <a:pt x="1829" y="109728"/>
                </a:lnTo>
                <a:lnTo>
                  <a:pt x="4572" y="107899"/>
                </a:lnTo>
                <a:lnTo>
                  <a:pt x="19202" y="106985"/>
                </a:lnTo>
                <a:lnTo>
                  <a:pt x="21031" y="107899"/>
                </a:lnTo>
                <a:lnTo>
                  <a:pt x="23774" y="110642"/>
                </a:lnTo>
                <a:lnTo>
                  <a:pt x="23774" y="112471"/>
                </a:lnTo>
                <a:lnTo>
                  <a:pt x="22860" y="114300"/>
                </a:lnTo>
                <a:lnTo>
                  <a:pt x="20117" y="118872"/>
                </a:lnTo>
                <a:lnTo>
                  <a:pt x="19202" y="119786"/>
                </a:lnTo>
                <a:lnTo>
                  <a:pt x="18288" y="121615"/>
                </a:lnTo>
                <a:lnTo>
                  <a:pt x="17374" y="123444"/>
                </a:lnTo>
                <a:close/>
              </a:path>
            </a:pathLst>
          </a:custGeom>
          <a:solidFill>
            <a:srgbClr val="EAF4F4"/>
          </a:solidFill>
          <a:ln w="7620">
            <a:solidFill>
              <a:srgbClr val="8CBBCB"/>
            </a:solidFill>
            <a:prstDash val="solid"/>
          </a:ln>
        </p:spPr>
      </p:sp>
      <p:sp>
        <p:nvSpPr>
          <p:cNvPr id="25" name="Map – Anguilla"/>
          <p:cNvSpPr/>
          <p:nvPr/>
        </p:nvSpPr>
        <p:spPr>
          <a:xfrm>
            <a:off x="10567721" y="4058107"/>
            <a:ext cx="45720" cy="26518"/>
          </a:xfrm>
          <a:custGeom>
            <a:avLst/>
            <a:gdLst/>
            <a:ahLst/>
            <a:cxnLst/>
            <a:rect l="l" t="t" r="r" b="b"/>
            <a:pathLst>
              <a:path w="45720" h="26518">
                <a:moveTo>
                  <a:pt x="40234" y="12802"/>
                </a:moveTo>
                <a:lnTo>
                  <a:pt x="0" y="26518"/>
                </a:lnTo>
                <a:lnTo>
                  <a:pt x="1829" y="19202"/>
                </a:lnTo>
                <a:lnTo>
                  <a:pt x="33833" y="0"/>
                </a:lnTo>
                <a:lnTo>
                  <a:pt x="45720" y="1829"/>
                </a:lnTo>
                <a:close/>
              </a:path>
            </a:pathLst>
          </a:custGeom>
          <a:solidFill>
            <a:srgbClr val="EAF4F4"/>
          </a:solidFill>
          <a:ln w="7620">
            <a:solidFill>
              <a:srgbClr val="8CBBCB"/>
            </a:solidFill>
            <a:prstDash val="solid"/>
          </a:ln>
        </p:spPr>
      </p:sp>
      <p:sp>
        <p:nvSpPr>
          <p:cNvPr id="26" name="Map – Cayman Is."/>
          <p:cNvSpPr/>
          <p:nvPr/>
        </p:nvSpPr>
        <p:spPr>
          <a:xfrm>
            <a:off x="5905195" y="3654857"/>
            <a:ext cx="428854" cy="133502"/>
          </a:xfrm>
          <a:custGeom>
            <a:avLst/>
            <a:gdLst/>
            <a:ahLst/>
            <a:cxnLst/>
            <a:rect l="l" t="t" r="r" b="b"/>
            <a:pathLst>
              <a:path w="428854" h="133502">
                <a:moveTo>
                  <a:pt x="12802" y="112471"/>
                </a:moveTo>
                <a:lnTo>
                  <a:pt x="21946" y="117958"/>
                </a:lnTo>
                <a:lnTo>
                  <a:pt x="32004" y="114300"/>
                </a:lnTo>
                <a:lnTo>
                  <a:pt x="35662" y="108814"/>
                </a:lnTo>
                <a:lnTo>
                  <a:pt x="74066" y="113386"/>
                </a:lnTo>
                <a:lnTo>
                  <a:pt x="80467" y="124358"/>
                </a:lnTo>
                <a:lnTo>
                  <a:pt x="50292" y="124358"/>
                </a:lnTo>
                <a:lnTo>
                  <a:pt x="37490" y="131674"/>
                </a:lnTo>
                <a:lnTo>
                  <a:pt x="30175" y="133502"/>
                </a:lnTo>
                <a:lnTo>
                  <a:pt x="3658" y="131674"/>
                </a:lnTo>
                <a:lnTo>
                  <a:pt x="0" y="105156"/>
                </a:lnTo>
                <a:lnTo>
                  <a:pt x="7315" y="102413"/>
                </a:lnTo>
                <a:close/>
                <a:moveTo>
                  <a:pt x="368503" y="15545"/>
                </a:moveTo>
                <a:lnTo>
                  <a:pt x="365760" y="16459"/>
                </a:lnTo>
                <a:lnTo>
                  <a:pt x="357530" y="15545"/>
                </a:lnTo>
                <a:lnTo>
                  <a:pt x="338328" y="26518"/>
                </a:lnTo>
                <a:lnTo>
                  <a:pt x="331013" y="25603"/>
                </a:lnTo>
                <a:lnTo>
                  <a:pt x="332842" y="21946"/>
                </a:lnTo>
                <a:lnTo>
                  <a:pt x="336499" y="18288"/>
                </a:lnTo>
                <a:lnTo>
                  <a:pt x="341071" y="15545"/>
                </a:lnTo>
                <a:lnTo>
                  <a:pt x="345643" y="14630"/>
                </a:lnTo>
                <a:lnTo>
                  <a:pt x="358445" y="12802"/>
                </a:lnTo>
                <a:lnTo>
                  <a:pt x="364846" y="11887"/>
                </a:lnTo>
                <a:lnTo>
                  <a:pt x="369418" y="14630"/>
                </a:lnTo>
                <a:close/>
                <a:moveTo>
                  <a:pt x="408737" y="14630"/>
                </a:moveTo>
                <a:lnTo>
                  <a:pt x="396850" y="18288"/>
                </a:lnTo>
                <a:lnTo>
                  <a:pt x="387706" y="16459"/>
                </a:lnTo>
                <a:lnTo>
                  <a:pt x="407822" y="5486"/>
                </a:lnTo>
                <a:lnTo>
                  <a:pt x="413309" y="1829"/>
                </a:lnTo>
                <a:lnTo>
                  <a:pt x="417881" y="0"/>
                </a:lnTo>
                <a:lnTo>
                  <a:pt x="422453" y="0"/>
                </a:lnTo>
                <a:lnTo>
                  <a:pt x="428854" y="1829"/>
                </a:lnTo>
                <a:lnTo>
                  <a:pt x="428854" y="3658"/>
                </a:lnTo>
                <a:close/>
              </a:path>
            </a:pathLst>
          </a:custGeom>
          <a:solidFill>
            <a:srgbClr val="EAF4F4"/>
          </a:solidFill>
          <a:ln w="7620">
            <a:solidFill>
              <a:srgbClr val="8CBBCB"/>
            </a:solidFill>
            <a:prstDash val="solid"/>
          </a:ln>
        </p:spPr>
      </p:sp>
      <p:sp>
        <p:nvSpPr>
          <p:cNvPr id="27" name="Map – British Virgin Is."/>
          <p:cNvSpPr/>
          <p:nvPr/>
        </p:nvSpPr>
        <p:spPr>
          <a:xfrm>
            <a:off x="10176358" y="3928262"/>
            <a:ext cx="106985" cy="95098"/>
          </a:xfrm>
          <a:custGeom>
            <a:avLst/>
            <a:gdLst/>
            <a:ahLst/>
            <a:cxnLst/>
            <a:rect l="l" t="t" r="r" b="b"/>
            <a:pathLst>
              <a:path w="106985" h="95098">
                <a:moveTo>
                  <a:pt x="75895" y="77724"/>
                </a:moveTo>
                <a:lnTo>
                  <a:pt x="69494" y="79553"/>
                </a:lnTo>
                <a:lnTo>
                  <a:pt x="64922" y="78638"/>
                </a:lnTo>
                <a:lnTo>
                  <a:pt x="64008" y="74981"/>
                </a:lnTo>
                <a:lnTo>
                  <a:pt x="68580" y="64922"/>
                </a:lnTo>
                <a:lnTo>
                  <a:pt x="94183" y="64008"/>
                </a:lnTo>
                <a:close/>
                <a:moveTo>
                  <a:pt x="25603" y="94183"/>
                </a:moveTo>
                <a:lnTo>
                  <a:pt x="5486" y="95098"/>
                </a:lnTo>
                <a:lnTo>
                  <a:pt x="0" y="92354"/>
                </a:lnTo>
                <a:lnTo>
                  <a:pt x="10973" y="84125"/>
                </a:lnTo>
                <a:lnTo>
                  <a:pt x="32004" y="83210"/>
                </a:lnTo>
                <a:lnTo>
                  <a:pt x="37490" y="85039"/>
                </a:lnTo>
                <a:close/>
                <a:moveTo>
                  <a:pt x="103327" y="3658"/>
                </a:moveTo>
                <a:lnTo>
                  <a:pt x="106985" y="11887"/>
                </a:lnTo>
                <a:lnTo>
                  <a:pt x="104242" y="11887"/>
                </a:lnTo>
                <a:lnTo>
                  <a:pt x="90526" y="6401"/>
                </a:lnTo>
                <a:lnTo>
                  <a:pt x="78638" y="5486"/>
                </a:lnTo>
                <a:lnTo>
                  <a:pt x="74066" y="3658"/>
                </a:lnTo>
                <a:lnTo>
                  <a:pt x="72238" y="914"/>
                </a:lnTo>
                <a:lnTo>
                  <a:pt x="94183" y="0"/>
                </a:lnTo>
                <a:close/>
              </a:path>
            </a:pathLst>
          </a:custGeom>
          <a:solidFill>
            <a:srgbClr val="EAF4F4"/>
          </a:solidFill>
          <a:ln w="7620">
            <a:solidFill>
              <a:srgbClr val="8CBBCB"/>
            </a:solidFill>
            <a:prstDash val="solid"/>
          </a:ln>
        </p:spPr>
      </p:sp>
      <p:sp>
        <p:nvSpPr>
          <p:cNvPr id="28" name="Map – Turks and Caicos Is."/>
          <p:cNvSpPr/>
          <p:nvPr/>
        </p:nvSpPr>
        <p:spPr>
          <a:xfrm>
            <a:off x="8224114" y="3056839"/>
            <a:ext cx="180137" cy="55778"/>
          </a:xfrm>
          <a:custGeom>
            <a:avLst/>
            <a:gdLst/>
            <a:ahLst/>
            <a:cxnLst/>
            <a:rect l="l" t="t" r="r" b="b"/>
            <a:pathLst>
              <a:path w="180137" h="55778">
                <a:moveTo>
                  <a:pt x="173736" y="51206"/>
                </a:moveTo>
                <a:lnTo>
                  <a:pt x="172822" y="55778"/>
                </a:lnTo>
                <a:lnTo>
                  <a:pt x="157277" y="44806"/>
                </a:lnTo>
                <a:lnTo>
                  <a:pt x="129845" y="44806"/>
                </a:lnTo>
                <a:lnTo>
                  <a:pt x="125273" y="30175"/>
                </a:lnTo>
                <a:lnTo>
                  <a:pt x="136246" y="27432"/>
                </a:lnTo>
                <a:lnTo>
                  <a:pt x="171907" y="32918"/>
                </a:lnTo>
                <a:lnTo>
                  <a:pt x="180137" y="45720"/>
                </a:lnTo>
                <a:close/>
                <a:moveTo>
                  <a:pt x="117043" y="30175"/>
                </a:moveTo>
                <a:lnTo>
                  <a:pt x="112471" y="33833"/>
                </a:lnTo>
                <a:lnTo>
                  <a:pt x="97841" y="24689"/>
                </a:lnTo>
                <a:lnTo>
                  <a:pt x="96012" y="16459"/>
                </a:lnTo>
                <a:lnTo>
                  <a:pt x="90526" y="16459"/>
                </a:lnTo>
                <a:lnTo>
                  <a:pt x="81382" y="9144"/>
                </a:lnTo>
                <a:lnTo>
                  <a:pt x="84125" y="914"/>
                </a:lnTo>
                <a:lnTo>
                  <a:pt x="104242" y="0"/>
                </a:lnTo>
                <a:lnTo>
                  <a:pt x="112471" y="24689"/>
                </a:lnTo>
                <a:close/>
                <a:moveTo>
                  <a:pt x="1829" y="27432"/>
                </a:moveTo>
                <a:lnTo>
                  <a:pt x="31090" y="42977"/>
                </a:lnTo>
                <a:lnTo>
                  <a:pt x="48463" y="40234"/>
                </a:lnTo>
                <a:lnTo>
                  <a:pt x="50292" y="43891"/>
                </a:lnTo>
                <a:lnTo>
                  <a:pt x="40234" y="47549"/>
                </a:lnTo>
                <a:lnTo>
                  <a:pt x="38405" y="50292"/>
                </a:lnTo>
                <a:lnTo>
                  <a:pt x="10058" y="54864"/>
                </a:lnTo>
                <a:lnTo>
                  <a:pt x="1829" y="53035"/>
                </a:lnTo>
                <a:lnTo>
                  <a:pt x="0" y="42977"/>
                </a:lnTo>
                <a:close/>
              </a:path>
            </a:pathLst>
          </a:custGeom>
          <a:solidFill>
            <a:srgbClr val="EAF4F4"/>
          </a:solidFill>
          <a:ln w="7620">
            <a:solidFill>
              <a:srgbClr val="8CBBCB"/>
            </a:solidFill>
            <a:prstDash val="solid"/>
          </a:ln>
        </p:spPr>
      </p:sp>
      <p:sp>
        <p:nvSpPr>
          <p:cNvPr id="29" name="Map – Montserrat"/>
          <p:cNvSpPr/>
          <p:nvPr/>
        </p:nvSpPr>
        <p:spPr>
          <a:xfrm>
            <a:off x="10806379" y="4449470"/>
            <a:ext cx="19202" cy="33833"/>
          </a:xfrm>
          <a:custGeom>
            <a:avLst/>
            <a:gdLst/>
            <a:ahLst/>
            <a:cxnLst/>
            <a:rect l="l" t="t" r="r" b="b"/>
            <a:pathLst>
              <a:path w="19202" h="33833">
                <a:moveTo>
                  <a:pt x="19202" y="18288"/>
                </a:moveTo>
                <a:lnTo>
                  <a:pt x="18288" y="33833"/>
                </a:lnTo>
                <a:lnTo>
                  <a:pt x="914" y="29261"/>
                </a:lnTo>
                <a:lnTo>
                  <a:pt x="0" y="15545"/>
                </a:lnTo>
                <a:lnTo>
                  <a:pt x="8230" y="914"/>
                </a:lnTo>
                <a:lnTo>
                  <a:pt x="12802" y="0"/>
                </a:lnTo>
                <a:close/>
              </a:path>
            </a:pathLst>
          </a:custGeom>
          <a:solidFill>
            <a:srgbClr val="EAF4F4"/>
          </a:solidFill>
          <a:ln w="7620">
            <a:solidFill>
              <a:srgbClr val="8CBBCB"/>
            </a:solidFill>
            <a:prstDash val="solid"/>
          </a:ln>
        </p:spPr>
      </p:sp>
      <p:sp>
        <p:nvSpPr>
          <p:cNvPr id="30" name="Map – Trinidad and Tobago"/>
          <p:cNvSpPr/>
          <p:nvPr/>
        </p:nvSpPr>
        <p:spPr>
          <a:xfrm>
            <a:off x="10888675" y="5893308"/>
            <a:ext cx="352044" cy="328270"/>
          </a:xfrm>
          <a:custGeom>
            <a:avLst/>
            <a:gdLst/>
            <a:ahLst/>
            <a:cxnLst/>
            <a:rect l="l" t="t" r="r" b="b"/>
            <a:pathLst>
              <a:path w="352044" h="328270">
                <a:moveTo>
                  <a:pt x="292608" y="38405"/>
                </a:moveTo>
                <a:lnTo>
                  <a:pt x="278892" y="41148"/>
                </a:lnTo>
                <a:lnTo>
                  <a:pt x="280721" y="31090"/>
                </a:lnTo>
                <a:lnTo>
                  <a:pt x="304495" y="12802"/>
                </a:lnTo>
                <a:lnTo>
                  <a:pt x="342900" y="914"/>
                </a:lnTo>
                <a:lnTo>
                  <a:pt x="352044" y="0"/>
                </a:lnTo>
                <a:lnTo>
                  <a:pt x="346558" y="16459"/>
                </a:lnTo>
                <a:close/>
                <a:moveTo>
                  <a:pt x="227686" y="309982"/>
                </a:moveTo>
                <a:lnTo>
                  <a:pt x="186538" y="324612"/>
                </a:lnTo>
                <a:lnTo>
                  <a:pt x="77724" y="328270"/>
                </a:lnTo>
                <a:lnTo>
                  <a:pt x="33833" y="322783"/>
                </a:lnTo>
                <a:lnTo>
                  <a:pt x="0" y="326441"/>
                </a:lnTo>
                <a:lnTo>
                  <a:pt x="61265" y="295351"/>
                </a:lnTo>
                <a:lnTo>
                  <a:pt x="68580" y="281635"/>
                </a:lnTo>
                <a:lnTo>
                  <a:pt x="95098" y="278892"/>
                </a:lnTo>
                <a:lnTo>
                  <a:pt x="103327" y="274320"/>
                </a:lnTo>
                <a:lnTo>
                  <a:pt x="111557" y="204826"/>
                </a:lnTo>
                <a:lnTo>
                  <a:pt x="107899" y="187452"/>
                </a:lnTo>
                <a:lnTo>
                  <a:pt x="103327" y="179222"/>
                </a:lnTo>
                <a:lnTo>
                  <a:pt x="92354" y="171907"/>
                </a:lnTo>
                <a:lnTo>
                  <a:pt x="68580" y="162763"/>
                </a:lnTo>
                <a:lnTo>
                  <a:pt x="64008" y="158191"/>
                </a:lnTo>
                <a:lnTo>
                  <a:pt x="79553" y="149962"/>
                </a:lnTo>
                <a:lnTo>
                  <a:pt x="111557" y="146304"/>
                </a:lnTo>
                <a:lnTo>
                  <a:pt x="135331" y="138074"/>
                </a:lnTo>
                <a:lnTo>
                  <a:pt x="186538" y="136246"/>
                </a:lnTo>
                <a:lnTo>
                  <a:pt x="210312" y="128930"/>
                </a:lnTo>
                <a:lnTo>
                  <a:pt x="251460" y="126187"/>
                </a:lnTo>
                <a:lnTo>
                  <a:pt x="231343" y="158191"/>
                </a:lnTo>
                <a:lnTo>
                  <a:pt x="222199" y="170993"/>
                </a:lnTo>
                <a:lnTo>
                  <a:pt x="225857" y="200254"/>
                </a:lnTo>
                <a:lnTo>
                  <a:pt x="221285" y="219456"/>
                </a:lnTo>
                <a:lnTo>
                  <a:pt x="226771" y="244145"/>
                </a:lnTo>
                <a:lnTo>
                  <a:pt x="238658" y="260604"/>
                </a:lnTo>
                <a:lnTo>
                  <a:pt x="230429" y="276149"/>
                </a:lnTo>
                <a:lnTo>
                  <a:pt x="229514" y="300838"/>
                </a:lnTo>
                <a:close/>
              </a:path>
            </a:pathLst>
          </a:custGeom>
          <a:solidFill>
            <a:srgbClr val="EAF4F4"/>
          </a:solidFill>
          <a:ln w="7620">
            <a:solidFill>
              <a:srgbClr val="8CBBCB"/>
            </a:solidFill>
            <a:prstDash val="solid"/>
          </a:ln>
        </p:spPr>
      </p:sp>
      <p:sp>
        <p:nvSpPr>
          <p:cNvPr id="31" name="Map – St. Vin. and Gren."/>
          <p:cNvSpPr/>
          <p:nvPr/>
        </p:nvSpPr>
        <p:spPr>
          <a:xfrm>
            <a:off x="11029493" y="5362042"/>
            <a:ext cx="58522" cy="173736"/>
          </a:xfrm>
          <a:custGeom>
            <a:avLst/>
            <a:gdLst/>
            <a:ahLst/>
            <a:cxnLst/>
            <a:rect l="l" t="t" r="r" b="b"/>
            <a:pathLst>
              <a:path w="58522" h="173736">
                <a:moveTo>
                  <a:pt x="45720" y="53035"/>
                </a:moveTo>
                <a:lnTo>
                  <a:pt x="38405" y="56693"/>
                </a:lnTo>
                <a:lnTo>
                  <a:pt x="19202" y="39319"/>
                </a:lnTo>
                <a:lnTo>
                  <a:pt x="21946" y="18288"/>
                </a:lnTo>
                <a:lnTo>
                  <a:pt x="32918" y="7315"/>
                </a:lnTo>
                <a:lnTo>
                  <a:pt x="43891" y="914"/>
                </a:lnTo>
                <a:lnTo>
                  <a:pt x="54864" y="0"/>
                </a:lnTo>
                <a:lnTo>
                  <a:pt x="58522" y="17374"/>
                </a:lnTo>
                <a:lnTo>
                  <a:pt x="55778" y="41148"/>
                </a:lnTo>
                <a:close/>
                <a:moveTo>
                  <a:pt x="32004" y="95098"/>
                </a:moveTo>
                <a:lnTo>
                  <a:pt x="28346" y="97841"/>
                </a:lnTo>
                <a:lnTo>
                  <a:pt x="30175" y="97841"/>
                </a:lnTo>
                <a:lnTo>
                  <a:pt x="28346" y="100584"/>
                </a:lnTo>
                <a:lnTo>
                  <a:pt x="27432" y="97841"/>
                </a:lnTo>
                <a:lnTo>
                  <a:pt x="24689" y="96926"/>
                </a:lnTo>
                <a:lnTo>
                  <a:pt x="22860" y="96926"/>
                </a:lnTo>
                <a:lnTo>
                  <a:pt x="19202" y="96926"/>
                </a:lnTo>
                <a:lnTo>
                  <a:pt x="19202" y="94183"/>
                </a:lnTo>
                <a:lnTo>
                  <a:pt x="22860" y="96012"/>
                </a:lnTo>
                <a:lnTo>
                  <a:pt x="29261" y="94183"/>
                </a:lnTo>
                <a:lnTo>
                  <a:pt x="29261" y="92354"/>
                </a:lnTo>
                <a:lnTo>
                  <a:pt x="27432" y="90526"/>
                </a:lnTo>
                <a:lnTo>
                  <a:pt x="26518" y="89611"/>
                </a:lnTo>
                <a:lnTo>
                  <a:pt x="28346" y="86868"/>
                </a:lnTo>
                <a:lnTo>
                  <a:pt x="35662" y="82296"/>
                </a:lnTo>
                <a:lnTo>
                  <a:pt x="38405" y="80467"/>
                </a:lnTo>
                <a:lnTo>
                  <a:pt x="39319" y="81382"/>
                </a:lnTo>
                <a:lnTo>
                  <a:pt x="39319" y="82296"/>
                </a:lnTo>
                <a:lnTo>
                  <a:pt x="39319" y="83210"/>
                </a:lnTo>
                <a:lnTo>
                  <a:pt x="40234" y="84125"/>
                </a:lnTo>
                <a:lnTo>
                  <a:pt x="36576" y="87782"/>
                </a:lnTo>
                <a:close/>
                <a:moveTo>
                  <a:pt x="4572" y="173736"/>
                </a:moveTo>
                <a:lnTo>
                  <a:pt x="2743" y="173736"/>
                </a:lnTo>
                <a:lnTo>
                  <a:pt x="0" y="172822"/>
                </a:lnTo>
                <a:lnTo>
                  <a:pt x="914" y="171907"/>
                </a:lnTo>
                <a:lnTo>
                  <a:pt x="3658" y="171907"/>
                </a:lnTo>
                <a:lnTo>
                  <a:pt x="4572" y="170078"/>
                </a:lnTo>
                <a:lnTo>
                  <a:pt x="4572" y="167335"/>
                </a:lnTo>
                <a:lnTo>
                  <a:pt x="4572" y="164592"/>
                </a:lnTo>
                <a:lnTo>
                  <a:pt x="6401" y="163678"/>
                </a:lnTo>
                <a:lnTo>
                  <a:pt x="8230" y="163678"/>
                </a:lnTo>
                <a:lnTo>
                  <a:pt x="9144" y="164592"/>
                </a:lnTo>
                <a:lnTo>
                  <a:pt x="10058" y="166421"/>
                </a:lnTo>
                <a:lnTo>
                  <a:pt x="8230" y="168250"/>
                </a:lnTo>
                <a:lnTo>
                  <a:pt x="7315" y="170078"/>
                </a:lnTo>
                <a:lnTo>
                  <a:pt x="6401" y="171907"/>
                </a:lnTo>
                <a:close/>
              </a:path>
            </a:pathLst>
          </a:custGeom>
          <a:solidFill>
            <a:srgbClr val="EAF4F4"/>
          </a:solidFill>
          <a:ln w="7620">
            <a:solidFill>
              <a:srgbClr val="8CBBCB"/>
            </a:solidFill>
            <a:prstDash val="solid"/>
          </a:ln>
        </p:spPr>
      </p:sp>
      <p:sp>
        <p:nvSpPr>
          <p:cNvPr id="32" name="Map – Saint Lucia"/>
          <p:cNvSpPr/>
          <p:nvPr/>
        </p:nvSpPr>
        <p:spPr>
          <a:xfrm>
            <a:off x="11100816" y="5169103"/>
            <a:ext cx="47549" cy="98755"/>
          </a:xfrm>
          <a:custGeom>
            <a:avLst/>
            <a:gdLst/>
            <a:ahLst/>
            <a:cxnLst/>
            <a:rect l="l" t="t" r="r" b="b"/>
            <a:pathLst>
              <a:path w="47549" h="98755">
                <a:moveTo>
                  <a:pt x="44806" y="71323"/>
                </a:moveTo>
                <a:lnTo>
                  <a:pt x="31090" y="98755"/>
                </a:lnTo>
                <a:lnTo>
                  <a:pt x="2743" y="81382"/>
                </a:lnTo>
                <a:lnTo>
                  <a:pt x="0" y="59436"/>
                </a:lnTo>
                <a:lnTo>
                  <a:pt x="2743" y="46634"/>
                </a:lnTo>
                <a:lnTo>
                  <a:pt x="19202" y="21946"/>
                </a:lnTo>
                <a:lnTo>
                  <a:pt x="32918" y="5486"/>
                </a:lnTo>
                <a:lnTo>
                  <a:pt x="42062" y="0"/>
                </a:lnTo>
                <a:lnTo>
                  <a:pt x="47549" y="21031"/>
                </a:lnTo>
                <a:close/>
              </a:path>
            </a:pathLst>
          </a:custGeom>
          <a:solidFill>
            <a:srgbClr val="EAF4F4"/>
          </a:solidFill>
          <a:ln w="7620">
            <a:solidFill>
              <a:srgbClr val="8CBBCB"/>
            </a:solidFill>
            <a:prstDash val="solid"/>
          </a:ln>
        </p:spPr>
      </p:sp>
      <p:sp>
        <p:nvSpPr>
          <p:cNvPr id="33" name="Map – St. Kitts and Nevis"/>
          <p:cNvSpPr/>
          <p:nvPr/>
        </p:nvSpPr>
        <p:spPr>
          <a:xfrm>
            <a:off x="10649102" y="4291279"/>
            <a:ext cx="79553" cy="80467"/>
          </a:xfrm>
          <a:custGeom>
            <a:avLst/>
            <a:gdLst/>
            <a:ahLst/>
            <a:cxnLst/>
            <a:rect l="l" t="t" r="r" b="b"/>
            <a:pathLst>
              <a:path w="79553" h="80467">
                <a:moveTo>
                  <a:pt x="79553" y="74981"/>
                </a:moveTo>
                <a:lnTo>
                  <a:pt x="66751" y="80467"/>
                </a:lnTo>
                <a:lnTo>
                  <a:pt x="55778" y="72238"/>
                </a:lnTo>
                <a:lnTo>
                  <a:pt x="58522" y="53950"/>
                </a:lnTo>
                <a:lnTo>
                  <a:pt x="68580" y="53950"/>
                </a:lnTo>
                <a:lnTo>
                  <a:pt x="78638" y="62179"/>
                </a:lnTo>
                <a:close/>
                <a:moveTo>
                  <a:pt x="53950" y="42977"/>
                </a:moveTo>
                <a:lnTo>
                  <a:pt x="47549" y="47549"/>
                </a:lnTo>
                <a:lnTo>
                  <a:pt x="35662" y="31090"/>
                </a:lnTo>
                <a:lnTo>
                  <a:pt x="16459" y="26518"/>
                </a:lnTo>
                <a:lnTo>
                  <a:pt x="0" y="16459"/>
                </a:lnTo>
                <a:lnTo>
                  <a:pt x="0" y="14630"/>
                </a:lnTo>
                <a:lnTo>
                  <a:pt x="0" y="9144"/>
                </a:lnTo>
                <a:lnTo>
                  <a:pt x="3658" y="3658"/>
                </a:lnTo>
                <a:lnTo>
                  <a:pt x="11887" y="0"/>
                </a:lnTo>
                <a:lnTo>
                  <a:pt x="32918" y="12802"/>
                </a:lnTo>
                <a:lnTo>
                  <a:pt x="42977" y="29261"/>
                </a:lnTo>
                <a:lnTo>
                  <a:pt x="52121" y="37490"/>
                </a:lnTo>
                <a:close/>
              </a:path>
            </a:pathLst>
          </a:custGeom>
          <a:solidFill>
            <a:srgbClr val="EAF4F4"/>
          </a:solidFill>
          <a:ln w="7620">
            <a:solidFill>
              <a:srgbClr val="8CBBCB"/>
            </a:solidFill>
            <a:prstDash val="solid"/>
          </a:ln>
        </p:spPr>
      </p:sp>
      <p:sp>
        <p:nvSpPr>
          <p:cNvPr id="34" name="Map – Netherlands"/>
          <p:cNvSpPr/>
          <p:nvPr/>
        </p:nvSpPr>
        <p:spPr>
          <a:xfrm>
            <a:off x="9237269" y="4224528"/>
            <a:ext cx="1387145" cy="1484986"/>
          </a:xfrm>
          <a:custGeom>
            <a:avLst/>
            <a:gdLst/>
            <a:ahLst/>
            <a:cxnLst/>
            <a:rect l="l" t="t" r="r" b="b"/>
            <a:pathLst>
              <a:path w="1387145" h="1484986">
                <a:moveTo>
                  <a:pt x="42977" y="1455725"/>
                </a:moveTo>
                <a:lnTo>
                  <a:pt x="30175" y="1484986"/>
                </a:lnTo>
                <a:lnTo>
                  <a:pt x="21946" y="1472184"/>
                </a:lnTo>
                <a:lnTo>
                  <a:pt x="21031" y="1448410"/>
                </a:lnTo>
                <a:lnTo>
                  <a:pt x="15545" y="1439266"/>
                </a:lnTo>
                <a:lnTo>
                  <a:pt x="5486" y="1433779"/>
                </a:lnTo>
                <a:lnTo>
                  <a:pt x="0" y="1426464"/>
                </a:lnTo>
                <a:lnTo>
                  <a:pt x="0" y="1414577"/>
                </a:lnTo>
                <a:lnTo>
                  <a:pt x="39319" y="1432865"/>
                </a:lnTo>
                <a:close/>
                <a:moveTo>
                  <a:pt x="1387145" y="41148"/>
                </a:moveTo>
                <a:lnTo>
                  <a:pt x="1380744" y="46634"/>
                </a:lnTo>
                <a:lnTo>
                  <a:pt x="1375258" y="46634"/>
                </a:lnTo>
                <a:lnTo>
                  <a:pt x="1371600" y="41148"/>
                </a:lnTo>
                <a:lnTo>
                  <a:pt x="1371600" y="32004"/>
                </a:lnTo>
                <a:lnTo>
                  <a:pt x="1376172" y="34747"/>
                </a:lnTo>
                <a:lnTo>
                  <a:pt x="1378915" y="35662"/>
                </a:lnTo>
                <a:lnTo>
                  <a:pt x="1379830" y="37490"/>
                </a:lnTo>
                <a:close/>
                <a:moveTo>
                  <a:pt x="1312164" y="7315"/>
                </a:moveTo>
                <a:lnTo>
                  <a:pt x="1310335" y="8230"/>
                </a:lnTo>
                <a:lnTo>
                  <a:pt x="1306678" y="6401"/>
                </a:lnTo>
                <a:lnTo>
                  <a:pt x="1307592" y="1829"/>
                </a:lnTo>
                <a:lnTo>
                  <a:pt x="1310335" y="0"/>
                </a:lnTo>
                <a:lnTo>
                  <a:pt x="1312164" y="914"/>
                </a:lnTo>
                <a:lnTo>
                  <a:pt x="1313993" y="4572"/>
                </a:lnTo>
                <a:close/>
              </a:path>
            </a:pathLst>
          </a:custGeom>
          <a:solidFill>
            <a:srgbClr val="EAF4F4"/>
          </a:solidFill>
          <a:ln w="7620">
            <a:solidFill>
              <a:srgbClr val="8CBBCB"/>
            </a:solidFill>
            <a:prstDash val="solid"/>
          </a:ln>
        </p:spPr>
      </p:sp>
      <p:sp>
        <p:nvSpPr>
          <p:cNvPr id="35" name="Map – Aruba"/>
          <p:cNvSpPr/>
          <p:nvPr/>
        </p:nvSpPr>
        <p:spPr>
          <a:xfrm>
            <a:off x="8804758" y="5556809"/>
            <a:ext cx="42977" cy="50292"/>
          </a:xfrm>
          <a:custGeom>
            <a:avLst/>
            <a:gdLst/>
            <a:ahLst/>
            <a:cxnLst/>
            <a:rect l="l" t="t" r="r" b="b"/>
            <a:pathLst>
              <a:path w="42977" h="50292">
                <a:moveTo>
                  <a:pt x="42062" y="42977"/>
                </a:moveTo>
                <a:lnTo>
                  <a:pt x="42977" y="50292"/>
                </a:lnTo>
                <a:lnTo>
                  <a:pt x="31090" y="45720"/>
                </a:lnTo>
                <a:lnTo>
                  <a:pt x="15545" y="30175"/>
                </a:lnTo>
                <a:lnTo>
                  <a:pt x="0" y="18288"/>
                </a:lnTo>
                <a:lnTo>
                  <a:pt x="3658" y="4572"/>
                </a:lnTo>
                <a:lnTo>
                  <a:pt x="7315" y="0"/>
                </a:lnTo>
                <a:lnTo>
                  <a:pt x="23774" y="12802"/>
                </a:lnTo>
                <a:lnTo>
                  <a:pt x="39319" y="35662"/>
                </a:lnTo>
                <a:close/>
              </a:path>
            </a:pathLst>
          </a:custGeom>
          <a:solidFill>
            <a:srgbClr val="EAF4F4"/>
          </a:solidFill>
          <a:ln w="7620">
            <a:solidFill>
              <a:srgbClr val="8CBBCB"/>
            </a:solidFill>
            <a:prstDash val="solid"/>
          </a:ln>
        </p:spPr>
      </p:sp>
      <p:sp>
        <p:nvSpPr>
          <p:cNvPr id="36" name="Map – Curaçao"/>
          <p:cNvSpPr/>
          <p:nvPr/>
        </p:nvSpPr>
        <p:spPr>
          <a:xfrm>
            <a:off x="9036101" y="5618074"/>
            <a:ext cx="104242" cy="87782"/>
          </a:xfrm>
          <a:custGeom>
            <a:avLst/>
            <a:gdLst/>
            <a:ahLst/>
            <a:cxnLst/>
            <a:rect l="l" t="t" r="r" b="b"/>
            <a:pathLst>
              <a:path w="104242" h="87782">
                <a:moveTo>
                  <a:pt x="104242" y="84125"/>
                </a:moveTo>
                <a:lnTo>
                  <a:pt x="91440" y="87782"/>
                </a:lnTo>
                <a:lnTo>
                  <a:pt x="41148" y="62179"/>
                </a:lnTo>
                <a:lnTo>
                  <a:pt x="914" y="21946"/>
                </a:lnTo>
                <a:lnTo>
                  <a:pt x="0" y="0"/>
                </a:lnTo>
                <a:lnTo>
                  <a:pt x="10058" y="1829"/>
                </a:lnTo>
                <a:lnTo>
                  <a:pt x="21031" y="10058"/>
                </a:lnTo>
                <a:lnTo>
                  <a:pt x="36576" y="39319"/>
                </a:lnTo>
                <a:lnTo>
                  <a:pt x="85039" y="58522"/>
                </a:lnTo>
                <a:close/>
              </a:path>
            </a:pathLst>
          </a:custGeom>
          <a:solidFill>
            <a:srgbClr val="EAF4F4"/>
          </a:solidFill>
          <a:ln w="7620">
            <a:solidFill>
              <a:srgbClr val="8CBBCB"/>
            </a:solidFill>
            <a:prstDash val="solid"/>
          </a:ln>
        </p:spPr>
      </p:sp>
      <p:sp>
        <p:nvSpPr>
          <p:cNvPr id="37" name="Map – Jamaica"/>
          <p:cNvSpPr/>
          <p:nvPr/>
        </p:nvSpPr>
        <p:spPr>
          <a:xfrm>
            <a:off x="6692494" y="3990442"/>
            <a:ext cx="543154" cy="216713"/>
          </a:xfrm>
          <a:custGeom>
            <a:avLst/>
            <a:gdLst/>
            <a:ahLst/>
            <a:cxnLst/>
            <a:rect l="l" t="t" r="r" b="b"/>
            <a:pathLst>
              <a:path w="543154" h="216713">
                <a:moveTo>
                  <a:pt x="274320" y="17374"/>
                </a:moveTo>
                <a:lnTo>
                  <a:pt x="306324" y="27432"/>
                </a:lnTo>
                <a:lnTo>
                  <a:pt x="338328" y="32004"/>
                </a:lnTo>
                <a:lnTo>
                  <a:pt x="352044" y="32004"/>
                </a:lnTo>
                <a:lnTo>
                  <a:pt x="364846" y="35662"/>
                </a:lnTo>
                <a:lnTo>
                  <a:pt x="394106" y="58522"/>
                </a:lnTo>
                <a:lnTo>
                  <a:pt x="417881" y="71323"/>
                </a:lnTo>
                <a:lnTo>
                  <a:pt x="507492" y="99670"/>
                </a:lnTo>
                <a:lnTo>
                  <a:pt x="537667" y="148133"/>
                </a:lnTo>
                <a:lnTo>
                  <a:pt x="543154" y="163678"/>
                </a:lnTo>
                <a:lnTo>
                  <a:pt x="520294" y="172822"/>
                </a:lnTo>
                <a:lnTo>
                  <a:pt x="491033" y="175565"/>
                </a:lnTo>
                <a:lnTo>
                  <a:pt x="463601" y="176479"/>
                </a:lnTo>
                <a:lnTo>
                  <a:pt x="437083" y="167335"/>
                </a:lnTo>
                <a:lnTo>
                  <a:pt x="426110" y="160020"/>
                </a:lnTo>
                <a:lnTo>
                  <a:pt x="399593" y="156362"/>
                </a:lnTo>
                <a:lnTo>
                  <a:pt x="405994" y="149962"/>
                </a:lnTo>
                <a:lnTo>
                  <a:pt x="394106" y="146304"/>
                </a:lnTo>
                <a:lnTo>
                  <a:pt x="379476" y="147218"/>
                </a:lnTo>
                <a:lnTo>
                  <a:pt x="368503" y="166421"/>
                </a:lnTo>
                <a:lnTo>
                  <a:pt x="355702" y="181051"/>
                </a:lnTo>
                <a:lnTo>
                  <a:pt x="332842" y="179222"/>
                </a:lnTo>
                <a:lnTo>
                  <a:pt x="323698" y="167335"/>
                </a:lnTo>
                <a:lnTo>
                  <a:pt x="311810" y="172822"/>
                </a:lnTo>
                <a:lnTo>
                  <a:pt x="301752" y="181966"/>
                </a:lnTo>
                <a:lnTo>
                  <a:pt x="289865" y="216713"/>
                </a:lnTo>
                <a:lnTo>
                  <a:pt x="269748" y="199339"/>
                </a:lnTo>
                <a:lnTo>
                  <a:pt x="248717" y="185623"/>
                </a:lnTo>
                <a:lnTo>
                  <a:pt x="223114" y="179222"/>
                </a:lnTo>
                <a:lnTo>
                  <a:pt x="170993" y="178308"/>
                </a:lnTo>
                <a:lnTo>
                  <a:pt x="145390" y="172822"/>
                </a:lnTo>
                <a:lnTo>
                  <a:pt x="125273" y="143561"/>
                </a:lnTo>
                <a:lnTo>
                  <a:pt x="117043" y="135331"/>
                </a:lnTo>
                <a:lnTo>
                  <a:pt x="95098" y="127102"/>
                </a:lnTo>
                <a:lnTo>
                  <a:pt x="74981" y="94183"/>
                </a:lnTo>
                <a:lnTo>
                  <a:pt x="67666" y="89611"/>
                </a:lnTo>
                <a:lnTo>
                  <a:pt x="10973" y="81382"/>
                </a:lnTo>
                <a:lnTo>
                  <a:pt x="0" y="63094"/>
                </a:lnTo>
                <a:lnTo>
                  <a:pt x="3658" y="46634"/>
                </a:lnTo>
                <a:lnTo>
                  <a:pt x="21946" y="25603"/>
                </a:lnTo>
                <a:lnTo>
                  <a:pt x="31090" y="20117"/>
                </a:lnTo>
                <a:lnTo>
                  <a:pt x="62179" y="21031"/>
                </a:lnTo>
                <a:lnTo>
                  <a:pt x="91440" y="14630"/>
                </a:lnTo>
                <a:lnTo>
                  <a:pt x="104242" y="5486"/>
                </a:lnTo>
                <a:lnTo>
                  <a:pt x="118872" y="0"/>
                </a:lnTo>
                <a:lnTo>
                  <a:pt x="225857" y="14630"/>
                </a:lnTo>
                <a:lnTo>
                  <a:pt x="250546" y="14630"/>
                </a:lnTo>
                <a:close/>
              </a:path>
            </a:pathLst>
          </a:custGeom>
          <a:solidFill>
            <a:srgbClr val="EAF4F4"/>
          </a:solidFill>
          <a:ln w="7620">
            <a:solidFill>
              <a:srgbClr val="8CBBCB"/>
            </a:solidFill>
            <a:prstDash val="solid"/>
          </a:ln>
        </p:spPr>
      </p:sp>
      <p:sp>
        <p:nvSpPr>
          <p:cNvPr id="38" name="Map – Haiti"/>
          <p:cNvSpPr/>
          <p:nvPr/>
        </p:nvSpPr>
        <p:spPr>
          <a:xfrm>
            <a:off x="7677302" y="3565246"/>
            <a:ext cx="724205" cy="555041"/>
          </a:xfrm>
          <a:custGeom>
            <a:avLst/>
            <a:gdLst/>
            <a:ahLst/>
            <a:cxnLst/>
            <a:rect l="l" t="t" r="r" b="b"/>
            <a:pathLst>
              <a:path w="724205" h="555041">
                <a:moveTo>
                  <a:pt x="689458" y="102413"/>
                </a:moveTo>
                <a:lnTo>
                  <a:pt x="694944" y="109728"/>
                </a:lnTo>
                <a:lnTo>
                  <a:pt x="706831" y="164592"/>
                </a:lnTo>
                <a:lnTo>
                  <a:pt x="707746" y="182880"/>
                </a:lnTo>
                <a:lnTo>
                  <a:pt x="695858" y="208483"/>
                </a:lnTo>
                <a:lnTo>
                  <a:pt x="697687" y="219456"/>
                </a:lnTo>
                <a:lnTo>
                  <a:pt x="724205" y="243230"/>
                </a:lnTo>
                <a:lnTo>
                  <a:pt x="724205" y="252374"/>
                </a:lnTo>
                <a:lnTo>
                  <a:pt x="721462" y="260604"/>
                </a:lnTo>
                <a:lnTo>
                  <a:pt x="698602" y="283464"/>
                </a:lnTo>
                <a:lnTo>
                  <a:pt x="682142" y="299923"/>
                </a:lnTo>
                <a:lnTo>
                  <a:pt x="687629" y="318211"/>
                </a:lnTo>
                <a:lnTo>
                  <a:pt x="701345" y="334670"/>
                </a:lnTo>
                <a:lnTo>
                  <a:pt x="703174" y="349301"/>
                </a:lnTo>
                <a:lnTo>
                  <a:pt x="698602" y="368503"/>
                </a:lnTo>
                <a:lnTo>
                  <a:pt x="678485" y="392278"/>
                </a:lnTo>
                <a:lnTo>
                  <a:pt x="667512" y="400507"/>
                </a:lnTo>
                <a:lnTo>
                  <a:pt x="636422" y="401422"/>
                </a:lnTo>
                <a:lnTo>
                  <a:pt x="633679" y="405079"/>
                </a:lnTo>
                <a:lnTo>
                  <a:pt x="648310" y="427939"/>
                </a:lnTo>
                <a:lnTo>
                  <a:pt x="665683" y="453542"/>
                </a:lnTo>
                <a:lnTo>
                  <a:pt x="694030" y="473659"/>
                </a:lnTo>
                <a:lnTo>
                  <a:pt x="700430" y="492862"/>
                </a:lnTo>
                <a:lnTo>
                  <a:pt x="693115" y="510235"/>
                </a:lnTo>
                <a:lnTo>
                  <a:pt x="692201" y="555041"/>
                </a:lnTo>
                <a:lnTo>
                  <a:pt x="671170" y="533095"/>
                </a:lnTo>
                <a:lnTo>
                  <a:pt x="647395" y="515722"/>
                </a:lnTo>
                <a:lnTo>
                  <a:pt x="632765" y="508406"/>
                </a:lnTo>
                <a:lnTo>
                  <a:pt x="618134" y="503834"/>
                </a:lnTo>
                <a:lnTo>
                  <a:pt x="504749" y="506578"/>
                </a:lnTo>
                <a:lnTo>
                  <a:pt x="491947" y="509321"/>
                </a:lnTo>
                <a:lnTo>
                  <a:pt x="481889" y="515722"/>
                </a:lnTo>
                <a:lnTo>
                  <a:pt x="471830" y="518465"/>
                </a:lnTo>
                <a:lnTo>
                  <a:pt x="440741" y="523951"/>
                </a:lnTo>
                <a:lnTo>
                  <a:pt x="409651" y="524866"/>
                </a:lnTo>
                <a:lnTo>
                  <a:pt x="336499" y="510235"/>
                </a:lnTo>
                <a:lnTo>
                  <a:pt x="308153" y="502920"/>
                </a:lnTo>
                <a:lnTo>
                  <a:pt x="279806" y="498348"/>
                </a:lnTo>
                <a:lnTo>
                  <a:pt x="246888" y="499262"/>
                </a:lnTo>
                <a:lnTo>
                  <a:pt x="213970" y="503834"/>
                </a:lnTo>
                <a:lnTo>
                  <a:pt x="187452" y="514807"/>
                </a:lnTo>
                <a:lnTo>
                  <a:pt x="167335" y="533095"/>
                </a:lnTo>
                <a:lnTo>
                  <a:pt x="163678" y="549554"/>
                </a:lnTo>
                <a:lnTo>
                  <a:pt x="151790" y="554126"/>
                </a:lnTo>
                <a:lnTo>
                  <a:pt x="125273" y="526694"/>
                </a:lnTo>
                <a:lnTo>
                  <a:pt x="100584" y="507492"/>
                </a:lnTo>
                <a:lnTo>
                  <a:pt x="73152" y="493776"/>
                </a:lnTo>
                <a:lnTo>
                  <a:pt x="16459" y="472745"/>
                </a:lnTo>
                <a:lnTo>
                  <a:pt x="5486" y="459943"/>
                </a:lnTo>
                <a:lnTo>
                  <a:pt x="0" y="444398"/>
                </a:lnTo>
                <a:lnTo>
                  <a:pt x="24689" y="397764"/>
                </a:lnTo>
                <a:lnTo>
                  <a:pt x="50292" y="388620"/>
                </a:lnTo>
                <a:lnTo>
                  <a:pt x="64922" y="387706"/>
                </a:lnTo>
                <a:lnTo>
                  <a:pt x="96926" y="393192"/>
                </a:lnTo>
                <a:lnTo>
                  <a:pt x="128930" y="404165"/>
                </a:lnTo>
                <a:lnTo>
                  <a:pt x="157277" y="410566"/>
                </a:lnTo>
                <a:lnTo>
                  <a:pt x="202997" y="413309"/>
                </a:lnTo>
                <a:lnTo>
                  <a:pt x="227686" y="425196"/>
                </a:lnTo>
                <a:lnTo>
                  <a:pt x="399593" y="442570"/>
                </a:lnTo>
                <a:lnTo>
                  <a:pt x="431597" y="448970"/>
                </a:lnTo>
                <a:lnTo>
                  <a:pt x="444398" y="447142"/>
                </a:lnTo>
                <a:lnTo>
                  <a:pt x="455371" y="439826"/>
                </a:lnTo>
                <a:lnTo>
                  <a:pt x="464515" y="427025"/>
                </a:lnTo>
                <a:lnTo>
                  <a:pt x="475488" y="416966"/>
                </a:lnTo>
                <a:lnTo>
                  <a:pt x="526694" y="415138"/>
                </a:lnTo>
                <a:lnTo>
                  <a:pt x="537667" y="411480"/>
                </a:lnTo>
                <a:lnTo>
                  <a:pt x="544982" y="397764"/>
                </a:lnTo>
                <a:lnTo>
                  <a:pt x="544982" y="384048"/>
                </a:lnTo>
                <a:lnTo>
                  <a:pt x="513893" y="365760"/>
                </a:lnTo>
                <a:lnTo>
                  <a:pt x="467258" y="325526"/>
                </a:lnTo>
                <a:lnTo>
                  <a:pt x="426110" y="277063"/>
                </a:lnTo>
                <a:lnTo>
                  <a:pt x="444398" y="260604"/>
                </a:lnTo>
                <a:lnTo>
                  <a:pt x="437083" y="231343"/>
                </a:lnTo>
                <a:lnTo>
                  <a:pt x="444398" y="203911"/>
                </a:lnTo>
                <a:lnTo>
                  <a:pt x="453542" y="177394"/>
                </a:lnTo>
                <a:lnTo>
                  <a:pt x="413309" y="154534"/>
                </a:lnTo>
                <a:lnTo>
                  <a:pt x="364846" y="130759"/>
                </a:lnTo>
                <a:lnTo>
                  <a:pt x="297180" y="124358"/>
                </a:lnTo>
                <a:lnTo>
                  <a:pt x="277063" y="117958"/>
                </a:lnTo>
                <a:lnTo>
                  <a:pt x="266090" y="101498"/>
                </a:lnTo>
                <a:lnTo>
                  <a:pt x="276149" y="77724"/>
                </a:lnTo>
                <a:lnTo>
                  <a:pt x="297180" y="64922"/>
                </a:lnTo>
                <a:lnTo>
                  <a:pt x="321869" y="57607"/>
                </a:lnTo>
                <a:lnTo>
                  <a:pt x="347472" y="51206"/>
                </a:lnTo>
                <a:lnTo>
                  <a:pt x="409651" y="44806"/>
                </a:lnTo>
                <a:lnTo>
                  <a:pt x="470916" y="52121"/>
                </a:lnTo>
                <a:lnTo>
                  <a:pt x="523037" y="75895"/>
                </a:lnTo>
                <a:lnTo>
                  <a:pt x="577901" y="95098"/>
                </a:lnTo>
                <a:lnTo>
                  <a:pt x="644652" y="101498"/>
                </a:lnTo>
                <a:lnTo>
                  <a:pt x="675742" y="107899"/>
                </a:lnTo>
                <a:close/>
                <a:moveTo>
                  <a:pt x="427939" y="356616"/>
                </a:moveTo>
                <a:lnTo>
                  <a:pt x="423367" y="374904"/>
                </a:lnTo>
                <a:lnTo>
                  <a:pt x="358445" y="352958"/>
                </a:lnTo>
                <a:lnTo>
                  <a:pt x="305410" y="323698"/>
                </a:lnTo>
                <a:lnTo>
                  <a:pt x="307238" y="309067"/>
                </a:lnTo>
                <a:lnTo>
                  <a:pt x="334670" y="305410"/>
                </a:lnTo>
                <a:lnTo>
                  <a:pt x="361188" y="314554"/>
                </a:lnTo>
                <a:lnTo>
                  <a:pt x="398678" y="333756"/>
                </a:lnTo>
                <a:close/>
                <a:moveTo>
                  <a:pt x="463601" y="15545"/>
                </a:moveTo>
                <a:lnTo>
                  <a:pt x="474574" y="21031"/>
                </a:lnTo>
                <a:lnTo>
                  <a:pt x="470002" y="29261"/>
                </a:lnTo>
                <a:lnTo>
                  <a:pt x="444398" y="24689"/>
                </a:lnTo>
                <a:lnTo>
                  <a:pt x="417881" y="15545"/>
                </a:lnTo>
                <a:lnTo>
                  <a:pt x="409651" y="18288"/>
                </a:lnTo>
                <a:lnTo>
                  <a:pt x="404165" y="17374"/>
                </a:lnTo>
                <a:lnTo>
                  <a:pt x="388620" y="8230"/>
                </a:lnTo>
                <a:lnTo>
                  <a:pt x="402336" y="1829"/>
                </a:lnTo>
                <a:lnTo>
                  <a:pt x="416052" y="0"/>
                </a:lnTo>
                <a:lnTo>
                  <a:pt x="431597" y="914"/>
                </a:lnTo>
                <a:close/>
              </a:path>
            </a:pathLst>
          </a:custGeom>
          <a:solidFill>
            <a:srgbClr val="EAF4F4"/>
          </a:solidFill>
          <a:ln w="7620">
            <a:solidFill>
              <a:srgbClr val="8CBBCB"/>
            </a:solidFill>
            <a:prstDash val="solid"/>
          </a:ln>
        </p:spPr>
      </p:sp>
      <p:sp>
        <p:nvSpPr>
          <p:cNvPr id="39" name="Map – Grenada"/>
          <p:cNvSpPr/>
          <p:nvPr/>
        </p:nvSpPr>
        <p:spPr>
          <a:xfrm>
            <a:off x="10919765" y="5655564"/>
            <a:ext cx="44806" cy="59436"/>
          </a:xfrm>
          <a:custGeom>
            <a:avLst/>
            <a:gdLst/>
            <a:ahLst/>
            <a:cxnLst/>
            <a:rect l="l" t="t" r="r" b="b"/>
            <a:pathLst>
              <a:path w="44806" h="59436">
                <a:moveTo>
                  <a:pt x="16459" y="58522"/>
                </a:moveTo>
                <a:lnTo>
                  <a:pt x="0" y="59436"/>
                </a:lnTo>
                <a:lnTo>
                  <a:pt x="6401" y="50292"/>
                </a:lnTo>
                <a:lnTo>
                  <a:pt x="8230" y="33833"/>
                </a:lnTo>
                <a:lnTo>
                  <a:pt x="17374" y="13716"/>
                </a:lnTo>
                <a:lnTo>
                  <a:pt x="31090" y="0"/>
                </a:lnTo>
                <a:lnTo>
                  <a:pt x="44806" y="3658"/>
                </a:lnTo>
                <a:lnTo>
                  <a:pt x="39319" y="48463"/>
                </a:lnTo>
                <a:close/>
              </a:path>
            </a:pathLst>
          </a:custGeom>
          <a:solidFill>
            <a:srgbClr val="EAF4F4"/>
          </a:solidFill>
          <a:ln w="7620">
            <a:solidFill>
              <a:srgbClr val="8CBBCB"/>
            </a:solidFill>
            <a:prstDash val="solid"/>
          </a:ln>
        </p:spPr>
      </p:sp>
      <p:sp>
        <p:nvSpPr>
          <p:cNvPr id="40" name="Map – France"/>
          <p:cNvSpPr/>
          <p:nvPr/>
        </p:nvSpPr>
        <p:spPr>
          <a:xfrm>
            <a:off x="10917022" y="4529938"/>
            <a:ext cx="245974" cy="551383"/>
          </a:xfrm>
          <a:custGeom>
            <a:avLst/>
            <a:gdLst/>
            <a:ahLst/>
            <a:cxnLst/>
            <a:rect l="l" t="t" r="r" b="b"/>
            <a:pathLst>
              <a:path w="245974" h="551383">
                <a:moveTo>
                  <a:pt x="245974" y="533095"/>
                </a:moveTo>
                <a:lnTo>
                  <a:pt x="244145" y="548640"/>
                </a:lnTo>
                <a:lnTo>
                  <a:pt x="237744" y="551383"/>
                </a:lnTo>
                <a:lnTo>
                  <a:pt x="227686" y="538582"/>
                </a:lnTo>
                <a:lnTo>
                  <a:pt x="186538" y="540410"/>
                </a:lnTo>
                <a:lnTo>
                  <a:pt x="180137" y="529438"/>
                </a:lnTo>
                <a:lnTo>
                  <a:pt x="179222" y="523951"/>
                </a:lnTo>
                <a:lnTo>
                  <a:pt x="199339" y="504749"/>
                </a:lnTo>
                <a:lnTo>
                  <a:pt x="175565" y="500177"/>
                </a:lnTo>
                <a:lnTo>
                  <a:pt x="166421" y="491947"/>
                </a:lnTo>
                <a:lnTo>
                  <a:pt x="146304" y="451714"/>
                </a:lnTo>
                <a:lnTo>
                  <a:pt x="148133" y="439826"/>
                </a:lnTo>
                <a:lnTo>
                  <a:pt x="156362" y="434340"/>
                </a:lnTo>
                <a:lnTo>
                  <a:pt x="170078" y="433426"/>
                </a:lnTo>
                <a:lnTo>
                  <a:pt x="195682" y="446227"/>
                </a:lnTo>
                <a:lnTo>
                  <a:pt x="213970" y="464515"/>
                </a:lnTo>
                <a:lnTo>
                  <a:pt x="220370" y="464515"/>
                </a:lnTo>
                <a:lnTo>
                  <a:pt x="223114" y="470002"/>
                </a:lnTo>
                <a:lnTo>
                  <a:pt x="219456" y="482803"/>
                </a:lnTo>
                <a:lnTo>
                  <a:pt x="230429" y="493776"/>
                </a:lnTo>
                <a:lnTo>
                  <a:pt x="235001" y="502006"/>
                </a:lnTo>
                <a:close/>
                <a:moveTo>
                  <a:pt x="118872" y="74066"/>
                </a:moveTo>
                <a:lnTo>
                  <a:pt x="88697" y="76810"/>
                </a:lnTo>
                <a:lnTo>
                  <a:pt x="68580" y="74066"/>
                </a:lnTo>
                <a:lnTo>
                  <a:pt x="64008" y="54864"/>
                </a:lnTo>
                <a:lnTo>
                  <a:pt x="74066" y="39319"/>
                </a:lnTo>
                <a:lnTo>
                  <a:pt x="66751" y="19202"/>
                </a:lnTo>
                <a:lnTo>
                  <a:pt x="71323" y="8230"/>
                </a:lnTo>
                <a:lnTo>
                  <a:pt x="81382" y="0"/>
                </a:lnTo>
                <a:lnTo>
                  <a:pt x="97841" y="10058"/>
                </a:lnTo>
                <a:lnTo>
                  <a:pt x="100584" y="24689"/>
                </a:lnTo>
                <a:lnTo>
                  <a:pt x="111557" y="38405"/>
                </a:lnTo>
                <a:lnTo>
                  <a:pt x="158191" y="66751"/>
                </a:lnTo>
                <a:close/>
                <a:moveTo>
                  <a:pt x="51206" y="133502"/>
                </a:moveTo>
                <a:lnTo>
                  <a:pt x="31090" y="145390"/>
                </a:lnTo>
                <a:lnTo>
                  <a:pt x="21031" y="141732"/>
                </a:lnTo>
                <a:lnTo>
                  <a:pt x="8230" y="117958"/>
                </a:lnTo>
                <a:lnTo>
                  <a:pt x="0" y="54864"/>
                </a:lnTo>
                <a:lnTo>
                  <a:pt x="6401" y="44806"/>
                </a:lnTo>
                <a:lnTo>
                  <a:pt x="10973" y="40234"/>
                </a:lnTo>
                <a:lnTo>
                  <a:pt x="38405" y="48463"/>
                </a:lnTo>
                <a:lnTo>
                  <a:pt x="49378" y="56693"/>
                </a:lnTo>
                <a:lnTo>
                  <a:pt x="61265" y="63094"/>
                </a:lnTo>
                <a:lnTo>
                  <a:pt x="54864" y="74981"/>
                </a:lnTo>
                <a:lnTo>
                  <a:pt x="58522" y="122530"/>
                </a:lnTo>
                <a:close/>
                <a:moveTo>
                  <a:pt x="143561" y="163678"/>
                </a:moveTo>
                <a:lnTo>
                  <a:pt x="129845" y="164592"/>
                </a:lnTo>
                <a:lnTo>
                  <a:pt x="123444" y="162763"/>
                </a:lnTo>
                <a:lnTo>
                  <a:pt x="121615" y="147218"/>
                </a:lnTo>
                <a:lnTo>
                  <a:pt x="132588" y="136246"/>
                </a:lnTo>
                <a:lnTo>
                  <a:pt x="138989" y="133502"/>
                </a:lnTo>
                <a:lnTo>
                  <a:pt x="148133" y="145390"/>
                </a:lnTo>
                <a:lnTo>
                  <a:pt x="150876" y="155448"/>
                </a:lnTo>
                <a:close/>
              </a:path>
            </a:pathLst>
          </a:custGeom>
          <a:solidFill>
            <a:srgbClr val="EAF4F4"/>
          </a:solidFill>
          <a:ln w="7620">
            <a:solidFill>
              <a:srgbClr val="8CBBCB"/>
            </a:solidFill>
            <a:prstDash val="solid"/>
          </a:ln>
        </p:spPr>
      </p:sp>
      <p:sp>
        <p:nvSpPr>
          <p:cNvPr id="41" name="Map – St-Martin"/>
          <p:cNvSpPr/>
          <p:nvPr/>
        </p:nvSpPr>
        <p:spPr>
          <a:xfrm>
            <a:off x="10576865" y="4100170"/>
            <a:ext cx="29261" cy="11887"/>
          </a:xfrm>
          <a:custGeom>
            <a:avLst/>
            <a:gdLst/>
            <a:ahLst/>
            <a:cxnLst/>
            <a:rect l="l" t="t" r="r" b="b"/>
            <a:pathLst>
              <a:path w="29261" h="11887">
                <a:moveTo>
                  <a:pt x="29261" y="11887"/>
                </a:moveTo>
                <a:lnTo>
                  <a:pt x="0" y="11887"/>
                </a:lnTo>
                <a:lnTo>
                  <a:pt x="2743" y="6401"/>
                </a:lnTo>
                <a:lnTo>
                  <a:pt x="15545" y="0"/>
                </a:lnTo>
                <a:lnTo>
                  <a:pt x="25603" y="914"/>
                </a:lnTo>
                <a:lnTo>
                  <a:pt x="29261" y="2743"/>
                </a:lnTo>
                <a:close/>
              </a:path>
            </a:pathLst>
          </a:custGeom>
          <a:solidFill>
            <a:srgbClr val="EAF4F4"/>
          </a:solidFill>
          <a:ln w="7620">
            <a:solidFill>
              <a:srgbClr val="8CBBCB"/>
            </a:solidFill>
            <a:prstDash val="solid"/>
          </a:ln>
        </p:spPr>
      </p:sp>
      <p:sp>
        <p:nvSpPr>
          <p:cNvPr id="42" name="Map – St-Barthélemy"/>
          <p:cNvSpPr/>
          <p:nvPr/>
        </p:nvSpPr>
        <p:spPr>
          <a:xfrm>
            <a:off x="10639958" y="4151376"/>
            <a:ext cx="19202" cy="12802"/>
          </a:xfrm>
          <a:custGeom>
            <a:avLst/>
            <a:gdLst/>
            <a:ahLst/>
            <a:cxnLst/>
            <a:rect l="l" t="t" r="r" b="b"/>
            <a:pathLst>
              <a:path w="19202" h="12802">
                <a:moveTo>
                  <a:pt x="10973" y="12802"/>
                </a:moveTo>
                <a:lnTo>
                  <a:pt x="7315" y="12802"/>
                </a:lnTo>
                <a:lnTo>
                  <a:pt x="4572" y="10973"/>
                </a:lnTo>
                <a:lnTo>
                  <a:pt x="1829" y="6401"/>
                </a:lnTo>
                <a:lnTo>
                  <a:pt x="0" y="2743"/>
                </a:lnTo>
                <a:lnTo>
                  <a:pt x="914" y="0"/>
                </a:lnTo>
                <a:lnTo>
                  <a:pt x="2743" y="1829"/>
                </a:lnTo>
                <a:lnTo>
                  <a:pt x="19202" y="3658"/>
                </a:lnTo>
                <a:lnTo>
                  <a:pt x="17374" y="7315"/>
                </a:lnTo>
                <a:lnTo>
                  <a:pt x="14630" y="10058"/>
                </a:lnTo>
                <a:close/>
              </a:path>
            </a:pathLst>
          </a:custGeom>
          <a:solidFill>
            <a:srgbClr val="EAF4F4"/>
          </a:solidFill>
          <a:ln w="7620">
            <a:solidFill>
              <a:srgbClr val="8CBBCB"/>
            </a:solidFill>
            <a:prstDash val="solid"/>
          </a:ln>
        </p:spPr>
      </p:sp>
      <p:sp>
        <p:nvSpPr>
          <p:cNvPr id="43" name="Map – Dominican Rep."/>
          <p:cNvSpPr/>
          <p:nvPr/>
        </p:nvSpPr>
        <p:spPr>
          <a:xfrm>
            <a:off x="8310982" y="3613709"/>
            <a:ext cx="934517" cy="615391"/>
          </a:xfrm>
          <a:custGeom>
            <a:avLst/>
            <a:gdLst/>
            <a:ahLst/>
            <a:cxnLst/>
            <a:rect l="l" t="t" r="r" b="b"/>
            <a:pathLst>
              <a:path w="934517" h="615391">
                <a:moveTo>
                  <a:pt x="58522" y="506578"/>
                </a:moveTo>
                <a:lnTo>
                  <a:pt x="59436" y="461772"/>
                </a:lnTo>
                <a:lnTo>
                  <a:pt x="66751" y="444398"/>
                </a:lnTo>
                <a:lnTo>
                  <a:pt x="60350" y="425196"/>
                </a:lnTo>
                <a:lnTo>
                  <a:pt x="32004" y="405079"/>
                </a:lnTo>
                <a:lnTo>
                  <a:pt x="14630" y="379476"/>
                </a:lnTo>
                <a:lnTo>
                  <a:pt x="0" y="356616"/>
                </a:lnTo>
                <a:lnTo>
                  <a:pt x="2743" y="352958"/>
                </a:lnTo>
                <a:lnTo>
                  <a:pt x="33833" y="352044"/>
                </a:lnTo>
                <a:lnTo>
                  <a:pt x="44806" y="343814"/>
                </a:lnTo>
                <a:lnTo>
                  <a:pt x="64922" y="320040"/>
                </a:lnTo>
                <a:lnTo>
                  <a:pt x="69494" y="300838"/>
                </a:lnTo>
                <a:lnTo>
                  <a:pt x="67666" y="286207"/>
                </a:lnTo>
                <a:lnTo>
                  <a:pt x="53950" y="269748"/>
                </a:lnTo>
                <a:lnTo>
                  <a:pt x="48463" y="251460"/>
                </a:lnTo>
                <a:lnTo>
                  <a:pt x="64922" y="235001"/>
                </a:lnTo>
                <a:lnTo>
                  <a:pt x="87782" y="212141"/>
                </a:lnTo>
                <a:lnTo>
                  <a:pt x="90526" y="203911"/>
                </a:lnTo>
                <a:lnTo>
                  <a:pt x="90526" y="194767"/>
                </a:lnTo>
                <a:lnTo>
                  <a:pt x="64008" y="170993"/>
                </a:lnTo>
                <a:lnTo>
                  <a:pt x="62179" y="160020"/>
                </a:lnTo>
                <a:lnTo>
                  <a:pt x="74066" y="134417"/>
                </a:lnTo>
                <a:lnTo>
                  <a:pt x="73152" y="116129"/>
                </a:lnTo>
                <a:lnTo>
                  <a:pt x="61265" y="61265"/>
                </a:lnTo>
                <a:lnTo>
                  <a:pt x="55778" y="53950"/>
                </a:lnTo>
                <a:lnTo>
                  <a:pt x="66751" y="48463"/>
                </a:lnTo>
                <a:lnTo>
                  <a:pt x="74066" y="32918"/>
                </a:lnTo>
                <a:lnTo>
                  <a:pt x="85039" y="18288"/>
                </a:lnTo>
                <a:lnTo>
                  <a:pt x="97841" y="10058"/>
                </a:lnTo>
                <a:lnTo>
                  <a:pt x="113386" y="5486"/>
                </a:lnTo>
                <a:lnTo>
                  <a:pt x="142646" y="6401"/>
                </a:lnTo>
                <a:lnTo>
                  <a:pt x="182880" y="18288"/>
                </a:lnTo>
                <a:lnTo>
                  <a:pt x="194767" y="18288"/>
                </a:lnTo>
                <a:lnTo>
                  <a:pt x="234086" y="7315"/>
                </a:lnTo>
                <a:lnTo>
                  <a:pt x="267005" y="0"/>
                </a:lnTo>
                <a:lnTo>
                  <a:pt x="298094" y="8230"/>
                </a:lnTo>
                <a:lnTo>
                  <a:pt x="309982" y="17374"/>
                </a:lnTo>
                <a:lnTo>
                  <a:pt x="335585" y="32918"/>
                </a:lnTo>
                <a:lnTo>
                  <a:pt x="348386" y="38405"/>
                </a:lnTo>
                <a:lnTo>
                  <a:pt x="387706" y="37490"/>
                </a:lnTo>
                <a:lnTo>
                  <a:pt x="398678" y="39319"/>
                </a:lnTo>
                <a:lnTo>
                  <a:pt x="433426" y="64922"/>
                </a:lnTo>
                <a:lnTo>
                  <a:pt x="460858" y="74981"/>
                </a:lnTo>
                <a:lnTo>
                  <a:pt x="477317" y="75895"/>
                </a:lnTo>
                <a:lnTo>
                  <a:pt x="506578" y="65837"/>
                </a:lnTo>
                <a:lnTo>
                  <a:pt x="521208" y="65837"/>
                </a:lnTo>
                <a:lnTo>
                  <a:pt x="537667" y="88697"/>
                </a:lnTo>
                <a:lnTo>
                  <a:pt x="541325" y="119786"/>
                </a:lnTo>
                <a:lnTo>
                  <a:pt x="555041" y="148133"/>
                </a:lnTo>
                <a:lnTo>
                  <a:pt x="576986" y="166421"/>
                </a:lnTo>
                <a:lnTo>
                  <a:pt x="683057" y="159106"/>
                </a:lnTo>
                <a:lnTo>
                  <a:pt x="705917" y="174650"/>
                </a:lnTo>
                <a:lnTo>
                  <a:pt x="698602" y="187452"/>
                </a:lnTo>
                <a:lnTo>
                  <a:pt x="683057" y="193853"/>
                </a:lnTo>
                <a:lnTo>
                  <a:pt x="633679" y="191110"/>
                </a:lnTo>
                <a:lnTo>
                  <a:pt x="611734" y="192024"/>
                </a:lnTo>
                <a:lnTo>
                  <a:pt x="607162" y="204826"/>
                </a:lnTo>
                <a:lnTo>
                  <a:pt x="607162" y="215798"/>
                </a:lnTo>
                <a:lnTo>
                  <a:pt x="636422" y="218542"/>
                </a:lnTo>
                <a:lnTo>
                  <a:pt x="664769" y="224942"/>
                </a:lnTo>
                <a:lnTo>
                  <a:pt x="694030" y="234086"/>
                </a:lnTo>
                <a:lnTo>
                  <a:pt x="724205" y="240487"/>
                </a:lnTo>
                <a:lnTo>
                  <a:pt x="757123" y="244145"/>
                </a:lnTo>
                <a:lnTo>
                  <a:pt x="790956" y="250546"/>
                </a:lnTo>
                <a:lnTo>
                  <a:pt x="846734" y="273406"/>
                </a:lnTo>
                <a:lnTo>
                  <a:pt x="907085" y="324612"/>
                </a:lnTo>
                <a:lnTo>
                  <a:pt x="923544" y="336499"/>
                </a:lnTo>
                <a:lnTo>
                  <a:pt x="934517" y="352044"/>
                </a:lnTo>
                <a:lnTo>
                  <a:pt x="929030" y="372161"/>
                </a:lnTo>
                <a:lnTo>
                  <a:pt x="907085" y="405079"/>
                </a:lnTo>
                <a:lnTo>
                  <a:pt x="895198" y="415138"/>
                </a:lnTo>
                <a:lnTo>
                  <a:pt x="876910" y="421538"/>
                </a:lnTo>
                <a:lnTo>
                  <a:pt x="865022" y="434340"/>
                </a:lnTo>
                <a:lnTo>
                  <a:pt x="853135" y="457200"/>
                </a:lnTo>
                <a:lnTo>
                  <a:pt x="845820" y="459029"/>
                </a:lnTo>
                <a:lnTo>
                  <a:pt x="837590" y="458114"/>
                </a:lnTo>
                <a:lnTo>
                  <a:pt x="822960" y="445313"/>
                </a:lnTo>
                <a:lnTo>
                  <a:pt x="811987" y="426110"/>
                </a:lnTo>
                <a:lnTo>
                  <a:pt x="782726" y="407822"/>
                </a:lnTo>
                <a:lnTo>
                  <a:pt x="747065" y="409651"/>
                </a:lnTo>
                <a:lnTo>
                  <a:pt x="695858" y="398678"/>
                </a:lnTo>
                <a:lnTo>
                  <a:pt x="664769" y="404165"/>
                </a:lnTo>
                <a:lnTo>
                  <a:pt x="633679" y="405079"/>
                </a:lnTo>
                <a:lnTo>
                  <a:pt x="600761" y="399593"/>
                </a:lnTo>
                <a:lnTo>
                  <a:pt x="568757" y="397764"/>
                </a:lnTo>
                <a:lnTo>
                  <a:pt x="536753" y="405079"/>
                </a:lnTo>
                <a:lnTo>
                  <a:pt x="505663" y="416052"/>
                </a:lnTo>
                <a:lnTo>
                  <a:pt x="494690" y="424282"/>
                </a:lnTo>
                <a:lnTo>
                  <a:pt x="474574" y="442570"/>
                </a:lnTo>
                <a:lnTo>
                  <a:pt x="463601" y="449885"/>
                </a:lnTo>
                <a:lnTo>
                  <a:pt x="387706" y="459029"/>
                </a:lnTo>
                <a:lnTo>
                  <a:pt x="365760" y="445313"/>
                </a:lnTo>
                <a:lnTo>
                  <a:pt x="345643" y="427025"/>
                </a:lnTo>
                <a:lnTo>
                  <a:pt x="316382" y="424282"/>
                </a:lnTo>
                <a:lnTo>
                  <a:pt x="274320" y="437998"/>
                </a:lnTo>
                <a:lnTo>
                  <a:pt x="247802" y="443484"/>
                </a:lnTo>
                <a:lnTo>
                  <a:pt x="236830" y="449885"/>
                </a:lnTo>
                <a:lnTo>
                  <a:pt x="234086" y="456286"/>
                </a:lnTo>
                <a:lnTo>
                  <a:pt x="234086" y="482803"/>
                </a:lnTo>
                <a:lnTo>
                  <a:pt x="227686" y="498348"/>
                </a:lnTo>
                <a:lnTo>
                  <a:pt x="186538" y="556870"/>
                </a:lnTo>
                <a:lnTo>
                  <a:pt x="163678" y="598932"/>
                </a:lnTo>
                <a:lnTo>
                  <a:pt x="154534" y="612648"/>
                </a:lnTo>
                <a:lnTo>
                  <a:pt x="143561" y="615391"/>
                </a:lnTo>
                <a:lnTo>
                  <a:pt x="122530" y="590702"/>
                </a:lnTo>
                <a:lnTo>
                  <a:pt x="109728" y="581558"/>
                </a:lnTo>
                <a:lnTo>
                  <a:pt x="94183" y="577901"/>
                </a:lnTo>
                <a:lnTo>
                  <a:pt x="87782" y="565099"/>
                </a:lnTo>
                <a:lnTo>
                  <a:pt x="87782" y="546811"/>
                </a:lnTo>
                <a:lnTo>
                  <a:pt x="83210" y="529438"/>
                </a:lnTo>
                <a:lnTo>
                  <a:pt x="73152" y="515722"/>
                </a:lnTo>
                <a:close/>
              </a:path>
            </a:pathLst>
          </a:custGeom>
          <a:solidFill>
            <a:srgbClr val="EAF4F4"/>
          </a:solidFill>
          <a:ln w="7620">
            <a:solidFill>
              <a:srgbClr val="8CBBCB"/>
            </a:solidFill>
            <a:prstDash val="solid"/>
          </a:ln>
        </p:spPr>
      </p:sp>
      <p:sp>
        <p:nvSpPr>
          <p:cNvPr id="44" name="Map – Dominica"/>
          <p:cNvSpPr/>
          <p:nvPr/>
        </p:nvSpPr>
        <p:spPr>
          <a:xfrm>
            <a:off x="10996574" y="4762195"/>
            <a:ext cx="58522" cy="107899"/>
          </a:xfrm>
          <a:custGeom>
            <a:avLst/>
            <a:gdLst/>
            <a:ahLst/>
            <a:cxnLst/>
            <a:rect l="l" t="t" r="r" b="b"/>
            <a:pathLst>
              <a:path w="58522" h="107899">
                <a:moveTo>
                  <a:pt x="51206" y="101498"/>
                </a:moveTo>
                <a:lnTo>
                  <a:pt x="26518" y="107899"/>
                </a:lnTo>
                <a:lnTo>
                  <a:pt x="16459" y="61265"/>
                </a:lnTo>
                <a:lnTo>
                  <a:pt x="0" y="28346"/>
                </a:lnTo>
                <a:lnTo>
                  <a:pt x="2743" y="8230"/>
                </a:lnTo>
                <a:lnTo>
                  <a:pt x="5486" y="0"/>
                </a:lnTo>
                <a:lnTo>
                  <a:pt x="41148" y="12802"/>
                </a:lnTo>
                <a:lnTo>
                  <a:pt x="52121" y="28346"/>
                </a:lnTo>
                <a:lnTo>
                  <a:pt x="58522" y="68580"/>
                </a:lnTo>
                <a:close/>
              </a:path>
            </a:pathLst>
          </a:custGeom>
          <a:solidFill>
            <a:srgbClr val="EAF4F4"/>
          </a:solidFill>
          <a:ln w="7620">
            <a:solidFill>
              <a:srgbClr val="8CBBCB"/>
            </a:solidFill>
            <a:prstDash val="solid"/>
          </a:ln>
        </p:spPr>
      </p:sp>
      <p:sp>
        <p:nvSpPr>
          <p:cNvPr id="45" name="Map – Cuba"/>
          <p:cNvSpPr/>
          <p:nvPr/>
        </p:nvSpPr>
        <p:spPr>
          <a:xfrm>
            <a:off x="5020056" y="2714854"/>
            <a:ext cx="2745029" cy="915314"/>
          </a:xfrm>
          <a:custGeom>
            <a:avLst/>
            <a:gdLst/>
            <a:ahLst/>
            <a:cxnLst/>
            <a:rect l="l" t="t" r="r" b="b"/>
            <a:pathLst>
              <a:path w="2745029" h="915314">
                <a:moveTo>
                  <a:pt x="779069" y="7315"/>
                </a:moveTo>
                <a:lnTo>
                  <a:pt x="845820" y="20117"/>
                </a:lnTo>
                <a:lnTo>
                  <a:pt x="899770" y="16459"/>
                </a:lnTo>
                <a:lnTo>
                  <a:pt x="926287" y="9144"/>
                </a:lnTo>
                <a:lnTo>
                  <a:pt x="923544" y="16459"/>
                </a:lnTo>
                <a:lnTo>
                  <a:pt x="947318" y="35662"/>
                </a:lnTo>
                <a:lnTo>
                  <a:pt x="956462" y="37490"/>
                </a:lnTo>
                <a:lnTo>
                  <a:pt x="991210" y="27432"/>
                </a:lnTo>
                <a:lnTo>
                  <a:pt x="1082650" y="23774"/>
                </a:lnTo>
                <a:lnTo>
                  <a:pt x="1091794" y="29261"/>
                </a:lnTo>
                <a:lnTo>
                  <a:pt x="1108253" y="47549"/>
                </a:lnTo>
                <a:lnTo>
                  <a:pt x="1131113" y="59436"/>
                </a:lnTo>
                <a:lnTo>
                  <a:pt x="1154887" y="67666"/>
                </a:lnTo>
                <a:lnTo>
                  <a:pt x="1180490" y="70409"/>
                </a:lnTo>
                <a:lnTo>
                  <a:pt x="1205179" y="66751"/>
                </a:lnTo>
                <a:lnTo>
                  <a:pt x="1228954" y="68580"/>
                </a:lnTo>
                <a:lnTo>
                  <a:pt x="1259129" y="85954"/>
                </a:lnTo>
                <a:lnTo>
                  <a:pt x="1268273" y="88697"/>
                </a:lnTo>
                <a:lnTo>
                  <a:pt x="1293876" y="84125"/>
                </a:lnTo>
                <a:lnTo>
                  <a:pt x="1286561" y="100584"/>
                </a:lnTo>
                <a:lnTo>
                  <a:pt x="1330452" y="124358"/>
                </a:lnTo>
                <a:lnTo>
                  <a:pt x="1363370" y="169164"/>
                </a:lnTo>
                <a:lnTo>
                  <a:pt x="1386230" y="188366"/>
                </a:lnTo>
                <a:lnTo>
                  <a:pt x="1411834" y="204826"/>
                </a:lnTo>
                <a:lnTo>
                  <a:pt x="1433779" y="216713"/>
                </a:lnTo>
                <a:lnTo>
                  <a:pt x="1456639" y="222199"/>
                </a:lnTo>
                <a:lnTo>
                  <a:pt x="1528877" y="219456"/>
                </a:lnTo>
                <a:lnTo>
                  <a:pt x="1545336" y="221285"/>
                </a:lnTo>
                <a:lnTo>
                  <a:pt x="1560881" y="227686"/>
                </a:lnTo>
                <a:lnTo>
                  <a:pt x="1574597" y="230429"/>
                </a:lnTo>
                <a:lnTo>
                  <a:pt x="1582826" y="227686"/>
                </a:lnTo>
                <a:lnTo>
                  <a:pt x="1721815" y="299009"/>
                </a:lnTo>
                <a:lnTo>
                  <a:pt x="1765706" y="336499"/>
                </a:lnTo>
                <a:lnTo>
                  <a:pt x="1794053" y="356616"/>
                </a:lnTo>
                <a:lnTo>
                  <a:pt x="1851660" y="384048"/>
                </a:lnTo>
                <a:lnTo>
                  <a:pt x="1874520" y="390449"/>
                </a:lnTo>
                <a:lnTo>
                  <a:pt x="1887322" y="387706"/>
                </a:lnTo>
                <a:lnTo>
                  <a:pt x="1884578" y="380390"/>
                </a:lnTo>
                <a:lnTo>
                  <a:pt x="1868119" y="364846"/>
                </a:lnTo>
                <a:lnTo>
                  <a:pt x="1865376" y="359359"/>
                </a:lnTo>
                <a:lnTo>
                  <a:pt x="1887322" y="364846"/>
                </a:lnTo>
                <a:lnTo>
                  <a:pt x="1926641" y="396850"/>
                </a:lnTo>
                <a:lnTo>
                  <a:pt x="1937614" y="407822"/>
                </a:lnTo>
                <a:lnTo>
                  <a:pt x="1957730" y="418795"/>
                </a:lnTo>
                <a:lnTo>
                  <a:pt x="1977847" y="427025"/>
                </a:lnTo>
                <a:lnTo>
                  <a:pt x="1967789" y="438912"/>
                </a:lnTo>
                <a:lnTo>
                  <a:pt x="1951330" y="440741"/>
                </a:lnTo>
                <a:lnTo>
                  <a:pt x="1920240" y="435254"/>
                </a:lnTo>
                <a:lnTo>
                  <a:pt x="1944929" y="456286"/>
                </a:lnTo>
                <a:lnTo>
                  <a:pt x="1949501" y="470916"/>
                </a:lnTo>
                <a:lnTo>
                  <a:pt x="1961388" y="471830"/>
                </a:lnTo>
                <a:lnTo>
                  <a:pt x="1978762" y="455371"/>
                </a:lnTo>
                <a:lnTo>
                  <a:pt x="1988820" y="441655"/>
                </a:lnTo>
                <a:lnTo>
                  <a:pt x="2032711" y="477317"/>
                </a:lnTo>
                <a:lnTo>
                  <a:pt x="2055571" y="493776"/>
                </a:lnTo>
                <a:lnTo>
                  <a:pt x="2050085" y="502920"/>
                </a:lnTo>
                <a:lnTo>
                  <a:pt x="2048256" y="512978"/>
                </a:lnTo>
                <a:lnTo>
                  <a:pt x="2073859" y="503834"/>
                </a:lnTo>
                <a:lnTo>
                  <a:pt x="2083918" y="504749"/>
                </a:lnTo>
                <a:lnTo>
                  <a:pt x="2093062" y="510235"/>
                </a:lnTo>
                <a:lnTo>
                  <a:pt x="2104034" y="525780"/>
                </a:lnTo>
                <a:lnTo>
                  <a:pt x="2127809" y="528523"/>
                </a:lnTo>
                <a:lnTo>
                  <a:pt x="2153412" y="528523"/>
                </a:lnTo>
                <a:lnTo>
                  <a:pt x="2203704" y="541325"/>
                </a:lnTo>
                <a:lnTo>
                  <a:pt x="2250338" y="566928"/>
                </a:lnTo>
                <a:lnTo>
                  <a:pt x="2295144" y="572414"/>
                </a:lnTo>
                <a:lnTo>
                  <a:pt x="2340864" y="573329"/>
                </a:lnTo>
                <a:lnTo>
                  <a:pt x="2362810" y="586130"/>
                </a:lnTo>
                <a:lnTo>
                  <a:pt x="2372868" y="605333"/>
                </a:lnTo>
                <a:lnTo>
                  <a:pt x="2361895" y="618134"/>
                </a:lnTo>
                <a:lnTo>
                  <a:pt x="2355494" y="630936"/>
                </a:lnTo>
                <a:lnTo>
                  <a:pt x="2371954" y="647395"/>
                </a:lnTo>
                <a:lnTo>
                  <a:pt x="2336292" y="654710"/>
                </a:lnTo>
                <a:lnTo>
                  <a:pt x="2330806" y="664769"/>
                </a:lnTo>
                <a:lnTo>
                  <a:pt x="2332634" y="675742"/>
                </a:lnTo>
                <a:lnTo>
                  <a:pt x="2339950" y="681228"/>
                </a:lnTo>
                <a:lnTo>
                  <a:pt x="2360981" y="675742"/>
                </a:lnTo>
                <a:lnTo>
                  <a:pt x="2391156" y="681228"/>
                </a:lnTo>
                <a:lnTo>
                  <a:pt x="2437790" y="684886"/>
                </a:lnTo>
                <a:lnTo>
                  <a:pt x="2469794" y="681228"/>
                </a:lnTo>
                <a:lnTo>
                  <a:pt x="2535631" y="692201"/>
                </a:lnTo>
                <a:lnTo>
                  <a:pt x="2554834" y="698602"/>
                </a:lnTo>
                <a:lnTo>
                  <a:pt x="2593238" y="719633"/>
                </a:lnTo>
                <a:lnTo>
                  <a:pt x="2610612" y="734263"/>
                </a:lnTo>
                <a:lnTo>
                  <a:pt x="2649017" y="770839"/>
                </a:lnTo>
                <a:lnTo>
                  <a:pt x="2681935" y="785470"/>
                </a:lnTo>
                <a:lnTo>
                  <a:pt x="2710282" y="790042"/>
                </a:lnTo>
                <a:lnTo>
                  <a:pt x="2720340" y="787298"/>
                </a:lnTo>
                <a:lnTo>
                  <a:pt x="2729484" y="790956"/>
                </a:lnTo>
                <a:lnTo>
                  <a:pt x="2737714" y="796442"/>
                </a:lnTo>
                <a:lnTo>
                  <a:pt x="2745029" y="812902"/>
                </a:lnTo>
                <a:lnTo>
                  <a:pt x="2740457" y="830275"/>
                </a:lnTo>
                <a:lnTo>
                  <a:pt x="2724912" y="843991"/>
                </a:lnTo>
                <a:lnTo>
                  <a:pt x="2715768" y="854050"/>
                </a:lnTo>
                <a:lnTo>
                  <a:pt x="2675534" y="854964"/>
                </a:lnTo>
                <a:lnTo>
                  <a:pt x="2617927" y="860450"/>
                </a:lnTo>
                <a:lnTo>
                  <a:pt x="2563063" y="875081"/>
                </a:lnTo>
                <a:lnTo>
                  <a:pt x="2536546" y="886968"/>
                </a:lnTo>
                <a:lnTo>
                  <a:pt x="2523744" y="895198"/>
                </a:lnTo>
                <a:lnTo>
                  <a:pt x="2495398" y="902513"/>
                </a:lnTo>
                <a:lnTo>
                  <a:pt x="2493569" y="896112"/>
                </a:lnTo>
                <a:lnTo>
                  <a:pt x="2493569" y="887882"/>
                </a:lnTo>
                <a:lnTo>
                  <a:pt x="2486254" y="873252"/>
                </a:lnTo>
                <a:lnTo>
                  <a:pt x="2478938" y="886968"/>
                </a:lnTo>
                <a:lnTo>
                  <a:pt x="2467966" y="897026"/>
                </a:lnTo>
                <a:lnTo>
                  <a:pt x="2450592" y="905256"/>
                </a:lnTo>
                <a:lnTo>
                  <a:pt x="2383841" y="905256"/>
                </a:lnTo>
                <a:lnTo>
                  <a:pt x="2357323" y="894283"/>
                </a:lnTo>
                <a:lnTo>
                  <a:pt x="2329891" y="886054"/>
                </a:lnTo>
                <a:lnTo>
                  <a:pt x="2229307" y="878738"/>
                </a:lnTo>
                <a:lnTo>
                  <a:pt x="2204618" y="879653"/>
                </a:lnTo>
                <a:lnTo>
                  <a:pt x="2137867" y="887882"/>
                </a:lnTo>
                <a:lnTo>
                  <a:pt x="2070202" y="892454"/>
                </a:lnTo>
                <a:lnTo>
                  <a:pt x="2041855" y="897026"/>
                </a:lnTo>
                <a:lnTo>
                  <a:pt x="2014423" y="905256"/>
                </a:lnTo>
                <a:lnTo>
                  <a:pt x="1960474" y="905256"/>
                </a:lnTo>
                <a:lnTo>
                  <a:pt x="1895551" y="913486"/>
                </a:lnTo>
                <a:lnTo>
                  <a:pt x="1831543" y="915314"/>
                </a:lnTo>
                <a:lnTo>
                  <a:pt x="1872691" y="853135"/>
                </a:lnTo>
                <a:lnTo>
                  <a:pt x="1960474" y="794614"/>
                </a:lnTo>
                <a:lnTo>
                  <a:pt x="1976018" y="781812"/>
                </a:lnTo>
                <a:lnTo>
                  <a:pt x="1987906" y="765353"/>
                </a:lnTo>
                <a:lnTo>
                  <a:pt x="1990649" y="752551"/>
                </a:lnTo>
                <a:lnTo>
                  <a:pt x="1986991" y="741578"/>
                </a:lnTo>
                <a:lnTo>
                  <a:pt x="1965960" y="723290"/>
                </a:lnTo>
                <a:lnTo>
                  <a:pt x="1962302" y="709574"/>
                </a:lnTo>
                <a:lnTo>
                  <a:pt x="1954987" y="700430"/>
                </a:lnTo>
                <a:lnTo>
                  <a:pt x="1924812" y="692201"/>
                </a:lnTo>
                <a:lnTo>
                  <a:pt x="1894637" y="687629"/>
                </a:lnTo>
                <a:lnTo>
                  <a:pt x="1862633" y="687629"/>
                </a:lnTo>
                <a:lnTo>
                  <a:pt x="1795882" y="682142"/>
                </a:lnTo>
                <a:lnTo>
                  <a:pt x="1759306" y="681228"/>
                </a:lnTo>
                <a:lnTo>
                  <a:pt x="1729130" y="668426"/>
                </a:lnTo>
                <a:lnTo>
                  <a:pt x="1678838" y="622706"/>
                </a:lnTo>
                <a:lnTo>
                  <a:pt x="1655064" y="610819"/>
                </a:lnTo>
                <a:lnTo>
                  <a:pt x="1643177" y="599846"/>
                </a:lnTo>
                <a:lnTo>
                  <a:pt x="1634033" y="588874"/>
                </a:lnTo>
                <a:lnTo>
                  <a:pt x="1622146" y="522122"/>
                </a:lnTo>
                <a:lnTo>
                  <a:pt x="1612087" y="490118"/>
                </a:lnTo>
                <a:lnTo>
                  <a:pt x="1595628" y="461772"/>
                </a:lnTo>
                <a:lnTo>
                  <a:pt x="1572768" y="440741"/>
                </a:lnTo>
                <a:lnTo>
                  <a:pt x="1548079" y="433426"/>
                </a:lnTo>
                <a:lnTo>
                  <a:pt x="1455725" y="451714"/>
                </a:lnTo>
                <a:lnTo>
                  <a:pt x="1433779" y="448970"/>
                </a:lnTo>
                <a:lnTo>
                  <a:pt x="1411834" y="443484"/>
                </a:lnTo>
                <a:lnTo>
                  <a:pt x="1271016" y="399593"/>
                </a:lnTo>
                <a:lnTo>
                  <a:pt x="1212494" y="375818"/>
                </a:lnTo>
                <a:lnTo>
                  <a:pt x="1188720" y="363931"/>
                </a:lnTo>
                <a:lnTo>
                  <a:pt x="1168603" y="347472"/>
                </a:lnTo>
                <a:lnTo>
                  <a:pt x="1147572" y="319126"/>
                </a:lnTo>
                <a:lnTo>
                  <a:pt x="1124712" y="294437"/>
                </a:lnTo>
                <a:lnTo>
                  <a:pt x="1124712" y="304495"/>
                </a:lnTo>
                <a:lnTo>
                  <a:pt x="1121054" y="311810"/>
                </a:lnTo>
                <a:lnTo>
                  <a:pt x="1002182" y="314554"/>
                </a:lnTo>
                <a:lnTo>
                  <a:pt x="983894" y="308153"/>
                </a:lnTo>
                <a:lnTo>
                  <a:pt x="972007" y="301752"/>
                </a:lnTo>
                <a:lnTo>
                  <a:pt x="962863" y="291694"/>
                </a:lnTo>
                <a:lnTo>
                  <a:pt x="956462" y="271577"/>
                </a:lnTo>
                <a:lnTo>
                  <a:pt x="945490" y="255118"/>
                </a:lnTo>
                <a:lnTo>
                  <a:pt x="941832" y="273406"/>
                </a:lnTo>
                <a:lnTo>
                  <a:pt x="936346" y="288950"/>
                </a:lnTo>
                <a:lnTo>
                  <a:pt x="920801" y="299009"/>
                </a:lnTo>
                <a:lnTo>
                  <a:pt x="902513" y="299923"/>
                </a:lnTo>
                <a:lnTo>
                  <a:pt x="879653" y="277978"/>
                </a:lnTo>
                <a:lnTo>
                  <a:pt x="784555" y="273406"/>
                </a:lnTo>
                <a:lnTo>
                  <a:pt x="776326" y="269748"/>
                </a:lnTo>
                <a:lnTo>
                  <a:pt x="745236" y="248717"/>
                </a:lnTo>
                <a:lnTo>
                  <a:pt x="716890" y="222199"/>
                </a:lnTo>
                <a:lnTo>
                  <a:pt x="744322" y="213055"/>
                </a:lnTo>
                <a:lnTo>
                  <a:pt x="799186" y="200254"/>
                </a:lnTo>
                <a:lnTo>
                  <a:pt x="811073" y="192024"/>
                </a:lnTo>
                <a:lnTo>
                  <a:pt x="818388" y="181966"/>
                </a:lnTo>
                <a:lnTo>
                  <a:pt x="813816" y="165506"/>
                </a:lnTo>
                <a:lnTo>
                  <a:pt x="802843" y="154534"/>
                </a:lnTo>
                <a:lnTo>
                  <a:pt x="790956" y="147218"/>
                </a:lnTo>
                <a:lnTo>
                  <a:pt x="779069" y="143561"/>
                </a:lnTo>
                <a:lnTo>
                  <a:pt x="762610" y="140818"/>
                </a:lnTo>
                <a:lnTo>
                  <a:pt x="549554" y="138989"/>
                </a:lnTo>
                <a:lnTo>
                  <a:pt x="536753" y="147218"/>
                </a:lnTo>
                <a:lnTo>
                  <a:pt x="517550" y="164592"/>
                </a:lnTo>
                <a:lnTo>
                  <a:pt x="480060" y="186538"/>
                </a:lnTo>
                <a:lnTo>
                  <a:pt x="454457" y="210312"/>
                </a:lnTo>
                <a:lnTo>
                  <a:pt x="445313" y="222199"/>
                </a:lnTo>
                <a:lnTo>
                  <a:pt x="434340" y="231343"/>
                </a:lnTo>
                <a:lnTo>
                  <a:pt x="407822" y="245059"/>
                </a:lnTo>
                <a:lnTo>
                  <a:pt x="385877" y="267005"/>
                </a:lnTo>
                <a:lnTo>
                  <a:pt x="357530" y="277063"/>
                </a:lnTo>
                <a:lnTo>
                  <a:pt x="342900" y="271577"/>
                </a:lnTo>
                <a:lnTo>
                  <a:pt x="328270" y="271577"/>
                </a:lnTo>
                <a:lnTo>
                  <a:pt x="318211" y="277063"/>
                </a:lnTo>
                <a:lnTo>
                  <a:pt x="306324" y="278892"/>
                </a:lnTo>
                <a:lnTo>
                  <a:pt x="252374" y="282550"/>
                </a:lnTo>
                <a:lnTo>
                  <a:pt x="244145" y="287122"/>
                </a:lnTo>
                <a:lnTo>
                  <a:pt x="236830" y="303581"/>
                </a:lnTo>
                <a:lnTo>
                  <a:pt x="227686" y="334670"/>
                </a:lnTo>
                <a:lnTo>
                  <a:pt x="219456" y="344729"/>
                </a:lnTo>
                <a:lnTo>
                  <a:pt x="191110" y="348386"/>
                </a:lnTo>
                <a:lnTo>
                  <a:pt x="165506" y="356616"/>
                </a:lnTo>
                <a:lnTo>
                  <a:pt x="112471" y="386791"/>
                </a:lnTo>
                <a:lnTo>
                  <a:pt x="98755" y="390449"/>
                </a:lnTo>
                <a:lnTo>
                  <a:pt x="101498" y="369418"/>
                </a:lnTo>
                <a:lnTo>
                  <a:pt x="98755" y="348386"/>
                </a:lnTo>
                <a:lnTo>
                  <a:pt x="84125" y="347472"/>
                </a:lnTo>
                <a:lnTo>
                  <a:pt x="66751" y="350215"/>
                </a:lnTo>
                <a:lnTo>
                  <a:pt x="53035" y="356616"/>
                </a:lnTo>
                <a:lnTo>
                  <a:pt x="26518" y="372161"/>
                </a:lnTo>
                <a:lnTo>
                  <a:pt x="12802" y="376733"/>
                </a:lnTo>
                <a:lnTo>
                  <a:pt x="0" y="368503"/>
                </a:lnTo>
                <a:lnTo>
                  <a:pt x="2743" y="358445"/>
                </a:lnTo>
                <a:lnTo>
                  <a:pt x="90526" y="320040"/>
                </a:lnTo>
                <a:lnTo>
                  <a:pt x="100584" y="317297"/>
                </a:lnTo>
                <a:lnTo>
                  <a:pt x="116129" y="320040"/>
                </a:lnTo>
                <a:lnTo>
                  <a:pt x="131674" y="319126"/>
                </a:lnTo>
                <a:lnTo>
                  <a:pt x="143561" y="308153"/>
                </a:lnTo>
                <a:lnTo>
                  <a:pt x="128930" y="257861"/>
                </a:lnTo>
                <a:lnTo>
                  <a:pt x="134417" y="224028"/>
                </a:lnTo>
                <a:lnTo>
                  <a:pt x="154534" y="197510"/>
                </a:lnTo>
                <a:lnTo>
                  <a:pt x="195682" y="158191"/>
                </a:lnTo>
                <a:lnTo>
                  <a:pt x="215798" y="145390"/>
                </a:lnTo>
                <a:lnTo>
                  <a:pt x="416966" y="61265"/>
                </a:lnTo>
                <a:lnTo>
                  <a:pt x="437083" y="56693"/>
                </a:lnTo>
                <a:lnTo>
                  <a:pt x="567842" y="40234"/>
                </a:lnTo>
                <a:lnTo>
                  <a:pt x="587959" y="34747"/>
                </a:lnTo>
                <a:lnTo>
                  <a:pt x="648310" y="10058"/>
                </a:lnTo>
                <a:lnTo>
                  <a:pt x="711403" y="0"/>
                </a:lnTo>
                <a:close/>
                <a:moveTo>
                  <a:pt x="1843430" y="341986"/>
                </a:moveTo>
                <a:lnTo>
                  <a:pt x="1833372" y="350215"/>
                </a:lnTo>
                <a:lnTo>
                  <a:pt x="1821485" y="338328"/>
                </a:lnTo>
                <a:lnTo>
                  <a:pt x="1814170" y="337414"/>
                </a:lnTo>
                <a:lnTo>
                  <a:pt x="1804111" y="332842"/>
                </a:lnTo>
                <a:lnTo>
                  <a:pt x="1784909" y="318211"/>
                </a:lnTo>
                <a:lnTo>
                  <a:pt x="1779422" y="304495"/>
                </a:lnTo>
                <a:lnTo>
                  <a:pt x="1795882" y="303581"/>
                </a:lnTo>
                <a:lnTo>
                  <a:pt x="1816913" y="306324"/>
                </a:lnTo>
                <a:lnTo>
                  <a:pt x="1852574" y="313639"/>
                </a:lnTo>
                <a:lnTo>
                  <a:pt x="1848917" y="330098"/>
                </a:lnTo>
                <a:close/>
                <a:moveTo>
                  <a:pt x="1751990" y="250546"/>
                </a:moveTo>
                <a:lnTo>
                  <a:pt x="1746504" y="255118"/>
                </a:lnTo>
                <a:lnTo>
                  <a:pt x="1732788" y="244145"/>
                </a:lnTo>
                <a:lnTo>
                  <a:pt x="1712671" y="240487"/>
                </a:lnTo>
                <a:lnTo>
                  <a:pt x="1700784" y="224028"/>
                </a:lnTo>
                <a:lnTo>
                  <a:pt x="1689811" y="217627"/>
                </a:lnTo>
                <a:lnTo>
                  <a:pt x="1688897" y="212141"/>
                </a:lnTo>
                <a:lnTo>
                  <a:pt x="1707185" y="207569"/>
                </a:lnTo>
                <a:lnTo>
                  <a:pt x="1719986" y="209398"/>
                </a:lnTo>
                <a:lnTo>
                  <a:pt x="1734617" y="222199"/>
                </a:lnTo>
                <a:lnTo>
                  <a:pt x="1742846" y="244145"/>
                </a:lnTo>
                <a:close/>
                <a:moveTo>
                  <a:pt x="1597457" y="176479"/>
                </a:moveTo>
                <a:lnTo>
                  <a:pt x="1633118" y="182880"/>
                </a:lnTo>
                <a:lnTo>
                  <a:pt x="1645006" y="178308"/>
                </a:lnTo>
                <a:lnTo>
                  <a:pt x="1656893" y="177394"/>
                </a:lnTo>
                <a:lnTo>
                  <a:pt x="1668780" y="180137"/>
                </a:lnTo>
                <a:lnTo>
                  <a:pt x="1686154" y="202997"/>
                </a:lnTo>
                <a:lnTo>
                  <a:pt x="1671523" y="205740"/>
                </a:lnTo>
                <a:lnTo>
                  <a:pt x="1659636" y="205740"/>
                </a:lnTo>
                <a:lnTo>
                  <a:pt x="1650492" y="202082"/>
                </a:lnTo>
                <a:lnTo>
                  <a:pt x="1619402" y="201168"/>
                </a:lnTo>
                <a:lnTo>
                  <a:pt x="1597457" y="193853"/>
                </a:lnTo>
                <a:lnTo>
                  <a:pt x="1586484" y="188366"/>
                </a:lnTo>
                <a:lnTo>
                  <a:pt x="1580998" y="181966"/>
                </a:lnTo>
                <a:close/>
                <a:moveTo>
                  <a:pt x="1790395" y="293522"/>
                </a:moveTo>
                <a:lnTo>
                  <a:pt x="1780337" y="294437"/>
                </a:lnTo>
                <a:lnTo>
                  <a:pt x="1755648" y="283464"/>
                </a:lnTo>
                <a:lnTo>
                  <a:pt x="1747418" y="273406"/>
                </a:lnTo>
                <a:lnTo>
                  <a:pt x="1756562" y="260604"/>
                </a:lnTo>
                <a:lnTo>
                  <a:pt x="1758391" y="245974"/>
                </a:lnTo>
                <a:lnTo>
                  <a:pt x="1762049" y="245974"/>
                </a:lnTo>
                <a:lnTo>
                  <a:pt x="1765706" y="262433"/>
                </a:lnTo>
                <a:lnTo>
                  <a:pt x="1786738" y="269748"/>
                </a:lnTo>
                <a:lnTo>
                  <a:pt x="1787652" y="273406"/>
                </a:lnTo>
                <a:lnTo>
                  <a:pt x="1799539" y="288036"/>
                </a:lnTo>
                <a:close/>
                <a:moveTo>
                  <a:pt x="594360" y="446227"/>
                </a:moveTo>
                <a:lnTo>
                  <a:pt x="570586" y="460858"/>
                </a:lnTo>
                <a:lnTo>
                  <a:pt x="519379" y="481889"/>
                </a:lnTo>
                <a:lnTo>
                  <a:pt x="491947" y="481889"/>
                </a:lnTo>
                <a:lnTo>
                  <a:pt x="464515" y="474574"/>
                </a:lnTo>
                <a:lnTo>
                  <a:pt x="446227" y="457200"/>
                </a:lnTo>
                <a:lnTo>
                  <a:pt x="435254" y="440741"/>
                </a:lnTo>
                <a:lnTo>
                  <a:pt x="436169" y="432511"/>
                </a:lnTo>
                <a:lnTo>
                  <a:pt x="453542" y="446227"/>
                </a:lnTo>
                <a:lnTo>
                  <a:pt x="468173" y="452628"/>
                </a:lnTo>
                <a:lnTo>
                  <a:pt x="480060" y="448056"/>
                </a:lnTo>
                <a:lnTo>
                  <a:pt x="489204" y="440741"/>
                </a:lnTo>
                <a:lnTo>
                  <a:pt x="460858" y="386791"/>
                </a:lnTo>
                <a:lnTo>
                  <a:pt x="462686" y="374904"/>
                </a:lnTo>
                <a:lnTo>
                  <a:pt x="484632" y="344729"/>
                </a:lnTo>
                <a:lnTo>
                  <a:pt x="544068" y="353873"/>
                </a:lnTo>
                <a:lnTo>
                  <a:pt x="555041" y="359359"/>
                </a:lnTo>
                <a:lnTo>
                  <a:pt x="564185" y="378562"/>
                </a:lnTo>
                <a:lnTo>
                  <a:pt x="576986" y="393192"/>
                </a:lnTo>
                <a:lnTo>
                  <a:pt x="592531" y="432511"/>
                </a:lnTo>
                <a:close/>
                <a:moveTo>
                  <a:pt x="1413662" y="145390"/>
                </a:moveTo>
                <a:lnTo>
                  <a:pt x="1414577" y="152705"/>
                </a:lnTo>
                <a:lnTo>
                  <a:pt x="1369771" y="132588"/>
                </a:lnTo>
                <a:lnTo>
                  <a:pt x="1350569" y="111557"/>
                </a:lnTo>
                <a:lnTo>
                  <a:pt x="1343254" y="106985"/>
                </a:lnTo>
                <a:lnTo>
                  <a:pt x="1355141" y="106070"/>
                </a:lnTo>
                <a:lnTo>
                  <a:pt x="1405433" y="140818"/>
                </a:lnTo>
                <a:close/>
              </a:path>
            </a:pathLst>
          </a:custGeom>
          <a:solidFill>
            <a:srgbClr val="EAF4F4"/>
          </a:solidFill>
          <a:ln w="7620">
            <a:solidFill>
              <a:srgbClr val="8CBBCB"/>
            </a:solidFill>
            <a:prstDash val="solid"/>
          </a:ln>
        </p:spPr>
      </p:sp>
      <p:sp>
        <p:nvSpPr>
          <p:cNvPr id="46" name="Map – Barbados"/>
          <p:cNvSpPr/>
          <p:nvPr/>
        </p:nvSpPr>
        <p:spPr>
          <a:xfrm>
            <a:off x="11464747" y="5373014"/>
            <a:ext cx="55778" cy="66751"/>
          </a:xfrm>
          <a:custGeom>
            <a:avLst/>
            <a:gdLst/>
            <a:ahLst/>
            <a:cxnLst/>
            <a:rect l="l" t="t" r="r" b="b"/>
            <a:pathLst>
              <a:path w="55778" h="66751">
                <a:moveTo>
                  <a:pt x="39319" y="62179"/>
                </a:moveTo>
                <a:lnTo>
                  <a:pt x="32004" y="66751"/>
                </a:lnTo>
                <a:lnTo>
                  <a:pt x="9144" y="56693"/>
                </a:lnTo>
                <a:lnTo>
                  <a:pt x="914" y="43891"/>
                </a:lnTo>
                <a:lnTo>
                  <a:pt x="0" y="3658"/>
                </a:lnTo>
                <a:lnTo>
                  <a:pt x="13716" y="0"/>
                </a:lnTo>
                <a:lnTo>
                  <a:pt x="40234" y="32004"/>
                </a:lnTo>
                <a:lnTo>
                  <a:pt x="55778" y="42977"/>
                </a:lnTo>
                <a:close/>
              </a:path>
            </a:pathLst>
          </a:custGeom>
          <a:solidFill>
            <a:srgbClr val="EAF4F4"/>
          </a:solidFill>
          <a:ln w="7620">
            <a:solidFill>
              <a:srgbClr val="8CBBCB"/>
            </a:solidFill>
            <a:prstDash val="solid"/>
          </a:ln>
        </p:spPr>
      </p:sp>
      <p:sp>
        <p:nvSpPr>
          <p:cNvPr id="47" name="Map – Bahamas"/>
          <p:cNvSpPr/>
          <p:nvPr/>
        </p:nvSpPr>
        <p:spPr>
          <a:xfrm>
            <a:off x="6526987" y="1657807"/>
            <a:ext cx="1592885" cy="1677924"/>
          </a:xfrm>
          <a:custGeom>
            <a:avLst/>
            <a:gdLst/>
            <a:ahLst/>
            <a:cxnLst/>
            <a:rect l="l" t="t" r="r" b="b"/>
            <a:pathLst>
              <a:path w="1592885" h="1677924">
                <a:moveTo>
                  <a:pt x="339242" y="761695"/>
                </a:moveTo>
                <a:lnTo>
                  <a:pt x="340157" y="768096"/>
                </a:lnTo>
                <a:lnTo>
                  <a:pt x="314554" y="785470"/>
                </a:lnTo>
                <a:lnTo>
                  <a:pt x="332842" y="798271"/>
                </a:lnTo>
                <a:lnTo>
                  <a:pt x="350215" y="770839"/>
                </a:lnTo>
                <a:lnTo>
                  <a:pt x="363931" y="792785"/>
                </a:lnTo>
                <a:lnTo>
                  <a:pt x="371246" y="834847"/>
                </a:lnTo>
                <a:lnTo>
                  <a:pt x="370332" y="842162"/>
                </a:lnTo>
                <a:lnTo>
                  <a:pt x="371246" y="847649"/>
                </a:lnTo>
                <a:lnTo>
                  <a:pt x="373990" y="855878"/>
                </a:lnTo>
                <a:lnTo>
                  <a:pt x="374904" y="867766"/>
                </a:lnTo>
                <a:lnTo>
                  <a:pt x="360274" y="904342"/>
                </a:lnTo>
                <a:lnTo>
                  <a:pt x="310896" y="899770"/>
                </a:lnTo>
                <a:lnTo>
                  <a:pt x="309067" y="869594"/>
                </a:lnTo>
                <a:lnTo>
                  <a:pt x="301752" y="864108"/>
                </a:lnTo>
                <a:lnTo>
                  <a:pt x="289865" y="819302"/>
                </a:lnTo>
                <a:lnTo>
                  <a:pt x="273406" y="805586"/>
                </a:lnTo>
                <a:lnTo>
                  <a:pt x="251460" y="769925"/>
                </a:lnTo>
                <a:lnTo>
                  <a:pt x="264262" y="760781"/>
                </a:lnTo>
                <a:lnTo>
                  <a:pt x="281635" y="763524"/>
                </a:lnTo>
                <a:lnTo>
                  <a:pt x="290779" y="758952"/>
                </a:lnTo>
                <a:lnTo>
                  <a:pt x="313639" y="755294"/>
                </a:lnTo>
                <a:lnTo>
                  <a:pt x="328270" y="750722"/>
                </a:lnTo>
                <a:close/>
                <a:moveTo>
                  <a:pt x="448970" y="295351"/>
                </a:moveTo>
                <a:lnTo>
                  <a:pt x="443484" y="297180"/>
                </a:lnTo>
                <a:lnTo>
                  <a:pt x="421538" y="268834"/>
                </a:lnTo>
                <a:lnTo>
                  <a:pt x="404165" y="260604"/>
                </a:lnTo>
                <a:lnTo>
                  <a:pt x="431597" y="240487"/>
                </a:lnTo>
                <a:lnTo>
                  <a:pt x="443484" y="223114"/>
                </a:lnTo>
                <a:lnTo>
                  <a:pt x="443484" y="185623"/>
                </a:lnTo>
                <a:lnTo>
                  <a:pt x="450799" y="164592"/>
                </a:lnTo>
                <a:lnTo>
                  <a:pt x="448056" y="147218"/>
                </a:lnTo>
                <a:lnTo>
                  <a:pt x="455371" y="128930"/>
                </a:lnTo>
                <a:lnTo>
                  <a:pt x="446227" y="107899"/>
                </a:lnTo>
                <a:lnTo>
                  <a:pt x="422453" y="91440"/>
                </a:lnTo>
                <a:lnTo>
                  <a:pt x="376733" y="26518"/>
                </a:lnTo>
                <a:lnTo>
                  <a:pt x="304495" y="10058"/>
                </a:lnTo>
                <a:lnTo>
                  <a:pt x="266090" y="10058"/>
                </a:lnTo>
                <a:lnTo>
                  <a:pt x="287122" y="0"/>
                </a:lnTo>
                <a:lnTo>
                  <a:pt x="306324" y="914"/>
                </a:lnTo>
                <a:lnTo>
                  <a:pt x="335585" y="7315"/>
                </a:lnTo>
                <a:lnTo>
                  <a:pt x="371246" y="10058"/>
                </a:lnTo>
                <a:lnTo>
                  <a:pt x="392278" y="29261"/>
                </a:lnTo>
                <a:lnTo>
                  <a:pt x="412394" y="54864"/>
                </a:lnTo>
                <a:lnTo>
                  <a:pt x="431597" y="64922"/>
                </a:lnTo>
                <a:lnTo>
                  <a:pt x="438912" y="71323"/>
                </a:lnTo>
                <a:lnTo>
                  <a:pt x="437998" y="78638"/>
                </a:lnTo>
                <a:lnTo>
                  <a:pt x="440741" y="85039"/>
                </a:lnTo>
                <a:lnTo>
                  <a:pt x="466344" y="96926"/>
                </a:lnTo>
                <a:lnTo>
                  <a:pt x="490118" y="117043"/>
                </a:lnTo>
                <a:lnTo>
                  <a:pt x="497434" y="172822"/>
                </a:lnTo>
                <a:lnTo>
                  <a:pt x="464515" y="199339"/>
                </a:lnTo>
                <a:lnTo>
                  <a:pt x="459029" y="279806"/>
                </a:lnTo>
                <a:close/>
                <a:moveTo>
                  <a:pt x="1521562" y="1607515"/>
                </a:moveTo>
                <a:lnTo>
                  <a:pt x="1514246" y="1627632"/>
                </a:lnTo>
                <a:lnTo>
                  <a:pt x="1485900" y="1666037"/>
                </a:lnTo>
                <a:lnTo>
                  <a:pt x="1426464" y="1676095"/>
                </a:lnTo>
                <a:lnTo>
                  <a:pt x="1359713" y="1677924"/>
                </a:lnTo>
                <a:lnTo>
                  <a:pt x="1355141" y="1666951"/>
                </a:lnTo>
                <a:lnTo>
                  <a:pt x="1353312" y="1657807"/>
                </a:lnTo>
                <a:lnTo>
                  <a:pt x="1357884" y="1643177"/>
                </a:lnTo>
                <a:lnTo>
                  <a:pt x="1357884" y="1637690"/>
                </a:lnTo>
                <a:lnTo>
                  <a:pt x="1355141" y="1632204"/>
                </a:lnTo>
                <a:lnTo>
                  <a:pt x="1378915" y="1625803"/>
                </a:lnTo>
                <a:lnTo>
                  <a:pt x="1395374" y="1608430"/>
                </a:lnTo>
                <a:lnTo>
                  <a:pt x="1420063" y="1604772"/>
                </a:lnTo>
                <a:lnTo>
                  <a:pt x="1451153" y="1617574"/>
                </a:lnTo>
                <a:lnTo>
                  <a:pt x="1468526" y="1618488"/>
                </a:lnTo>
                <a:lnTo>
                  <a:pt x="1493215" y="1604772"/>
                </a:lnTo>
                <a:lnTo>
                  <a:pt x="1514246" y="1574597"/>
                </a:lnTo>
                <a:lnTo>
                  <a:pt x="1526134" y="1578254"/>
                </a:lnTo>
                <a:close/>
                <a:moveTo>
                  <a:pt x="317297" y="632765"/>
                </a:moveTo>
                <a:lnTo>
                  <a:pt x="317297" y="666598"/>
                </a:lnTo>
                <a:lnTo>
                  <a:pt x="320040" y="692201"/>
                </a:lnTo>
                <a:lnTo>
                  <a:pt x="317297" y="701345"/>
                </a:lnTo>
                <a:lnTo>
                  <a:pt x="289865" y="717804"/>
                </a:lnTo>
                <a:lnTo>
                  <a:pt x="282550" y="727862"/>
                </a:lnTo>
                <a:lnTo>
                  <a:pt x="256032" y="737921"/>
                </a:lnTo>
                <a:lnTo>
                  <a:pt x="240487" y="750722"/>
                </a:lnTo>
                <a:lnTo>
                  <a:pt x="232258" y="728777"/>
                </a:lnTo>
                <a:lnTo>
                  <a:pt x="216713" y="715975"/>
                </a:lnTo>
                <a:lnTo>
                  <a:pt x="214884" y="693115"/>
                </a:lnTo>
                <a:lnTo>
                  <a:pt x="202997" y="700430"/>
                </a:lnTo>
                <a:lnTo>
                  <a:pt x="185623" y="695858"/>
                </a:lnTo>
                <a:lnTo>
                  <a:pt x="158191" y="678485"/>
                </a:lnTo>
                <a:lnTo>
                  <a:pt x="140818" y="655625"/>
                </a:lnTo>
                <a:lnTo>
                  <a:pt x="165506" y="651053"/>
                </a:lnTo>
                <a:lnTo>
                  <a:pt x="170078" y="665683"/>
                </a:lnTo>
                <a:lnTo>
                  <a:pt x="190195" y="648310"/>
                </a:lnTo>
                <a:lnTo>
                  <a:pt x="185623" y="638251"/>
                </a:lnTo>
                <a:lnTo>
                  <a:pt x="181966" y="637337"/>
                </a:lnTo>
                <a:lnTo>
                  <a:pt x="175565" y="619963"/>
                </a:lnTo>
                <a:lnTo>
                  <a:pt x="204826" y="573329"/>
                </a:lnTo>
                <a:lnTo>
                  <a:pt x="211226" y="544068"/>
                </a:lnTo>
                <a:lnTo>
                  <a:pt x="197510" y="496519"/>
                </a:lnTo>
                <a:lnTo>
                  <a:pt x="210312" y="493776"/>
                </a:lnTo>
                <a:lnTo>
                  <a:pt x="243230" y="510235"/>
                </a:lnTo>
                <a:lnTo>
                  <a:pt x="257861" y="526694"/>
                </a:lnTo>
                <a:lnTo>
                  <a:pt x="257861" y="549554"/>
                </a:lnTo>
                <a:lnTo>
                  <a:pt x="272491" y="566014"/>
                </a:lnTo>
                <a:lnTo>
                  <a:pt x="292608" y="608076"/>
                </a:lnTo>
                <a:close/>
                <a:moveTo>
                  <a:pt x="126187" y="59436"/>
                </a:moveTo>
                <a:lnTo>
                  <a:pt x="157277" y="68580"/>
                </a:lnTo>
                <a:lnTo>
                  <a:pt x="173736" y="67666"/>
                </a:lnTo>
                <a:lnTo>
                  <a:pt x="183794" y="61265"/>
                </a:lnTo>
                <a:lnTo>
                  <a:pt x="228600" y="64008"/>
                </a:lnTo>
                <a:lnTo>
                  <a:pt x="266090" y="55778"/>
                </a:lnTo>
                <a:lnTo>
                  <a:pt x="271577" y="70409"/>
                </a:lnTo>
                <a:lnTo>
                  <a:pt x="270662" y="78638"/>
                </a:lnTo>
                <a:lnTo>
                  <a:pt x="192024" y="85954"/>
                </a:lnTo>
                <a:lnTo>
                  <a:pt x="120701" y="107899"/>
                </a:lnTo>
                <a:lnTo>
                  <a:pt x="80467" y="123444"/>
                </a:lnTo>
                <a:lnTo>
                  <a:pt x="61265" y="125273"/>
                </a:lnTo>
                <a:lnTo>
                  <a:pt x="47549" y="117043"/>
                </a:lnTo>
                <a:lnTo>
                  <a:pt x="0" y="71323"/>
                </a:lnTo>
                <a:lnTo>
                  <a:pt x="12802" y="75895"/>
                </a:lnTo>
                <a:lnTo>
                  <a:pt x="47549" y="101498"/>
                </a:lnTo>
                <a:lnTo>
                  <a:pt x="69494" y="96926"/>
                </a:lnTo>
                <a:lnTo>
                  <a:pt x="89611" y="79553"/>
                </a:lnTo>
                <a:lnTo>
                  <a:pt x="93269" y="66751"/>
                </a:lnTo>
                <a:lnTo>
                  <a:pt x="89611" y="60350"/>
                </a:lnTo>
                <a:lnTo>
                  <a:pt x="99670" y="40234"/>
                </a:lnTo>
                <a:close/>
                <a:moveTo>
                  <a:pt x="417881" y="546811"/>
                </a:moveTo>
                <a:lnTo>
                  <a:pt x="389534" y="552298"/>
                </a:lnTo>
                <a:lnTo>
                  <a:pt x="368503" y="546811"/>
                </a:lnTo>
                <a:lnTo>
                  <a:pt x="363931" y="542239"/>
                </a:lnTo>
                <a:lnTo>
                  <a:pt x="372161" y="534010"/>
                </a:lnTo>
                <a:lnTo>
                  <a:pt x="391363" y="527609"/>
                </a:lnTo>
                <a:lnTo>
                  <a:pt x="422453" y="527609"/>
                </a:lnTo>
                <a:lnTo>
                  <a:pt x="436169" y="534924"/>
                </a:lnTo>
                <a:lnTo>
                  <a:pt x="437998" y="537667"/>
                </a:lnTo>
                <a:close/>
                <a:moveTo>
                  <a:pt x="1258214" y="1185977"/>
                </a:moveTo>
                <a:lnTo>
                  <a:pt x="1263701" y="1191463"/>
                </a:lnTo>
                <a:lnTo>
                  <a:pt x="1248156" y="1202436"/>
                </a:lnTo>
                <a:lnTo>
                  <a:pt x="1211580" y="1188720"/>
                </a:lnTo>
                <a:lnTo>
                  <a:pt x="1203350" y="1189634"/>
                </a:lnTo>
                <a:lnTo>
                  <a:pt x="1196035" y="1175004"/>
                </a:lnTo>
                <a:lnTo>
                  <a:pt x="1193292" y="1164031"/>
                </a:lnTo>
                <a:lnTo>
                  <a:pt x="1195121" y="1153973"/>
                </a:lnTo>
                <a:lnTo>
                  <a:pt x="1217066" y="1161288"/>
                </a:lnTo>
                <a:lnTo>
                  <a:pt x="1228039" y="1175918"/>
                </a:lnTo>
                <a:close/>
                <a:moveTo>
                  <a:pt x="1164031" y="811987"/>
                </a:moveTo>
                <a:lnTo>
                  <a:pt x="1143000" y="842162"/>
                </a:lnTo>
                <a:lnTo>
                  <a:pt x="1132027" y="839419"/>
                </a:lnTo>
                <a:lnTo>
                  <a:pt x="1138428" y="801929"/>
                </a:lnTo>
                <a:lnTo>
                  <a:pt x="1152144" y="795528"/>
                </a:lnTo>
                <a:lnTo>
                  <a:pt x="1158545" y="795528"/>
                </a:lnTo>
                <a:close/>
                <a:moveTo>
                  <a:pt x="1220724" y="1326794"/>
                </a:moveTo>
                <a:lnTo>
                  <a:pt x="1202436" y="1335024"/>
                </a:lnTo>
                <a:lnTo>
                  <a:pt x="1207008" y="1321308"/>
                </a:lnTo>
                <a:lnTo>
                  <a:pt x="1240841" y="1296619"/>
                </a:lnTo>
                <a:lnTo>
                  <a:pt x="1260043" y="1275588"/>
                </a:lnTo>
                <a:lnTo>
                  <a:pt x="1270102" y="1268273"/>
                </a:lnTo>
                <a:lnTo>
                  <a:pt x="1274674" y="1261872"/>
                </a:lnTo>
                <a:lnTo>
                  <a:pt x="1289304" y="1253642"/>
                </a:lnTo>
                <a:lnTo>
                  <a:pt x="1296619" y="1240841"/>
                </a:lnTo>
                <a:lnTo>
                  <a:pt x="1294790" y="1228954"/>
                </a:lnTo>
                <a:lnTo>
                  <a:pt x="1279246" y="1210666"/>
                </a:lnTo>
                <a:lnTo>
                  <a:pt x="1279246" y="1197864"/>
                </a:lnTo>
                <a:lnTo>
                  <a:pt x="1284732" y="1187806"/>
                </a:lnTo>
                <a:lnTo>
                  <a:pt x="1311250" y="1184148"/>
                </a:lnTo>
                <a:lnTo>
                  <a:pt x="1303934" y="1197864"/>
                </a:lnTo>
                <a:lnTo>
                  <a:pt x="1314907" y="1237183"/>
                </a:lnTo>
                <a:lnTo>
                  <a:pt x="1279246" y="1286561"/>
                </a:lnTo>
                <a:lnTo>
                  <a:pt x="1249070" y="1301191"/>
                </a:lnTo>
                <a:close/>
                <a:moveTo>
                  <a:pt x="596189" y="413309"/>
                </a:moveTo>
                <a:lnTo>
                  <a:pt x="639166" y="445313"/>
                </a:lnTo>
                <a:lnTo>
                  <a:pt x="674827" y="457200"/>
                </a:lnTo>
                <a:lnTo>
                  <a:pt x="713232" y="496519"/>
                </a:lnTo>
                <a:lnTo>
                  <a:pt x="729691" y="511150"/>
                </a:lnTo>
                <a:lnTo>
                  <a:pt x="733349" y="523951"/>
                </a:lnTo>
                <a:lnTo>
                  <a:pt x="726948" y="582473"/>
                </a:lnTo>
                <a:lnTo>
                  <a:pt x="717804" y="618134"/>
                </a:lnTo>
                <a:lnTo>
                  <a:pt x="719633" y="649224"/>
                </a:lnTo>
                <a:lnTo>
                  <a:pt x="710489" y="640080"/>
                </a:lnTo>
                <a:lnTo>
                  <a:pt x="701345" y="619963"/>
                </a:lnTo>
                <a:lnTo>
                  <a:pt x="685800" y="608076"/>
                </a:lnTo>
                <a:lnTo>
                  <a:pt x="681228" y="601675"/>
                </a:lnTo>
                <a:lnTo>
                  <a:pt x="707746" y="600761"/>
                </a:lnTo>
                <a:lnTo>
                  <a:pt x="710489" y="568757"/>
                </a:lnTo>
                <a:lnTo>
                  <a:pt x="723290" y="543154"/>
                </a:lnTo>
                <a:lnTo>
                  <a:pt x="721462" y="516636"/>
                </a:lnTo>
                <a:lnTo>
                  <a:pt x="690372" y="488290"/>
                </a:lnTo>
                <a:lnTo>
                  <a:pt x="668426" y="461772"/>
                </a:lnTo>
                <a:lnTo>
                  <a:pt x="635508" y="454457"/>
                </a:lnTo>
                <a:lnTo>
                  <a:pt x="603504" y="428854"/>
                </a:lnTo>
                <a:lnTo>
                  <a:pt x="585216" y="425196"/>
                </a:lnTo>
                <a:lnTo>
                  <a:pt x="563270" y="430682"/>
                </a:lnTo>
                <a:lnTo>
                  <a:pt x="571500" y="415138"/>
                </a:lnTo>
                <a:lnTo>
                  <a:pt x="576986" y="395021"/>
                </a:lnTo>
                <a:lnTo>
                  <a:pt x="580644" y="391363"/>
                </a:lnTo>
                <a:close/>
                <a:moveTo>
                  <a:pt x="848563" y="984809"/>
                </a:moveTo>
                <a:lnTo>
                  <a:pt x="837590" y="986638"/>
                </a:lnTo>
                <a:lnTo>
                  <a:pt x="818388" y="978408"/>
                </a:lnTo>
                <a:lnTo>
                  <a:pt x="773582" y="944575"/>
                </a:lnTo>
                <a:lnTo>
                  <a:pt x="752551" y="941832"/>
                </a:lnTo>
                <a:lnTo>
                  <a:pt x="759866" y="922630"/>
                </a:lnTo>
                <a:lnTo>
                  <a:pt x="775411" y="929945"/>
                </a:lnTo>
                <a:lnTo>
                  <a:pt x="811987" y="958291"/>
                </a:lnTo>
                <a:lnTo>
                  <a:pt x="825703" y="972922"/>
                </a:lnTo>
                <a:close/>
                <a:moveTo>
                  <a:pt x="1058875" y="1138428"/>
                </a:moveTo>
                <a:lnTo>
                  <a:pt x="1057046" y="1145743"/>
                </a:lnTo>
                <a:lnTo>
                  <a:pt x="1025042" y="1090879"/>
                </a:lnTo>
                <a:lnTo>
                  <a:pt x="984809" y="1077163"/>
                </a:lnTo>
                <a:lnTo>
                  <a:pt x="960120" y="1063447"/>
                </a:lnTo>
                <a:lnTo>
                  <a:pt x="965606" y="1056132"/>
                </a:lnTo>
                <a:lnTo>
                  <a:pt x="982066" y="1052474"/>
                </a:lnTo>
                <a:lnTo>
                  <a:pt x="984809" y="1035101"/>
                </a:lnTo>
                <a:lnTo>
                  <a:pt x="977494" y="1015898"/>
                </a:lnTo>
                <a:lnTo>
                  <a:pt x="955548" y="977494"/>
                </a:lnTo>
                <a:lnTo>
                  <a:pt x="943661" y="951890"/>
                </a:lnTo>
                <a:lnTo>
                  <a:pt x="938174" y="945490"/>
                </a:lnTo>
                <a:lnTo>
                  <a:pt x="937260" y="923544"/>
                </a:lnTo>
                <a:lnTo>
                  <a:pt x="961949" y="957377"/>
                </a:lnTo>
                <a:lnTo>
                  <a:pt x="972922" y="987552"/>
                </a:lnTo>
                <a:lnTo>
                  <a:pt x="990295" y="1016813"/>
                </a:lnTo>
                <a:lnTo>
                  <a:pt x="1002182" y="1068019"/>
                </a:lnTo>
                <a:lnTo>
                  <a:pt x="1034186" y="1085393"/>
                </a:lnTo>
                <a:lnTo>
                  <a:pt x="1057046" y="1110082"/>
                </a:lnTo>
                <a:close/>
                <a:moveTo>
                  <a:pt x="939089" y="775411"/>
                </a:moveTo>
                <a:lnTo>
                  <a:pt x="940918" y="790042"/>
                </a:lnTo>
                <a:lnTo>
                  <a:pt x="923544" y="786384"/>
                </a:lnTo>
                <a:lnTo>
                  <a:pt x="897941" y="791870"/>
                </a:lnTo>
                <a:lnTo>
                  <a:pt x="889711" y="791870"/>
                </a:lnTo>
                <a:lnTo>
                  <a:pt x="895198" y="782726"/>
                </a:lnTo>
                <a:lnTo>
                  <a:pt x="912571" y="769010"/>
                </a:lnTo>
                <a:lnTo>
                  <a:pt x="913486" y="756209"/>
                </a:lnTo>
                <a:lnTo>
                  <a:pt x="891540" y="738835"/>
                </a:lnTo>
                <a:lnTo>
                  <a:pt x="866851" y="694030"/>
                </a:lnTo>
                <a:lnTo>
                  <a:pt x="854964" y="683057"/>
                </a:lnTo>
                <a:lnTo>
                  <a:pt x="849478" y="665683"/>
                </a:lnTo>
                <a:lnTo>
                  <a:pt x="828446" y="647395"/>
                </a:lnTo>
                <a:lnTo>
                  <a:pt x="833018" y="637337"/>
                </a:lnTo>
                <a:lnTo>
                  <a:pt x="836676" y="635508"/>
                </a:lnTo>
                <a:lnTo>
                  <a:pt x="851306" y="640080"/>
                </a:lnTo>
                <a:lnTo>
                  <a:pt x="883310" y="705917"/>
                </a:lnTo>
                <a:lnTo>
                  <a:pt x="885139" y="711403"/>
                </a:lnTo>
                <a:close/>
                <a:moveTo>
                  <a:pt x="1518818" y="1267358"/>
                </a:moveTo>
                <a:lnTo>
                  <a:pt x="1534363" y="1271930"/>
                </a:lnTo>
                <a:lnTo>
                  <a:pt x="1542593" y="1271016"/>
                </a:lnTo>
                <a:lnTo>
                  <a:pt x="1571854" y="1279246"/>
                </a:lnTo>
                <a:lnTo>
                  <a:pt x="1589227" y="1291133"/>
                </a:lnTo>
                <a:lnTo>
                  <a:pt x="1592885" y="1295705"/>
                </a:lnTo>
                <a:lnTo>
                  <a:pt x="1583741" y="1305763"/>
                </a:lnTo>
                <a:lnTo>
                  <a:pt x="1557223" y="1286561"/>
                </a:lnTo>
                <a:lnTo>
                  <a:pt x="1533449" y="1283818"/>
                </a:lnTo>
                <a:lnTo>
                  <a:pt x="1499616" y="1284732"/>
                </a:lnTo>
                <a:lnTo>
                  <a:pt x="1486814" y="1281074"/>
                </a:lnTo>
                <a:lnTo>
                  <a:pt x="1495958" y="1260043"/>
                </a:lnTo>
                <a:close/>
                <a:moveTo>
                  <a:pt x="1549908" y="1521562"/>
                </a:moveTo>
                <a:lnTo>
                  <a:pt x="1516075" y="1535278"/>
                </a:lnTo>
                <a:lnTo>
                  <a:pt x="1513332" y="1518818"/>
                </a:lnTo>
                <a:lnTo>
                  <a:pt x="1529791" y="1506017"/>
                </a:lnTo>
                <a:close/>
              </a:path>
            </a:pathLst>
          </a:custGeom>
          <a:solidFill>
            <a:srgbClr val="EAF4F4"/>
          </a:solidFill>
          <a:ln w="7620">
            <a:solidFill>
              <a:srgbClr val="8CBBCB"/>
            </a:solidFill>
            <a:prstDash val="solid"/>
          </a:ln>
        </p:spPr>
      </p:sp>
      <p:sp>
        <p:nvSpPr>
          <p:cNvPr id="48" name="Map – Antigua and Barb."/>
          <p:cNvSpPr/>
          <p:nvPr/>
        </p:nvSpPr>
        <p:spPr>
          <a:xfrm>
            <a:off x="10893247" y="4207154"/>
            <a:ext cx="51206" cy="192024"/>
          </a:xfrm>
          <a:custGeom>
            <a:avLst/>
            <a:gdLst/>
            <a:ahLst/>
            <a:cxnLst/>
            <a:rect l="l" t="t" r="r" b="b"/>
            <a:pathLst>
              <a:path w="51206" h="192024">
                <a:moveTo>
                  <a:pt x="42977" y="181051"/>
                </a:moveTo>
                <a:lnTo>
                  <a:pt x="34747" y="192024"/>
                </a:lnTo>
                <a:lnTo>
                  <a:pt x="6401" y="187452"/>
                </a:lnTo>
                <a:lnTo>
                  <a:pt x="914" y="174650"/>
                </a:lnTo>
                <a:lnTo>
                  <a:pt x="0" y="165506"/>
                </a:lnTo>
                <a:lnTo>
                  <a:pt x="17374" y="146304"/>
                </a:lnTo>
                <a:lnTo>
                  <a:pt x="37490" y="154534"/>
                </a:lnTo>
                <a:lnTo>
                  <a:pt x="45720" y="163678"/>
                </a:lnTo>
                <a:lnTo>
                  <a:pt x="51206" y="165506"/>
                </a:lnTo>
                <a:lnTo>
                  <a:pt x="51206" y="172822"/>
                </a:lnTo>
                <a:lnTo>
                  <a:pt x="48463" y="178308"/>
                </a:lnTo>
                <a:close/>
                <a:moveTo>
                  <a:pt x="35662" y="37490"/>
                </a:moveTo>
                <a:lnTo>
                  <a:pt x="32004" y="44806"/>
                </a:lnTo>
                <a:lnTo>
                  <a:pt x="10973" y="32004"/>
                </a:lnTo>
                <a:lnTo>
                  <a:pt x="4572" y="8230"/>
                </a:lnTo>
                <a:lnTo>
                  <a:pt x="5486" y="2743"/>
                </a:lnTo>
                <a:lnTo>
                  <a:pt x="8230" y="0"/>
                </a:lnTo>
                <a:lnTo>
                  <a:pt x="16459" y="4572"/>
                </a:lnTo>
                <a:lnTo>
                  <a:pt x="27432" y="6401"/>
                </a:lnTo>
                <a:lnTo>
                  <a:pt x="34747" y="14630"/>
                </a:lnTo>
                <a:close/>
              </a:path>
            </a:pathLst>
          </a:custGeom>
          <a:solidFill>
            <a:srgbClr val="EAF4F4"/>
          </a:solidFill>
          <a:ln w="7620">
            <a:solidFill>
              <a:srgbClr val="8CBBCB"/>
            </a:solidFill>
            <a:prstDash val="solid"/>
          </a:ln>
        </p:spPr>
      </p:sp>
      <p:sp>
        <p:nvSpPr>
          <p:cNvPr id="49" name="Map – Sint Maarten"/>
          <p:cNvSpPr/>
          <p:nvPr/>
        </p:nvSpPr>
        <p:spPr>
          <a:xfrm>
            <a:off x="10576865" y="4112057"/>
            <a:ext cx="29261" cy="13716"/>
          </a:xfrm>
          <a:custGeom>
            <a:avLst/>
            <a:gdLst/>
            <a:ahLst/>
            <a:cxnLst/>
            <a:rect l="l" t="t" r="r" b="b"/>
            <a:pathLst>
              <a:path w="29261" h="13716">
                <a:moveTo>
                  <a:pt x="0" y="0"/>
                </a:moveTo>
                <a:lnTo>
                  <a:pt x="29261" y="0"/>
                </a:lnTo>
                <a:lnTo>
                  <a:pt x="28346" y="6401"/>
                </a:lnTo>
                <a:lnTo>
                  <a:pt x="25603" y="13716"/>
                </a:lnTo>
                <a:lnTo>
                  <a:pt x="9144" y="7315"/>
                </a:lnTo>
                <a:lnTo>
                  <a:pt x="0" y="1829"/>
                </a:lnTo>
                <a:close/>
              </a:path>
            </a:pathLst>
          </a:custGeom>
          <a:solidFill>
            <a:srgbClr val="EAF4F4"/>
          </a:solidFill>
          <a:ln w="7620">
            <a:solidFill>
              <a:srgbClr val="8CBBCB"/>
            </a:solidFill>
            <a:prstDash val="solid"/>
          </a:ln>
        </p:spPr>
      </p:sp>
      <p:sp>
        <p:nvSpPr>
          <p:cNvPr id="50" name="Map – label leader"/>
          <p:cNvSpPr/>
          <p:nvPr/>
        </p:nvSpPr>
        <p:spPr>
          <a:xfrm>
            <a:off x="6957560" y="4090544"/>
            <a:ext cx="0" cy="201168"/>
          </a:xfrm>
          <a:prstGeom prst="line">
            <a:avLst/>
          </a:prstGeom>
          <a:noFill/>
          <a:ln w="7620">
            <a:solidFill>
              <a:srgbClr val="FFFFFF">
                <a:alpha val="60000"/>
              </a:srgbClr>
            </a:solidFill>
            <a:prstDash val="solid"/>
          </a:ln>
        </p:spPr>
      </p:sp>
      <p:sp>
        <p:nvSpPr>
          <p:cNvPr id="51" name="Map – label leader"/>
          <p:cNvSpPr/>
          <p:nvPr/>
        </p:nvSpPr>
        <p:spPr>
          <a:xfrm>
            <a:off x="9797186" y="3702812"/>
            <a:ext cx="17446" cy="301671"/>
          </a:xfrm>
          <a:prstGeom prst="line">
            <a:avLst/>
          </a:prstGeom>
          <a:noFill/>
          <a:ln w="7620">
            <a:solidFill>
              <a:srgbClr val="FFFFFF">
                <a:alpha val="60000"/>
              </a:srgbClr>
            </a:solidFill>
            <a:prstDash val="solid"/>
          </a:ln>
        </p:spPr>
      </p:sp>
      <p:sp>
        <p:nvSpPr>
          <p:cNvPr id="52" name="Map – label leader"/>
          <p:cNvSpPr/>
          <p:nvPr/>
        </p:nvSpPr>
        <p:spPr>
          <a:xfrm>
            <a:off x="10115914" y="3273044"/>
            <a:ext cx="0" cy="766420"/>
          </a:xfrm>
          <a:prstGeom prst="line">
            <a:avLst/>
          </a:prstGeom>
          <a:noFill/>
          <a:ln w="7620">
            <a:solidFill>
              <a:srgbClr val="FFFFFF">
                <a:alpha val="60000"/>
              </a:srgbClr>
            </a:solidFill>
            <a:prstDash val="solid"/>
          </a:ln>
        </p:spPr>
      </p:sp>
      <p:sp>
        <p:nvSpPr>
          <p:cNvPr id="53" name="Map – label leader"/>
          <p:cNvSpPr/>
          <p:nvPr/>
        </p:nvSpPr>
        <p:spPr>
          <a:xfrm flipV="1">
            <a:off x="10195064" y="3492500"/>
            <a:ext cx="171824" cy="522749"/>
          </a:xfrm>
          <a:prstGeom prst="line">
            <a:avLst/>
          </a:prstGeom>
          <a:noFill/>
          <a:ln w="7620">
            <a:solidFill>
              <a:srgbClr val="FFFFFF">
                <a:alpha val="60000"/>
              </a:srgbClr>
            </a:solidFill>
            <a:prstDash val="solid"/>
          </a:ln>
        </p:spPr>
      </p:sp>
      <p:sp>
        <p:nvSpPr>
          <p:cNvPr id="54" name="Map – label leader"/>
          <p:cNvSpPr/>
          <p:nvPr/>
        </p:nvSpPr>
        <p:spPr>
          <a:xfrm flipV="1">
            <a:off x="10595922" y="3852672"/>
            <a:ext cx="341993" cy="219060"/>
          </a:xfrm>
          <a:prstGeom prst="line">
            <a:avLst/>
          </a:prstGeom>
          <a:noFill/>
          <a:ln w="7620">
            <a:solidFill>
              <a:srgbClr val="FFFFFF">
                <a:alpha val="60000"/>
              </a:srgbClr>
            </a:solidFill>
            <a:prstDash val="solid"/>
          </a:ln>
        </p:spPr>
      </p:sp>
      <p:sp>
        <p:nvSpPr>
          <p:cNvPr id="55" name="Map – label leader"/>
          <p:cNvSpPr/>
          <p:nvPr/>
        </p:nvSpPr>
        <p:spPr>
          <a:xfrm>
            <a:off x="10593369" y="4114720"/>
            <a:ext cx="336454" cy="0"/>
          </a:xfrm>
          <a:prstGeom prst="line">
            <a:avLst/>
          </a:prstGeom>
          <a:noFill/>
          <a:ln w="7620">
            <a:solidFill>
              <a:srgbClr val="FFFFFF">
                <a:alpha val="60000"/>
              </a:srgbClr>
            </a:solidFill>
            <a:prstDash val="solid"/>
          </a:ln>
        </p:spPr>
      </p:sp>
      <p:sp>
        <p:nvSpPr>
          <p:cNvPr id="56" name="Map – label leader"/>
          <p:cNvSpPr/>
          <p:nvPr/>
        </p:nvSpPr>
        <p:spPr>
          <a:xfrm>
            <a:off x="10902311" y="4366500"/>
            <a:ext cx="347552" cy="0"/>
          </a:xfrm>
          <a:prstGeom prst="line">
            <a:avLst/>
          </a:prstGeom>
          <a:noFill/>
          <a:ln w="7620">
            <a:solidFill>
              <a:srgbClr val="FFFFFF">
                <a:alpha val="60000"/>
              </a:srgbClr>
            </a:solidFill>
            <a:prstDash val="solid"/>
          </a:ln>
        </p:spPr>
      </p:sp>
      <p:sp>
        <p:nvSpPr>
          <p:cNvPr id="57" name="Map – label leader"/>
          <p:cNvSpPr/>
          <p:nvPr/>
        </p:nvSpPr>
        <p:spPr>
          <a:xfrm>
            <a:off x="10978908" y="4611693"/>
            <a:ext cx="344107" cy="119311"/>
          </a:xfrm>
          <a:prstGeom prst="line">
            <a:avLst/>
          </a:prstGeom>
          <a:noFill/>
          <a:ln w="7620">
            <a:solidFill>
              <a:srgbClr val="FFFFFF">
                <a:alpha val="60000"/>
              </a:srgbClr>
            </a:solidFill>
            <a:prstDash val="solid"/>
          </a:ln>
        </p:spPr>
      </p:sp>
      <p:sp>
        <p:nvSpPr>
          <p:cNvPr id="58" name="Map – label leader"/>
          <p:cNvSpPr/>
          <p:nvPr/>
        </p:nvSpPr>
        <p:spPr>
          <a:xfrm>
            <a:off x="11029973" y="4823974"/>
            <a:ext cx="329619" cy="89910"/>
          </a:xfrm>
          <a:prstGeom prst="line">
            <a:avLst/>
          </a:prstGeom>
          <a:noFill/>
          <a:ln w="7620">
            <a:solidFill>
              <a:srgbClr val="FFFFFF">
                <a:alpha val="60000"/>
              </a:srgbClr>
            </a:solidFill>
            <a:prstDash val="solid"/>
          </a:ln>
        </p:spPr>
      </p:sp>
      <p:sp>
        <p:nvSpPr>
          <p:cNvPr id="59" name="Map – label leader"/>
          <p:cNvSpPr/>
          <p:nvPr/>
        </p:nvSpPr>
        <p:spPr>
          <a:xfrm>
            <a:off x="11119336" y="5022247"/>
            <a:ext cx="276831" cy="56229"/>
          </a:xfrm>
          <a:prstGeom prst="line">
            <a:avLst/>
          </a:prstGeom>
          <a:noFill/>
          <a:ln w="7620">
            <a:solidFill>
              <a:srgbClr val="FFFFFF">
                <a:alpha val="60000"/>
              </a:srgbClr>
            </a:solidFill>
            <a:prstDash val="solid"/>
          </a:ln>
        </p:spPr>
      </p:sp>
      <p:sp>
        <p:nvSpPr>
          <p:cNvPr id="60" name="Map – label leader"/>
          <p:cNvSpPr/>
          <p:nvPr/>
        </p:nvSpPr>
        <p:spPr>
          <a:xfrm>
            <a:off x="11126996" y="5219842"/>
            <a:ext cx="269172" cy="14082"/>
          </a:xfrm>
          <a:prstGeom prst="line">
            <a:avLst/>
          </a:prstGeom>
          <a:noFill/>
          <a:ln w="7620">
            <a:solidFill>
              <a:srgbClr val="FFFFFF">
                <a:alpha val="60000"/>
              </a:srgbClr>
            </a:solidFill>
            <a:prstDash val="solid"/>
          </a:ln>
        </p:spPr>
      </p:sp>
      <p:sp>
        <p:nvSpPr>
          <p:cNvPr id="61" name="Map – label leader"/>
          <p:cNvSpPr/>
          <p:nvPr/>
        </p:nvSpPr>
        <p:spPr>
          <a:xfrm>
            <a:off x="11471682" y="5429907"/>
            <a:ext cx="0" cy="254613"/>
          </a:xfrm>
          <a:prstGeom prst="line">
            <a:avLst/>
          </a:prstGeom>
          <a:noFill/>
          <a:ln w="7620">
            <a:solidFill>
              <a:srgbClr val="FFFFFF">
                <a:alpha val="60000"/>
              </a:srgbClr>
            </a:solidFill>
            <a:prstDash val="solid"/>
          </a:ln>
        </p:spPr>
      </p:sp>
      <p:sp>
        <p:nvSpPr>
          <p:cNvPr id="62" name="Map – label leader"/>
          <p:cNvSpPr/>
          <p:nvPr/>
        </p:nvSpPr>
        <p:spPr>
          <a:xfrm>
            <a:off x="11042739" y="6056192"/>
            <a:ext cx="207124" cy="59112"/>
          </a:xfrm>
          <a:prstGeom prst="line">
            <a:avLst/>
          </a:prstGeom>
          <a:noFill/>
          <a:ln w="7620">
            <a:solidFill>
              <a:srgbClr val="FFFFFF">
                <a:alpha val="60000"/>
              </a:srgbClr>
            </a:solidFill>
            <a:prstDash val="solid"/>
          </a:ln>
        </p:spPr>
      </p:sp>
      <p:sp>
        <p:nvSpPr>
          <p:cNvPr id="63" name="Map – label leader"/>
          <p:cNvSpPr/>
          <p:nvPr/>
        </p:nvSpPr>
        <p:spPr>
          <a:xfrm>
            <a:off x="10518343" y="4318387"/>
            <a:ext cx="161836" cy="0"/>
          </a:xfrm>
          <a:prstGeom prst="line">
            <a:avLst/>
          </a:prstGeom>
          <a:noFill/>
          <a:ln w="7620">
            <a:solidFill>
              <a:srgbClr val="FFFFFF">
                <a:alpha val="60000"/>
              </a:srgbClr>
            </a:solidFill>
            <a:prstDash val="solid"/>
          </a:ln>
        </p:spPr>
      </p:sp>
      <p:sp>
        <p:nvSpPr>
          <p:cNvPr id="64" name="Map – label leader"/>
          <p:cNvSpPr/>
          <p:nvPr/>
        </p:nvSpPr>
        <p:spPr>
          <a:xfrm flipV="1">
            <a:off x="10244023" y="4475916"/>
            <a:ext cx="566371" cy="297760"/>
          </a:xfrm>
          <a:prstGeom prst="line">
            <a:avLst/>
          </a:prstGeom>
          <a:noFill/>
          <a:ln w="7620">
            <a:solidFill>
              <a:srgbClr val="FFFFFF">
                <a:alpha val="60000"/>
              </a:srgbClr>
            </a:solidFill>
            <a:prstDash val="solid"/>
          </a:ln>
        </p:spPr>
      </p:sp>
      <p:sp>
        <p:nvSpPr>
          <p:cNvPr id="65" name="Map – label leader"/>
          <p:cNvSpPr/>
          <p:nvPr/>
        </p:nvSpPr>
        <p:spPr>
          <a:xfrm>
            <a:off x="10957255" y="5414177"/>
            <a:ext cx="105909" cy="0"/>
          </a:xfrm>
          <a:prstGeom prst="line">
            <a:avLst/>
          </a:prstGeom>
          <a:noFill/>
          <a:ln w="7620">
            <a:solidFill>
              <a:srgbClr val="FFFFFF">
                <a:alpha val="60000"/>
              </a:srgbClr>
            </a:solidFill>
            <a:prstDash val="solid"/>
          </a:ln>
        </p:spPr>
      </p:sp>
      <p:sp>
        <p:nvSpPr>
          <p:cNvPr id="66" name="Map – label leader"/>
          <p:cNvSpPr/>
          <p:nvPr/>
        </p:nvSpPr>
        <p:spPr>
          <a:xfrm flipV="1">
            <a:off x="10756087" y="5704590"/>
            <a:ext cx="171756" cy="71370"/>
          </a:xfrm>
          <a:prstGeom prst="line">
            <a:avLst/>
          </a:prstGeom>
          <a:noFill/>
          <a:ln w="7620">
            <a:solidFill>
              <a:srgbClr val="FFFFFF">
                <a:alpha val="60000"/>
              </a:srgbClr>
            </a:solidFill>
            <a:prstDash val="solid"/>
          </a:ln>
        </p:spPr>
      </p:sp>
      <p:sp>
        <p:nvSpPr>
          <p:cNvPr id="67" name="Map – label leader"/>
          <p:cNvSpPr/>
          <p:nvPr/>
        </p:nvSpPr>
        <p:spPr>
          <a:xfrm>
            <a:off x="8780090" y="5412740"/>
            <a:ext cx="33673" cy="169036"/>
          </a:xfrm>
          <a:prstGeom prst="line">
            <a:avLst/>
          </a:prstGeom>
          <a:noFill/>
          <a:ln w="7620">
            <a:solidFill>
              <a:srgbClr val="FFFFFF">
                <a:alpha val="60000"/>
              </a:srgbClr>
            </a:solidFill>
            <a:prstDash val="solid"/>
          </a:ln>
        </p:spPr>
      </p:sp>
      <p:sp>
        <p:nvSpPr>
          <p:cNvPr id="68" name="Map – label leader"/>
          <p:cNvSpPr/>
          <p:nvPr/>
        </p:nvSpPr>
        <p:spPr>
          <a:xfrm>
            <a:off x="9094619" y="5412740"/>
            <a:ext cx="0" cy="276184"/>
          </a:xfrm>
          <a:prstGeom prst="line">
            <a:avLst/>
          </a:prstGeom>
          <a:noFill/>
          <a:ln w="7620">
            <a:solidFill>
              <a:srgbClr val="FFFFFF">
                <a:alpha val="60000"/>
              </a:srgbClr>
            </a:solidFill>
            <a:prstDash val="solid"/>
          </a:ln>
        </p:spPr>
      </p:sp>
      <p:sp>
        <p:nvSpPr>
          <p:cNvPr id="69" name="Map – label leader"/>
          <p:cNvSpPr/>
          <p:nvPr/>
        </p:nvSpPr>
        <p:spPr>
          <a:xfrm flipV="1">
            <a:off x="9263133" y="5412740"/>
            <a:ext cx="164851" cy="265738"/>
          </a:xfrm>
          <a:prstGeom prst="line">
            <a:avLst/>
          </a:prstGeom>
          <a:noFill/>
          <a:ln w="7620">
            <a:solidFill>
              <a:srgbClr val="FFFFFF">
                <a:alpha val="60000"/>
              </a:srgbClr>
            </a:solidFill>
            <a:prstDash val="solid"/>
          </a:ln>
        </p:spPr>
      </p:sp>
      <p:sp>
        <p:nvSpPr>
          <p:cNvPr id="70" name="Map – label leader"/>
          <p:cNvSpPr/>
          <p:nvPr/>
        </p:nvSpPr>
        <p:spPr>
          <a:xfrm flipV="1">
            <a:off x="8022797" y="3985636"/>
            <a:ext cx="201168" cy="120701"/>
          </a:xfrm>
          <a:prstGeom prst="line">
            <a:avLst/>
          </a:prstGeom>
          <a:noFill/>
          <a:ln w="7620">
            <a:solidFill>
              <a:srgbClr val="FFFFFF">
                <a:alpha val="60000"/>
              </a:srgbClr>
            </a:solidFill>
            <a:prstDash val="solid"/>
          </a:ln>
        </p:spPr>
      </p:sp>
      <p:sp>
        <p:nvSpPr>
          <p:cNvPr id="71" name="Map – label leader"/>
          <p:cNvSpPr/>
          <p:nvPr/>
        </p:nvSpPr>
        <p:spPr>
          <a:xfrm>
            <a:off x="8839296" y="4004483"/>
            <a:ext cx="0" cy="201168"/>
          </a:xfrm>
          <a:prstGeom prst="line">
            <a:avLst/>
          </a:prstGeom>
          <a:noFill/>
          <a:ln w="7620">
            <a:solidFill>
              <a:srgbClr val="FFFFFF">
                <a:alpha val="60000"/>
              </a:srgbClr>
            </a:solidFill>
            <a:prstDash val="solid"/>
          </a:ln>
        </p:spPr>
      </p:sp>
      <p:sp>
        <p:nvSpPr>
          <p:cNvPr id="72" name="Map – label leader"/>
          <p:cNvSpPr/>
          <p:nvPr/>
        </p:nvSpPr>
        <p:spPr>
          <a:xfrm>
            <a:off x="7087775" y="4133515"/>
            <a:ext cx="201168" cy="120701"/>
          </a:xfrm>
          <a:prstGeom prst="line">
            <a:avLst/>
          </a:prstGeom>
          <a:noFill/>
          <a:ln w="7620">
            <a:solidFill>
              <a:srgbClr val="FFFFFF">
                <a:alpha val="60000"/>
              </a:srgbClr>
            </a:solidFill>
            <a:prstDash val="solid"/>
          </a:ln>
        </p:spPr>
      </p:sp>
      <p:sp>
        <p:nvSpPr>
          <p:cNvPr id="73" name="Map – label leader"/>
          <p:cNvSpPr/>
          <p:nvPr/>
        </p:nvSpPr>
        <p:spPr>
          <a:xfrm>
            <a:off x="9646543" y="3702812"/>
            <a:ext cx="168089" cy="301671"/>
          </a:xfrm>
          <a:prstGeom prst="line">
            <a:avLst/>
          </a:prstGeom>
          <a:noFill/>
          <a:ln w="7620">
            <a:solidFill>
              <a:srgbClr val="FFFFFF">
                <a:alpha val="60000"/>
              </a:srgbClr>
            </a:solidFill>
            <a:prstDash val="solid"/>
          </a:ln>
        </p:spPr>
      </p:sp>
      <p:sp>
        <p:nvSpPr>
          <p:cNvPr id="74" name="Map – label leader"/>
          <p:cNvSpPr/>
          <p:nvPr/>
        </p:nvSpPr>
        <p:spPr>
          <a:xfrm>
            <a:off x="10115914" y="3273044"/>
            <a:ext cx="0" cy="766420"/>
          </a:xfrm>
          <a:prstGeom prst="line">
            <a:avLst/>
          </a:prstGeom>
          <a:noFill/>
          <a:ln w="7620">
            <a:solidFill>
              <a:srgbClr val="FFFFFF">
                <a:alpha val="60000"/>
              </a:srgbClr>
            </a:solidFill>
            <a:prstDash val="solid"/>
          </a:ln>
        </p:spPr>
      </p:sp>
      <p:sp>
        <p:nvSpPr>
          <p:cNvPr id="75" name="Map – label leader"/>
          <p:cNvSpPr/>
          <p:nvPr/>
        </p:nvSpPr>
        <p:spPr>
          <a:xfrm flipV="1">
            <a:off x="10195064" y="3492500"/>
            <a:ext cx="320451" cy="522749"/>
          </a:xfrm>
          <a:prstGeom prst="line">
            <a:avLst/>
          </a:prstGeom>
          <a:noFill/>
          <a:ln w="7620">
            <a:solidFill>
              <a:srgbClr val="FFFFFF">
                <a:alpha val="60000"/>
              </a:srgbClr>
            </a:solidFill>
            <a:prstDash val="solid"/>
          </a:ln>
        </p:spPr>
      </p:sp>
      <p:sp>
        <p:nvSpPr>
          <p:cNvPr id="76" name="Map – label leader"/>
          <p:cNvSpPr/>
          <p:nvPr/>
        </p:nvSpPr>
        <p:spPr>
          <a:xfrm flipV="1">
            <a:off x="10595922" y="3852672"/>
            <a:ext cx="532433" cy="219060"/>
          </a:xfrm>
          <a:prstGeom prst="line">
            <a:avLst/>
          </a:prstGeom>
          <a:noFill/>
          <a:ln w="7620">
            <a:solidFill>
              <a:srgbClr val="FFFFFF">
                <a:alpha val="60000"/>
              </a:srgbClr>
            </a:solidFill>
            <a:prstDash val="solid"/>
          </a:ln>
        </p:spPr>
      </p:sp>
      <p:sp>
        <p:nvSpPr>
          <p:cNvPr id="77" name="Map – label leader"/>
          <p:cNvSpPr/>
          <p:nvPr/>
        </p:nvSpPr>
        <p:spPr>
          <a:xfrm>
            <a:off x="10902311" y="4366500"/>
            <a:ext cx="347552" cy="228360"/>
          </a:xfrm>
          <a:prstGeom prst="line">
            <a:avLst/>
          </a:prstGeom>
          <a:noFill/>
          <a:ln w="7620">
            <a:solidFill>
              <a:srgbClr val="FFFFFF">
                <a:alpha val="60000"/>
              </a:srgbClr>
            </a:solidFill>
            <a:prstDash val="solid"/>
          </a:ln>
        </p:spPr>
      </p:sp>
      <p:sp>
        <p:nvSpPr>
          <p:cNvPr id="78" name="Map – label leader"/>
          <p:cNvSpPr/>
          <p:nvPr/>
        </p:nvSpPr>
        <p:spPr>
          <a:xfrm>
            <a:off x="11471682" y="5429907"/>
            <a:ext cx="0" cy="384661"/>
          </a:xfrm>
          <a:prstGeom prst="line">
            <a:avLst/>
          </a:prstGeom>
          <a:noFill/>
          <a:ln w="7620">
            <a:solidFill>
              <a:srgbClr val="FFFFFF">
                <a:alpha val="60000"/>
              </a:srgbClr>
            </a:solidFill>
            <a:prstDash val="solid"/>
          </a:ln>
        </p:spPr>
      </p:sp>
      <p:sp>
        <p:nvSpPr>
          <p:cNvPr id="79" name="Map – label leader"/>
          <p:cNvSpPr/>
          <p:nvPr/>
        </p:nvSpPr>
        <p:spPr>
          <a:xfrm flipV="1">
            <a:off x="10518343" y="4318387"/>
            <a:ext cx="161836" cy="175889"/>
          </a:xfrm>
          <a:prstGeom prst="line">
            <a:avLst/>
          </a:prstGeom>
          <a:noFill/>
          <a:ln w="7620">
            <a:solidFill>
              <a:srgbClr val="FFFFFF">
                <a:alpha val="60000"/>
              </a:srgbClr>
            </a:solidFill>
            <a:prstDash val="solid"/>
          </a:ln>
        </p:spPr>
      </p:sp>
      <p:sp>
        <p:nvSpPr>
          <p:cNvPr id="80" name="Map – label leader"/>
          <p:cNvSpPr/>
          <p:nvPr/>
        </p:nvSpPr>
        <p:spPr>
          <a:xfrm flipV="1">
            <a:off x="10244023" y="4475916"/>
            <a:ext cx="566371" cy="548712"/>
          </a:xfrm>
          <a:prstGeom prst="line">
            <a:avLst/>
          </a:prstGeom>
          <a:noFill/>
          <a:ln w="7620">
            <a:solidFill>
              <a:srgbClr val="FFFFFF">
                <a:alpha val="60000"/>
              </a:srgbClr>
            </a:solidFill>
            <a:prstDash val="solid"/>
          </a:ln>
        </p:spPr>
      </p:sp>
      <p:sp>
        <p:nvSpPr>
          <p:cNvPr id="81" name="Map – label leader"/>
          <p:cNvSpPr/>
          <p:nvPr/>
        </p:nvSpPr>
        <p:spPr>
          <a:xfrm>
            <a:off x="10856671" y="4664842"/>
            <a:ext cx="76278" cy="0"/>
          </a:xfrm>
          <a:prstGeom prst="line">
            <a:avLst/>
          </a:prstGeom>
          <a:noFill/>
          <a:ln w="7620">
            <a:solidFill>
              <a:srgbClr val="FFFFFF">
                <a:alpha val="60000"/>
              </a:srgbClr>
            </a:solidFill>
            <a:prstDash val="solid"/>
          </a:ln>
        </p:spPr>
      </p:sp>
      <p:sp>
        <p:nvSpPr>
          <p:cNvPr id="82" name="Map – label leader"/>
          <p:cNvSpPr/>
          <p:nvPr/>
        </p:nvSpPr>
        <p:spPr>
          <a:xfrm>
            <a:off x="10948111" y="4850451"/>
            <a:ext cx="71648" cy="0"/>
          </a:xfrm>
          <a:prstGeom prst="line">
            <a:avLst/>
          </a:prstGeom>
          <a:noFill/>
          <a:ln w="7620">
            <a:solidFill>
              <a:srgbClr val="FFFFFF">
                <a:alpha val="60000"/>
              </a:srgbClr>
            </a:solidFill>
            <a:prstDash val="solid"/>
          </a:ln>
        </p:spPr>
      </p:sp>
      <p:sp>
        <p:nvSpPr>
          <p:cNvPr id="83" name="Map – label leader"/>
          <p:cNvSpPr/>
          <p:nvPr/>
        </p:nvSpPr>
        <p:spPr>
          <a:xfrm flipV="1">
            <a:off x="11030407" y="5035441"/>
            <a:ext cx="71056" cy="10015"/>
          </a:xfrm>
          <a:prstGeom prst="line">
            <a:avLst/>
          </a:prstGeom>
          <a:noFill/>
          <a:ln w="7620">
            <a:solidFill>
              <a:srgbClr val="FFFFFF">
                <a:alpha val="60000"/>
              </a:srgbClr>
            </a:solidFill>
            <a:prstDash val="solid"/>
          </a:ln>
        </p:spPr>
      </p:sp>
      <p:sp>
        <p:nvSpPr>
          <p:cNvPr id="84" name="Map – label leader"/>
          <p:cNvSpPr/>
          <p:nvPr/>
        </p:nvSpPr>
        <p:spPr>
          <a:xfrm flipV="1">
            <a:off x="11048695" y="5190903"/>
            <a:ext cx="73194" cy="19145"/>
          </a:xfrm>
          <a:prstGeom prst="line">
            <a:avLst/>
          </a:prstGeom>
          <a:noFill/>
          <a:ln w="7620">
            <a:solidFill>
              <a:srgbClr val="FFFFFF">
                <a:alpha val="60000"/>
              </a:srgbClr>
            </a:solidFill>
            <a:prstDash val="solid"/>
          </a:ln>
        </p:spPr>
      </p:sp>
      <p:sp>
        <p:nvSpPr>
          <p:cNvPr id="85" name="Map – label leader"/>
          <p:cNvSpPr/>
          <p:nvPr/>
        </p:nvSpPr>
        <p:spPr>
          <a:xfrm flipV="1">
            <a:off x="10957255" y="5414177"/>
            <a:ext cx="105909" cy="186523"/>
          </a:xfrm>
          <a:prstGeom prst="line">
            <a:avLst/>
          </a:prstGeom>
          <a:noFill/>
          <a:ln w="7620">
            <a:solidFill>
              <a:srgbClr val="FFFFFF">
                <a:alpha val="60000"/>
              </a:srgbClr>
            </a:solidFill>
            <a:prstDash val="solid"/>
          </a:ln>
        </p:spPr>
      </p:sp>
      <p:sp>
        <p:nvSpPr>
          <p:cNvPr id="86" name="Map – label leader"/>
          <p:cNvSpPr/>
          <p:nvPr/>
        </p:nvSpPr>
        <p:spPr>
          <a:xfrm flipV="1">
            <a:off x="10756087" y="5704590"/>
            <a:ext cx="171756" cy="201418"/>
          </a:xfrm>
          <a:prstGeom prst="line">
            <a:avLst/>
          </a:prstGeom>
          <a:noFill/>
          <a:ln w="7620">
            <a:solidFill>
              <a:srgbClr val="FFFFFF">
                <a:alpha val="60000"/>
              </a:srgbClr>
            </a:solidFill>
            <a:prstDash val="solid"/>
          </a:ln>
        </p:spPr>
      </p:sp>
      <p:sp>
        <p:nvSpPr>
          <p:cNvPr id="87" name="Map – label leader"/>
          <p:cNvSpPr/>
          <p:nvPr/>
        </p:nvSpPr>
        <p:spPr>
          <a:xfrm flipV="1">
            <a:off x="10838383" y="6069183"/>
            <a:ext cx="148184" cy="146705"/>
          </a:xfrm>
          <a:prstGeom prst="line">
            <a:avLst/>
          </a:prstGeom>
          <a:noFill/>
          <a:ln w="7620">
            <a:solidFill>
              <a:srgbClr val="FFFFFF">
                <a:alpha val="60000"/>
              </a:srgbClr>
            </a:solidFill>
            <a:prstDash val="solid"/>
          </a:ln>
        </p:spPr>
      </p:sp>
      <p:sp>
        <p:nvSpPr>
          <p:cNvPr id="88" name="Map – label leader"/>
          <p:cNvSpPr/>
          <p:nvPr/>
        </p:nvSpPr>
        <p:spPr>
          <a:xfrm>
            <a:off x="8780090" y="5412740"/>
            <a:ext cx="33673" cy="169036"/>
          </a:xfrm>
          <a:prstGeom prst="line">
            <a:avLst/>
          </a:prstGeom>
          <a:noFill/>
          <a:ln w="7620">
            <a:solidFill>
              <a:srgbClr val="FFFFFF">
                <a:alpha val="60000"/>
              </a:srgbClr>
            </a:solidFill>
            <a:prstDash val="solid"/>
          </a:ln>
        </p:spPr>
      </p:sp>
      <p:sp>
        <p:nvSpPr>
          <p:cNvPr id="89" name="Map – label leader"/>
          <p:cNvSpPr/>
          <p:nvPr/>
        </p:nvSpPr>
        <p:spPr>
          <a:xfrm>
            <a:off x="9094619" y="5412740"/>
            <a:ext cx="0" cy="276184"/>
          </a:xfrm>
          <a:prstGeom prst="line">
            <a:avLst/>
          </a:prstGeom>
          <a:noFill/>
          <a:ln w="7620">
            <a:solidFill>
              <a:srgbClr val="FFFFFF">
                <a:alpha val="60000"/>
              </a:srgbClr>
            </a:solidFill>
            <a:prstDash val="solid"/>
          </a:ln>
        </p:spPr>
      </p:sp>
      <p:sp>
        <p:nvSpPr>
          <p:cNvPr id="90" name="Map – label leader"/>
          <p:cNvSpPr/>
          <p:nvPr/>
        </p:nvSpPr>
        <p:spPr>
          <a:xfrm flipV="1">
            <a:off x="9263133" y="5412740"/>
            <a:ext cx="180875" cy="265738"/>
          </a:xfrm>
          <a:prstGeom prst="line">
            <a:avLst/>
          </a:prstGeom>
          <a:noFill/>
          <a:ln w="7620">
            <a:solidFill>
              <a:srgbClr val="FFFFFF">
                <a:alpha val="60000"/>
              </a:srgbClr>
            </a:solidFill>
            <a:prstDash val="solid"/>
          </a:ln>
        </p:spPr>
      </p:sp>
      <p:sp>
        <p:nvSpPr>
          <p:cNvPr id="91" name="Map – capital"/>
          <p:cNvSpPr/>
          <p:nvPr/>
        </p:nvSpPr>
        <p:spPr>
          <a:xfrm>
            <a:off x="6919648" y="2166281"/>
            <a:ext cx="50292" cy="50292"/>
          </a:xfrm>
          <a:prstGeom prst="ellipse">
            <a:avLst/>
          </a:prstGeom>
          <a:solidFill>
            <a:srgbClr val="0B2545"/>
          </a:solidFill>
          <a:ln w="11430">
            <a:solidFill>
              <a:srgbClr val="FFFFFF"/>
            </a:solidFill>
            <a:prstDash val="solid"/>
          </a:ln>
        </p:spPr>
      </p:sp>
      <p:sp>
        <p:nvSpPr>
          <p:cNvPr id="92" name="Map – capital"/>
          <p:cNvSpPr/>
          <p:nvPr/>
        </p:nvSpPr>
        <p:spPr>
          <a:xfrm>
            <a:off x="5637923" y="2706125"/>
            <a:ext cx="50292" cy="50292"/>
          </a:xfrm>
          <a:prstGeom prst="ellipse">
            <a:avLst/>
          </a:prstGeom>
          <a:solidFill>
            <a:srgbClr val="0B2545"/>
          </a:solidFill>
          <a:ln w="11430">
            <a:solidFill>
              <a:srgbClr val="FFFFFF"/>
            </a:solidFill>
            <a:prstDash val="solid"/>
          </a:ln>
        </p:spPr>
      </p:sp>
      <p:sp>
        <p:nvSpPr>
          <p:cNvPr id="93" name="Map – capital"/>
          <p:cNvSpPr/>
          <p:nvPr/>
        </p:nvSpPr>
        <p:spPr>
          <a:xfrm>
            <a:off x="5890694" y="3758065"/>
            <a:ext cx="50292" cy="50292"/>
          </a:xfrm>
          <a:prstGeom prst="ellipse">
            <a:avLst/>
          </a:prstGeom>
          <a:solidFill>
            <a:srgbClr val="0B2545"/>
          </a:solidFill>
          <a:ln w="11430">
            <a:solidFill>
              <a:srgbClr val="FFFFFF"/>
            </a:solidFill>
            <a:prstDash val="solid"/>
          </a:ln>
        </p:spPr>
      </p:sp>
      <p:sp>
        <p:nvSpPr>
          <p:cNvPr id="94" name="Map – capital"/>
          <p:cNvSpPr/>
          <p:nvPr/>
        </p:nvSpPr>
        <p:spPr>
          <a:xfrm>
            <a:off x="8505208" y="3166989"/>
            <a:ext cx="50292" cy="50292"/>
          </a:xfrm>
          <a:prstGeom prst="ellipse">
            <a:avLst/>
          </a:prstGeom>
          <a:solidFill>
            <a:srgbClr val="0B2545"/>
          </a:solidFill>
          <a:ln w="11430">
            <a:solidFill>
              <a:srgbClr val="FFFFFF"/>
            </a:solidFill>
            <a:prstDash val="solid"/>
          </a:ln>
        </p:spPr>
      </p:sp>
      <p:sp>
        <p:nvSpPr>
          <p:cNvPr id="95" name="Map – capital"/>
          <p:cNvSpPr/>
          <p:nvPr/>
        </p:nvSpPr>
        <p:spPr>
          <a:xfrm>
            <a:off x="8198819" y="3960490"/>
            <a:ext cx="50292" cy="50292"/>
          </a:xfrm>
          <a:prstGeom prst="ellipse">
            <a:avLst/>
          </a:prstGeom>
          <a:solidFill>
            <a:srgbClr val="0B2545"/>
          </a:solidFill>
          <a:ln w="11430">
            <a:solidFill>
              <a:srgbClr val="FFFFFF"/>
            </a:solidFill>
            <a:prstDash val="solid"/>
          </a:ln>
        </p:spPr>
      </p:sp>
      <p:sp>
        <p:nvSpPr>
          <p:cNvPr id="96" name="Map – capital"/>
          <p:cNvSpPr/>
          <p:nvPr/>
        </p:nvSpPr>
        <p:spPr>
          <a:xfrm>
            <a:off x="8814150" y="3979337"/>
            <a:ext cx="50292" cy="50292"/>
          </a:xfrm>
          <a:prstGeom prst="ellipse">
            <a:avLst/>
          </a:prstGeom>
          <a:solidFill>
            <a:srgbClr val="0B2545"/>
          </a:solidFill>
          <a:ln w="11430">
            <a:solidFill>
              <a:srgbClr val="FFFFFF"/>
            </a:solidFill>
            <a:prstDash val="solid"/>
          </a:ln>
        </p:spPr>
      </p:sp>
      <p:sp>
        <p:nvSpPr>
          <p:cNvPr id="97" name="Map – capital"/>
          <p:cNvSpPr/>
          <p:nvPr/>
        </p:nvSpPr>
        <p:spPr>
          <a:xfrm>
            <a:off x="7062629" y="4108369"/>
            <a:ext cx="50292" cy="50292"/>
          </a:xfrm>
          <a:prstGeom prst="ellipse">
            <a:avLst/>
          </a:prstGeom>
          <a:solidFill>
            <a:srgbClr val="0B2545"/>
          </a:solidFill>
          <a:ln w="11430">
            <a:solidFill>
              <a:srgbClr val="FFFFFF"/>
            </a:solidFill>
            <a:prstDash val="solid"/>
          </a:ln>
        </p:spPr>
      </p:sp>
      <p:sp>
        <p:nvSpPr>
          <p:cNvPr id="98" name="Map – capital"/>
          <p:cNvSpPr/>
          <p:nvPr/>
        </p:nvSpPr>
        <p:spPr>
          <a:xfrm>
            <a:off x="9789486" y="3979337"/>
            <a:ext cx="50292" cy="50292"/>
          </a:xfrm>
          <a:prstGeom prst="ellipse">
            <a:avLst/>
          </a:prstGeom>
          <a:solidFill>
            <a:srgbClr val="0B2545"/>
          </a:solidFill>
          <a:ln w="11430">
            <a:solidFill>
              <a:srgbClr val="FFFFFF"/>
            </a:solidFill>
            <a:prstDash val="solid"/>
          </a:ln>
        </p:spPr>
      </p:sp>
      <p:sp>
        <p:nvSpPr>
          <p:cNvPr id="99" name="Map – capital"/>
          <p:cNvSpPr/>
          <p:nvPr/>
        </p:nvSpPr>
        <p:spPr>
          <a:xfrm>
            <a:off x="10090768" y="4014318"/>
            <a:ext cx="50292" cy="50292"/>
          </a:xfrm>
          <a:prstGeom prst="ellipse">
            <a:avLst/>
          </a:prstGeom>
          <a:solidFill>
            <a:srgbClr val="0B2545"/>
          </a:solidFill>
          <a:ln w="11430">
            <a:solidFill>
              <a:srgbClr val="FFFFFF"/>
            </a:solidFill>
            <a:prstDash val="solid"/>
          </a:ln>
        </p:spPr>
      </p:sp>
      <p:sp>
        <p:nvSpPr>
          <p:cNvPr id="100" name="Map – capital"/>
          <p:cNvSpPr/>
          <p:nvPr/>
        </p:nvSpPr>
        <p:spPr>
          <a:xfrm>
            <a:off x="10169918" y="3990103"/>
            <a:ext cx="50292" cy="50292"/>
          </a:xfrm>
          <a:prstGeom prst="ellipse">
            <a:avLst/>
          </a:prstGeom>
          <a:solidFill>
            <a:srgbClr val="0B2545"/>
          </a:solidFill>
          <a:ln w="11430">
            <a:solidFill>
              <a:srgbClr val="FFFFFF"/>
            </a:solidFill>
            <a:prstDash val="solid"/>
          </a:ln>
        </p:spPr>
      </p:sp>
      <p:sp>
        <p:nvSpPr>
          <p:cNvPr id="101" name="Map – capital"/>
          <p:cNvSpPr/>
          <p:nvPr/>
        </p:nvSpPr>
        <p:spPr>
          <a:xfrm>
            <a:off x="10570776" y="4046586"/>
            <a:ext cx="50292" cy="50292"/>
          </a:xfrm>
          <a:prstGeom prst="ellipse">
            <a:avLst/>
          </a:prstGeom>
          <a:solidFill>
            <a:srgbClr val="0B2545"/>
          </a:solidFill>
          <a:ln w="11430">
            <a:solidFill>
              <a:srgbClr val="FFFFFF"/>
            </a:solidFill>
            <a:prstDash val="solid"/>
          </a:ln>
        </p:spPr>
      </p:sp>
      <p:sp>
        <p:nvSpPr>
          <p:cNvPr id="102" name="Map – capital"/>
          <p:cNvSpPr/>
          <p:nvPr/>
        </p:nvSpPr>
        <p:spPr>
          <a:xfrm>
            <a:off x="10877165" y="4341354"/>
            <a:ext cx="50292" cy="50292"/>
          </a:xfrm>
          <a:prstGeom prst="ellipse">
            <a:avLst/>
          </a:prstGeom>
          <a:solidFill>
            <a:srgbClr val="0B2545"/>
          </a:solidFill>
          <a:ln w="11430">
            <a:solidFill>
              <a:srgbClr val="FFFFFF"/>
            </a:solidFill>
            <a:prstDash val="solid"/>
          </a:ln>
        </p:spPr>
      </p:sp>
      <p:sp>
        <p:nvSpPr>
          <p:cNvPr id="103" name="Map – capital"/>
          <p:cNvSpPr/>
          <p:nvPr/>
        </p:nvSpPr>
        <p:spPr>
          <a:xfrm>
            <a:off x="11446536" y="5404761"/>
            <a:ext cx="50292" cy="50292"/>
          </a:xfrm>
          <a:prstGeom prst="ellipse">
            <a:avLst/>
          </a:prstGeom>
          <a:solidFill>
            <a:srgbClr val="0B2545"/>
          </a:solidFill>
          <a:ln w="11430">
            <a:solidFill>
              <a:srgbClr val="FFFFFF"/>
            </a:solidFill>
            <a:prstDash val="solid"/>
          </a:ln>
        </p:spPr>
      </p:sp>
      <p:sp>
        <p:nvSpPr>
          <p:cNvPr id="104" name="Map – capital"/>
          <p:cNvSpPr/>
          <p:nvPr/>
        </p:nvSpPr>
        <p:spPr>
          <a:xfrm>
            <a:off x="10655033" y="4293241"/>
            <a:ext cx="50292" cy="50292"/>
          </a:xfrm>
          <a:prstGeom prst="ellipse">
            <a:avLst/>
          </a:prstGeom>
          <a:solidFill>
            <a:srgbClr val="0B2545"/>
          </a:solidFill>
          <a:ln w="11430">
            <a:solidFill>
              <a:srgbClr val="FFFFFF"/>
            </a:solidFill>
            <a:prstDash val="solid"/>
          </a:ln>
        </p:spPr>
      </p:sp>
      <p:sp>
        <p:nvSpPr>
          <p:cNvPr id="105" name="Map – capital"/>
          <p:cNvSpPr/>
          <p:nvPr/>
        </p:nvSpPr>
        <p:spPr>
          <a:xfrm>
            <a:off x="10785248" y="4450770"/>
            <a:ext cx="50292" cy="50292"/>
          </a:xfrm>
          <a:prstGeom prst="ellipse">
            <a:avLst/>
          </a:prstGeom>
          <a:solidFill>
            <a:srgbClr val="0B2545"/>
          </a:solidFill>
          <a:ln w="11430">
            <a:solidFill>
              <a:srgbClr val="FFFFFF"/>
            </a:solidFill>
            <a:prstDash val="solid"/>
          </a:ln>
        </p:spPr>
      </p:sp>
      <p:sp>
        <p:nvSpPr>
          <p:cNvPr id="106" name="Map – capital"/>
          <p:cNvSpPr/>
          <p:nvPr/>
        </p:nvSpPr>
        <p:spPr>
          <a:xfrm>
            <a:off x="10907804" y="4639696"/>
            <a:ext cx="50292" cy="50292"/>
          </a:xfrm>
          <a:prstGeom prst="ellipse">
            <a:avLst/>
          </a:prstGeom>
          <a:solidFill>
            <a:srgbClr val="0B2545"/>
          </a:solidFill>
          <a:ln w="11430">
            <a:solidFill>
              <a:srgbClr val="FFFFFF"/>
            </a:solidFill>
            <a:prstDash val="solid"/>
          </a:ln>
        </p:spPr>
      </p:sp>
      <p:sp>
        <p:nvSpPr>
          <p:cNvPr id="107" name="Map – capital"/>
          <p:cNvSpPr/>
          <p:nvPr/>
        </p:nvSpPr>
        <p:spPr>
          <a:xfrm>
            <a:off x="10994614" y="4825305"/>
            <a:ext cx="50292" cy="50292"/>
          </a:xfrm>
          <a:prstGeom prst="ellipse">
            <a:avLst/>
          </a:prstGeom>
          <a:solidFill>
            <a:srgbClr val="0B2545"/>
          </a:solidFill>
          <a:ln w="11430">
            <a:solidFill>
              <a:srgbClr val="FFFFFF"/>
            </a:solidFill>
            <a:prstDash val="solid"/>
          </a:ln>
        </p:spPr>
      </p:sp>
      <p:sp>
        <p:nvSpPr>
          <p:cNvPr id="108" name="Map – capital"/>
          <p:cNvSpPr/>
          <p:nvPr/>
        </p:nvSpPr>
        <p:spPr>
          <a:xfrm>
            <a:off x="11076317" y="5010295"/>
            <a:ext cx="50292" cy="50292"/>
          </a:xfrm>
          <a:prstGeom prst="ellipse">
            <a:avLst/>
          </a:prstGeom>
          <a:solidFill>
            <a:srgbClr val="0B2545"/>
          </a:solidFill>
          <a:ln w="11430">
            <a:solidFill>
              <a:srgbClr val="FFFFFF"/>
            </a:solidFill>
            <a:prstDash val="solid"/>
          </a:ln>
        </p:spPr>
      </p:sp>
      <p:sp>
        <p:nvSpPr>
          <p:cNvPr id="109" name="Map – capital"/>
          <p:cNvSpPr/>
          <p:nvPr/>
        </p:nvSpPr>
        <p:spPr>
          <a:xfrm>
            <a:off x="11096743" y="5165757"/>
            <a:ext cx="50292" cy="50292"/>
          </a:xfrm>
          <a:prstGeom prst="ellipse">
            <a:avLst/>
          </a:prstGeom>
          <a:solidFill>
            <a:srgbClr val="0B2545"/>
          </a:solidFill>
          <a:ln w="11430">
            <a:solidFill>
              <a:srgbClr val="FFFFFF"/>
            </a:solidFill>
            <a:prstDash val="solid"/>
          </a:ln>
        </p:spPr>
      </p:sp>
      <p:sp>
        <p:nvSpPr>
          <p:cNvPr id="110" name="Map – capital"/>
          <p:cNvSpPr/>
          <p:nvPr/>
        </p:nvSpPr>
        <p:spPr>
          <a:xfrm>
            <a:off x="11038019" y="5389031"/>
            <a:ext cx="50292" cy="50292"/>
          </a:xfrm>
          <a:prstGeom prst="ellipse">
            <a:avLst/>
          </a:prstGeom>
          <a:solidFill>
            <a:srgbClr val="0B2545"/>
          </a:solidFill>
          <a:ln w="11430">
            <a:solidFill>
              <a:srgbClr val="FFFFFF"/>
            </a:solidFill>
            <a:prstDash val="solid"/>
          </a:ln>
        </p:spPr>
      </p:sp>
      <p:sp>
        <p:nvSpPr>
          <p:cNvPr id="111" name="Map – capital"/>
          <p:cNvSpPr/>
          <p:nvPr/>
        </p:nvSpPr>
        <p:spPr>
          <a:xfrm>
            <a:off x="10902697" y="5679444"/>
            <a:ext cx="50292" cy="50292"/>
          </a:xfrm>
          <a:prstGeom prst="ellipse">
            <a:avLst/>
          </a:prstGeom>
          <a:solidFill>
            <a:srgbClr val="0B2545"/>
          </a:solidFill>
          <a:ln w="11430">
            <a:solidFill>
              <a:srgbClr val="FFFFFF"/>
            </a:solidFill>
            <a:prstDash val="solid"/>
          </a:ln>
        </p:spPr>
      </p:sp>
      <p:sp>
        <p:nvSpPr>
          <p:cNvPr id="112" name="Map – capital"/>
          <p:cNvSpPr/>
          <p:nvPr/>
        </p:nvSpPr>
        <p:spPr>
          <a:xfrm>
            <a:off x="10961422" y="6044037"/>
            <a:ext cx="50292" cy="50292"/>
          </a:xfrm>
          <a:prstGeom prst="ellipse">
            <a:avLst/>
          </a:prstGeom>
          <a:solidFill>
            <a:srgbClr val="0B2545"/>
          </a:solidFill>
          <a:ln w="11430">
            <a:solidFill>
              <a:srgbClr val="FFFFFF"/>
            </a:solidFill>
            <a:prstDash val="solid"/>
          </a:ln>
        </p:spPr>
      </p:sp>
      <p:sp>
        <p:nvSpPr>
          <p:cNvPr id="113" name="Map – capital"/>
          <p:cNvSpPr/>
          <p:nvPr/>
        </p:nvSpPr>
        <p:spPr>
          <a:xfrm>
            <a:off x="8788617" y="5556630"/>
            <a:ext cx="50292" cy="50292"/>
          </a:xfrm>
          <a:prstGeom prst="ellipse">
            <a:avLst/>
          </a:prstGeom>
          <a:solidFill>
            <a:srgbClr val="0B2545"/>
          </a:solidFill>
          <a:ln w="11430">
            <a:solidFill>
              <a:srgbClr val="FFFFFF"/>
            </a:solidFill>
            <a:prstDash val="solid"/>
          </a:ln>
        </p:spPr>
      </p:sp>
      <p:sp>
        <p:nvSpPr>
          <p:cNvPr id="114" name="Map – capital"/>
          <p:cNvSpPr/>
          <p:nvPr/>
        </p:nvSpPr>
        <p:spPr>
          <a:xfrm>
            <a:off x="9069473" y="5663778"/>
            <a:ext cx="50292" cy="50292"/>
          </a:xfrm>
          <a:prstGeom prst="ellipse">
            <a:avLst/>
          </a:prstGeom>
          <a:solidFill>
            <a:srgbClr val="0B2545"/>
          </a:solidFill>
          <a:ln w="11430">
            <a:solidFill>
              <a:srgbClr val="FFFFFF"/>
            </a:solidFill>
            <a:prstDash val="solid"/>
          </a:ln>
        </p:spPr>
      </p:sp>
      <p:sp>
        <p:nvSpPr>
          <p:cNvPr id="115" name="Map – capital"/>
          <p:cNvSpPr/>
          <p:nvPr/>
        </p:nvSpPr>
        <p:spPr>
          <a:xfrm>
            <a:off x="9237987" y="5653332"/>
            <a:ext cx="50292" cy="50292"/>
          </a:xfrm>
          <a:prstGeom prst="ellipse">
            <a:avLst/>
          </a:prstGeom>
          <a:solidFill>
            <a:srgbClr val="0B2545"/>
          </a:solidFill>
          <a:ln w="11430">
            <a:solidFill>
              <a:srgbClr val="FFFFFF"/>
            </a:solidFill>
            <a:prstDash val="solid"/>
          </a:ln>
        </p:spPr>
      </p:sp>
      <p:sp>
        <p:nvSpPr>
          <p:cNvPr id="116" name="Map – capital"/>
          <p:cNvSpPr/>
          <p:nvPr/>
        </p:nvSpPr>
        <p:spPr>
          <a:xfrm>
            <a:off x="10568223" y="4089574"/>
            <a:ext cx="50292" cy="50292"/>
          </a:xfrm>
          <a:prstGeom prst="ellipse">
            <a:avLst/>
          </a:prstGeom>
          <a:solidFill>
            <a:srgbClr val="0B2545"/>
          </a:solidFill>
          <a:ln w="11430">
            <a:solidFill>
              <a:srgbClr val="FFFFFF"/>
            </a:solidFill>
            <a:prstDash val="solid"/>
          </a:ln>
        </p:spPr>
      </p:sp>
      <p:sp>
        <p:nvSpPr>
          <p:cNvPr id="117" name="Map – capital"/>
          <p:cNvSpPr/>
          <p:nvPr/>
        </p:nvSpPr>
        <p:spPr>
          <a:xfrm>
            <a:off x="11017593" y="6031046"/>
            <a:ext cx="50292" cy="50292"/>
          </a:xfrm>
          <a:prstGeom prst="ellipse">
            <a:avLst/>
          </a:prstGeom>
          <a:solidFill>
            <a:srgbClr val="0B2545"/>
          </a:solidFill>
          <a:ln w="11430">
            <a:solidFill>
              <a:srgbClr val="FFFFFF"/>
            </a:solidFill>
            <a:prstDash val="solid"/>
          </a:ln>
        </p:spPr>
      </p:sp>
      <p:sp>
        <p:nvSpPr>
          <p:cNvPr id="118" name="Map label – UNITED STATES"/>
          <p:cNvSpPr txBox="1"/>
          <p:nvPr/>
        </p:nvSpPr>
        <p:spPr>
          <a:xfrm>
            <a:off x="5289242" y="423091"/>
            <a:ext cx="936595" cy="157480"/>
          </a:xfrm>
          <a:prstGeom prst="rect">
            <a:avLst/>
          </a:prstGeom>
          <a:noFill/>
          <a:ln/>
        </p:spPr>
        <p:txBody>
          <a:bodyPr wrap="square" lIns="0" tIns="0" rIns="0" bIns="0" rtlCol="0" anchor="ctr"/>
          <a:lstStyle/>
          <a:p>
            <a:pPr algn="ctr" indent="0" marL="0">
              <a:lnSpc>
                <a:spcPts val="950"/>
              </a:lnSpc>
              <a:buNone/>
            </a:pPr>
            <a:r>
              <a:rPr lang="en-US" sz="850" b="1" spc="35" kern="0" dirty="0">
                <a:solidFill>
                  <a:srgbClr val="A8D3E6"/>
                </a:solidFill>
              </a:rPr>
              <a:t>UNITED STATES</a:t>
            </a:r>
            <a:endParaRPr lang="en-US" sz="850" dirty="0"/>
          </a:p>
        </p:txBody>
      </p:sp>
      <p:sp>
        <p:nvSpPr>
          <p:cNvPr id="119" name="Map label – PANAMA"/>
          <p:cNvSpPr txBox="1"/>
          <p:nvPr/>
        </p:nvSpPr>
        <p:spPr>
          <a:xfrm>
            <a:off x="5851707" y="6547179"/>
            <a:ext cx="628700" cy="157480"/>
          </a:xfrm>
          <a:prstGeom prst="rect">
            <a:avLst/>
          </a:prstGeom>
          <a:noFill/>
          <a:ln/>
        </p:spPr>
        <p:txBody>
          <a:bodyPr wrap="square" lIns="0" tIns="0" rIns="0" bIns="0" rtlCol="0" anchor="ctr"/>
          <a:lstStyle/>
          <a:p>
            <a:pPr algn="ctr" indent="0" marL="0">
              <a:lnSpc>
                <a:spcPts val="950"/>
              </a:lnSpc>
              <a:buNone/>
            </a:pPr>
            <a:r>
              <a:rPr lang="en-US" sz="850" b="1" spc="35" kern="0" dirty="0">
                <a:solidFill>
                  <a:srgbClr val="A8D3E6"/>
                </a:solidFill>
              </a:rPr>
              <a:t>PANAMA</a:t>
            </a:r>
            <a:endParaRPr lang="en-US" sz="850" dirty="0"/>
          </a:p>
        </p:txBody>
      </p:sp>
      <p:sp>
        <p:nvSpPr>
          <p:cNvPr id="120" name="Map label – COLOMBIA"/>
          <p:cNvSpPr txBox="1"/>
          <p:nvPr/>
        </p:nvSpPr>
        <p:spPr>
          <a:xfrm>
            <a:off x="7135597" y="6547179"/>
            <a:ext cx="716286" cy="157480"/>
          </a:xfrm>
          <a:prstGeom prst="rect">
            <a:avLst/>
          </a:prstGeom>
          <a:noFill/>
          <a:ln/>
        </p:spPr>
        <p:txBody>
          <a:bodyPr wrap="square" lIns="0" tIns="0" rIns="0" bIns="0" rtlCol="0" anchor="ctr"/>
          <a:lstStyle/>
          <a:p>
            <a:pPr algn="ctr" indent="0" marL="0">
              <a:lnSpc>
                <a:spcPts val="950"/>
              </a:lnSpc>
              <a:buNone/>
            </a:pPr>
            <a:r>
              <a:rPr lang="en-US" sz="850" b="1" spc="35" kern="0" dirty="0">
                <a:solidFill>
                  <a:srgbClr val="A8D3E6"/>
                </a:solidFill>
              </a:rPr>
              <a:t>COLOMBIA</a:t>
            </a:r>
            <a:endParaRPr lang="en-US" sz="850" dirty="0"/>
          </a:p>
        </p:txBody>
      </p:sp>
      <p:sp>
        <p:nvSpPr>
          <p:cNvPr id="121" name="Map label – VENEZUELA"/>
          <p:cNvSpPr txBox="1"/>
          <p:nvPr/>
        </p:nvSpPr>
        <p:spPr>
          <a:xfrm>
            <a:off x="9366123" y="6521360"/>
            <a:ext cx="748930" cy="157480"/>
          </a:xfrm>
          <a:prstGeom prst="rect">
            <a:avLst/>
          </a:prstGeom>
          <a:noFill/>
          <a:ln/>
        </p:spPr>
        <p:txBody>
          <a:bodyPr wrap="square" lIns="0" tIns="0" rIns="0" bIns="0" rtlCol="0" anchor="ctr"/>
          <a:lstStyle/>
          <a:p>
            <a:pPr algn="ctr" indent="0" marL="0">
              <a:lnSpc>
                <a:spcPts val="950"/>
              </a:lnSpc>
              <a:buNone/>
            </a:pPr>
            <a:r>
              <a:rPr lang="en-US" sz="850" b="1" spc="35" kern="0" dirty="0">
                <a:solidFill>
                  <a:srgbClr val="A8D3E6"/>
                </a:solidFill>
              </a:rPr>
              <a:t>VENEZUELA</a:t>
            </a:r>
            <a:endParaRPr lang="en-US" sz="850" dirty="0"/>
          </a:p>
        </p:txBody>
      </p:sp>
      <p:sp>
        <p:nvSpPr>
          <p:cNvPr id="122" name="Map label – CUBA"/>
          <p:cNvSpPr txBox="1"/>
          <p:nvPr/>
        </p:nvSpPr>
        <p:spPr>
          <a:xfrm>
            <a:off x="6219815" y="2992500"/>
            <a:ext cx="454195" cy="157480"/>
          </a:xfrm>
          <a:prstGeom prst="rect">
            <a:avLst/>
          </a:prstGeom>
          <a:noFill/>
          <a:ln/>
        </p:spPr>
        <p:txBody>
          <a:bodyPr wrap="square" lIns="0" tIns="0" rIns="0" bIns="0" rtlCol="0" anchor="ctr"/>
          <a:lstStyle/>
          <a:p>
            <a:pPr algn="ctr" indent="0" marL="0">
              <a:lnSpc>
                <a:spcPts val="950"/>
              </a:lnSpc>
              <a:buNone/>
            </a:pPr>
            <a:r>
              <a:rPr lang="en-US" sz="850" b="1" spc="35" kern="0" dirty="0">
                <a:solidFill>
                  <a:srgbClr val="0B2545"/>
                </a:solidFill>
              </a:rPr>
              <a:t>CUBA</a:t>
            </a:r>
            <a:endParaRPr lang="en-US" sz="850" dirty="0"/>
          </a:p>
        </p:txBody>
      </p:sp>
      <p:sp>
        <p:nvSpPr>
          <p:cNvPr id="123" name="Map label – HAITI"/>
          <p:cNvSpPr txBox="1"/>
          <p:nvPr/>
        </p:nvSpPr>
        <p:spPr>
          <a:xfrm>
            <a:off x="7830639" y="3416781"/>
            <a:ext cx="449627" cy="157480"/>
          </a:xfrm>
          <a:prstGeom prst="rect">
            <a:avLst/>
          </a:prstGeom>
          <a:noFill/>
          <a:ln/>
        </p:spPr>
        <p:txBody>
          <a:bodyPr wrap="square" lIns="0" tIns="0" rIns="0" bIns="0" rtlCol="0" anchor="ctr"/>
          <a:lstStyle/>
          <a:p>
            <a:pPr algn="ctr" indent="0" marL="0">
              <a:lnSpc>
                <a:spcPts val="950"/>
              </a:lnSpc>
              <a:buNone/>
            </a:pPr>
            <a:r>
              <a:rPr lang="en-US" sz="850" b="1" spc="35" kern="0" dirty="0">
                <a:solidFill>
                  <a:srgbClr val="FFFFFF"/>
                </a:solidFill>
              </a:rPr>
              <a:t>HAITI</a:t>
            </a:r>
            <a:endParaRPr lang="en-US" sz="850" dirty="0"/>
          </a:p>
        </p:txBody>
      </p:sp>
      <p:sp>
        <p:nvSpPr>
          <p:cNvPr id="124" name="Map label – DOMINICAN REPUBLIC"/>
          <p:cNvSpPr txBox="1"/>
          <p:nvPr/>
        </p:nvSpPr>
        <p:spPr>
          <a:xfrm>
            <a:off x="8380054" y="3301829"/>
            <a:ext cx="780609" cy="278384"/>
          </a:xfrm>
          <a:prstGeom prst="rect">
            <a:avLst/>
          </a:prstGeom>
          <a:noFill/>
          <a:ln/>
        </p:spPr>
        <p:txBody>
          <a:bodyPr wrap="square" lIns="0" tIns="0" rIns="0" bIns="0" rtlCol="0" anchor="ctr"/>
          <a:lstStyle/>
          <a:p>
            <a:pPr algn="ctr" indent="0" marL="0">
              <a:lnSpc>
                <a:spcPts val="950"/>
              </a:lnSpc>
              <a:buNone/>
            </a:pPr>
            <a:r>
              <a:rPr lang="en-US" sz="850" b="1" spc="35" kern="0" dirty="0">
                <a:solidFill>
                  <a:srgbClr val="FFFFFF"/>
                </a:solidFill>
              </a:rPr>
              <a:t>DOMINICAN</a:t>
            </a:r>
            <a:endParaRPr lang="en-US" sz="850" dirty="0"/>
          </a:p>
          <a:p>
            <a:pPr algn="ctr" indent="0" marL="0">
              <a:lnSpc>
                <a:spcPts val="950"/>
              </a:lnSpc>
              <a:buNone/>
            </a:pPr>
            <a:r>
              <a:rPr lang="en-US" sz="850" b="1" spc="35" kern="0" dirty="0">
                <a:solidFill>
                  <a:srgbClr val="FFFFFF"/>
                </a:solidFill>
              </a:rPr>
              <a:t>REPUBLIC</a:t>
            </a:r>
            <a:endParaRPr lang="en-US" sz="850" dirty="0"/>
          </a:p>
        </p:txBody>
      </p:sp>
      <p:sp>
        <p:nvSpPr>
          <p:cNvPr id="125" name="Map label – JAMAICA"/>
          <p:cNvSpPr txBox="1"/>
          <p:nvPr/>
        </p:nvSpPr>
        <p:spPr>
          <a:xfrm>
            <a:off x="6644440" y="4273424"/>
            <a:ext cx="626240" cy="157480"/>
          </a:xfrm>
          <a:prstGeom prst="rect">
            <a:avLst/>
          </a:prstGeom>
          <a:noFill/>
          <a:ln/>
        </p:spPr>
        <p:txBody>
          <a:bodyPr wrap="square" lIns="0" tIns="0" rIns="0" bIns="0" rtlCol="0" anchor="ctr"/>
          <a:lstStyle/>
          <a:p>
            <a:pPr algn="ctr" indent="0" marL="0">
              <a:lnSpc>
                <a:spcPts val="950"/>
              </a:lnSpc>
              <a:buNone/>
            </a:pPr>
            <a:r>
              <a:rPr lang="en-US" sz="850" b="1" spc="35" kern="0" dirty="0">
                <a:solidFill>
                  <a:srgbClr val="FFFFFF"/>
                </a:solidFill>
              </a:rPr>
              <a:t>JAMAICA</a:t>
            </a:r>
            <a:endParaRPr lang="en-US" sz="850" dirty="0"/>
          </a:p>
        </p:txBody>
      </p:sp>
      <p:sp>
        <p:nvSpPr>
          <p:cNvPr id="126" name="Map label – THE BAHAMAS"/>
          <p:cNvSpPr txBox="1"/>
          <p:nvPr/>
        </p:nvSpPr>
        <p:spPr>
          <a:xfrm>
            <a:off x="7528549" y="2270170"/>
            <a:ext cx="900612" cy="157480"/>
          </a:xfrm>
          <a:prstGeom prst="rect">
            <a:avLst/>
          </a:prstGeom>
          <a:noFill/>
          <a:ln/>
        </p:spPr>
        <p:txBody>
          <a:bodyPr wrap="square" lIns="0" tIns="0" rIns="0" bIns="0" rtlCol="0" anchor="ctr"/>
          <a:lstStyle/>
          <a:p>
            <a:pPr algn="ctr" indent="0" marL="0">
              <a:lnSpc>
                <a:spcPts val="950"/>
              </a:lnSpc>
              <a:buNone/>
            </a:pPr>
            <a:r>
              <a:rPr lang="en-US" sz="850" b="1" spc="35" kern="0" dirty="0">
                <a:solidFill>
                  <a:srgbClr val="FFFFFF"/>
                </a:solidFill>
              </a:rPr>
              <a:t>THE BAHAMAS</a:t>
            </a:r>
            <a:endParaRPr lang="en-US" sz="850" dirty="0"/>
          </a:p>
        </p:txBody>
      </p:sp>
      <p:sp>
        <p:nvSpPr>
          <p:cNvPr id="127" name="Map label – TURKS AND CAICOS ISLANDS (U.K.)"/>
          <p:cNvSpPr txBox="1"/>
          <p:nvPr/>
        </p:nvSpPr>
        <p:spPr>
          <a:xfrm>
            <a:off x="8113682" y="2752767"/>
            <a:ext cx="1134625" cy="278384"/>
          </a:xfrm>
          <a:prstGeom prst="rect">
            <a:avLst/>
          </a:prstGeom>
          <a:noFill/>
          <a:ln/>
        </p:spPr>
        <p:txBody>
          <a:bodyPr wrap="square" lIns="0" tIns="0" rIns="0" bIns="0" rtlCol="0" anchor="ctr"/>
          <a:lstStyle/>
          <a:p>
            <a:pPr algn="ctr" indent="0" marL="0">
              <a:lnSpc>
                <a:spcPts val="950"/>
              </a:lnSpc>
              <a:buNone/>
            </a:pPr>
            <a:r>
              <a:rPr lang="en-US" sz="850" b="1" spc="35" kern="0" dirty="0">
                <a:solidFill>
                  <a:srgbClr val="FFFFFF"/>
                </a:solidFill>
              </a:rPr>
              <a:t>TURKS AND CAICOS</a:t>
            </a:r>
            <a:endParaRPr lang="en-US" sz="850" dirty="0"/>
          </a:p>
          <a:p>
            <a:pPr algn="ctr" indent="0" marL="0">
              <a:lnSpc>
                <a:spcPts val="950"/>
              </a:lnSpc>
              <a:buNone/>
            </a:pPr>
            <a:r>
              <a:rPr lang="en-US" sz="850" b="1" spc="35" kern="0" dirty="0">
                <a:solidFill>
                  <a:srgbClr val="FFFFFF"/>
                </a:solidFill>
              </a:rPr>
              <a:t>ISLANDS (U.K.)</a:t>
            </a:r>
            <a:endParaRPr lang="en-US" sz="850" dirty="0"/>
          </a:p>
        </p:txBody>
      </p:sp>
      <p:sp>
        <p:nvSpPr>
          <p:cNvPr id="128" name="Map label – CAYMAN ISLANDS (U.K.)"/>
          <p:cNvSpPr txBox="1"/>
          <p:nvPr/>
        </p:nvSpPr>
        <p:spPr>
          <a:xfrm>
            <a:off x="5508366" y="3411052"/>
            <a:ext cx="1060059" cy="278384"/>
          </a:xfrm>
          <a:prstGeom prst="rect">
            <a:avLst/>
          </a:prstGeom>
          <a:noFill/>
          <a:ln/>
        </p:spPr>
        <p:txBody>
          <a:bodyPr wrap="square" lIns="0" tIns="0" rIns="0" bIns="0" rtlCol="0" anchor="ctr"/>
          <a:lstStyle/>
          <a:p>
            <a:pPr algn="ctr" indent="0" marL="0">
              <a:lnSpc>
                <a:spcPts val="950"/>
              </a:lnSpc>
              <a:buNone/>
            </a:pPr>
            <a:r>
              <a:rPr lang="en-US" sz="850" b="1" spc="35" kern="0" dirty="0">
                <a:solidFill>
                  <a:srgbClr val="FFFFFF"/>
                </a:solidFill>
              </a:rPr>
              <a:t>CAYMAN ISLANDS</a:t>
            </a:r>
            <a:endParaRPr lang="en-US" sz="850" dirty="0"/>
          </a:p>
          <a:p>
            <a:pPr algn="ctr" indent="0" marL="0">
              <a:lnSpc>
                <a:spcPts val="950"/>
              </a:lnSpc>
              <a:buNone/>
            </a:pPr>
            <a:r>
              <a:rPr lang="en-US" sz="850" b="1" spc="35" kern="0" dirty="0">
                <a:solidFill>
                  <a:srgbClr val="FFFFFF"/>
                </a:solidFill>
              </a:rPr>
              <a:t>(U.K.)</a:t>
            </a:r>
            <a:endParaRPr lang="en-US" sz="850" dirty="0"/>
          </a:p>
        </p:txBody>
      </p:sp>
      <p:sp>
        <p:nvSpPr>
          <p:cNvPr id="129" name="Map label – PUERTO RICO (U.S.)"/>
          <p:cNvSpPr txBox="1"/>
          <p:nvPr/>
        </p:nvSpPr>
        <p:spPr>
          <a:xfrm>
            <a:off x="9044941" y="3319780"/>
            <a:ext cx="843685" cy="278384"/>
          </a:xfrm>
          <a:prstGeom prst="rect">
            <a:avLst/>
          </a:prstGeom>
          <a:noFill/>
          <a:ln/>
        </p:spPr>
        <p:txBody>
          <a:bodyPr wrap="square" lIns="0" tIns="0" rIns="0" bIns="0" rtlCol="0" anchor="ctr"/>
          <a:lstStyle/>
          <a:p>
            <a:pPr algn="ctr" indent="0" marL="0">
              <a:lnSpc>
                <a:spcPts val="950"/>
              </a:lnSpc>
              <a:buNone/>
            </a:pPr>
            <a:r>
              <a:rPr lang="en-US" sz="850" b="1" spc="35" kern="0" dirty="0">
                <a:solidFill>
                  <a:srgbClr val="FFFFFF"/>
                </a:solidFill>
              </a:rPr>
              <a:t>PUERTO RICO</a:t>
            </a:r>
            <a:endParaRPr lang="en-US" sz="850" dirty="0"/>
          </a:p>
          <a:p>
            <a:pPr algn="ctr" indent="0" marL="0">
              <a:lnSpc>
                <a:spcPts val="950"/>
              </a:lnSpc>
              <a:buNone/>
            </a:pPr>
            <a:r>
              <a:rPr lang="en-US" sz="850" b="1" spc="35" kern="0" dirty="0">
                <a:solidFill>
                  <a:srgbClr val="FFFFFF"/>
                </a:solidFill>
              </a:rPr>
              <a:t>(U.S.)</a:t>
            </a:r>
            <a:endParaRPr lang="en-US" sz="850" dirty="0"/>
          </a:p>
        </p:txBody>
      </p:sp>
      <p:sp>
        <p:nvSpPr>
          <p:cNvPr id="130" name="Map label – VIRGIN ISLANDS (U.S.)"/>
          <p:cNvSpPr txBox="1"/>
          <p:nvPr/>
        </p:nvSpPr>
        <p:spPr>
          <a:xfrm>
            <a:off x="9391957" y="2890012"/>
            <a:ext cx="972613" cy="278384"/>
          </a:xfrm>
          <a:prstGeom prst="rect">
            <a:avLst/>
          </a:prstGeom>
          <a:noFill/>
          <a:ln/>
        </p:spPr>
        <p:txBody>
          <a:bodyPr wrap="square" lIns="0" tIns="0" rIns="0" bIns="0" rtlCol="0" anchor="ctr"/>
          <a:lstStyle/>
          <a:p>
            <a:pPr algn="ctr" indent="0" marL="0">
              <a:lnSpc>
                <a:spcPts val="950"/>
              </a:lnSpc>
              <a:buNone/>
            </a:pPr>
            <a:r>
              <a:rPr lang="en-US" sz="850" b="1" spc="35" kern="0" dirty="0">
                <a:solidFill>
                  <a:srgbClr val="FFFFFF"/>
                </a:solidFill>
              </a:rPr>
              <a:t>VIRGIN ISLANDS</a:t>
            </a:r>
            <a:endParaRPr lang="en-US" sz="850" dirty="0"/>
          </a:p>
          <a:p>
            <a:pPr algn="ctr" indent="0" marL="0">
              <a:lnSpc>
                <a:spcPts val="950"/>
              </a:lnSpc>
              <a:buNone/>
            </a:pPr>
            <a:r>
              <a:rPr lang="en-US" sz="850" b="1" spc="35" kern="0" dirty="0">
                <a:solidFill>
                  <a:srgbClr val="FFFFFF"/>
                </a:solidFill>
              </a:rPr>
              <a:t>(U.S.)</a:t>
            </a:r>
            <a:endParaRPr lang="en-US" sz="850" dirty="0"/>
          </a:p>
        </p:txBody>
      </p:sp>
      <p:sp>
        <p:nvSpPr>
          <p:cNvPr id="131" name="Map label – BRITISH VIRGIN ISLANDS (U.K.)"/>
          <p:cNvSpPr txBox="1"/>
          <p:nvPr/>
        </p:nvSpPr>
        <p:spPr>
          <a:xfrm>
            <a:off x="10275448" y="3109468"/>
            <a:ext cx="942990" cy="278384"/>
          </a:xfrm>
          <a:prstGeom prst="rect">
            <a:avLst/>
          </a:prstGeom>
          <a:noFill/>
          <a:ln/>
        </p:spPr>
        <p:txBody>
          <a:bodyPr wrap="square" lIns="0" tIns="0" rIns="0" bIns="0" rtlCol="0" anchor="ctr"/>
          <a:lstStyle/>
          <a:p>
            <a:pPr algn="ctr" indent="0" marL="0">
              <a:lnSpc>
                <a:spcPts val="950"/>
              </a:lnSpc>
              <a:buNone/>
            </a:pPr>
            <a:r>
              <a:rPr lang="en-US" sz="850" b="1" spc="35" kern="0" dirty="0">
                <a:solidFill>
                  <a:srgbClr val="FFFFFF"/>
                </a:solidFill>
              </a:rPr>
              <a:t>BRITISH VIRGIN</a:t>
            </a:r>
            <a:endParaRPr lang="en-US" sz="850" dirty="0"/>
          </a:p>
          <a:p>
            <a:pPr algn="ctr" indent="0" marL="0">
              <a:lnSpc>
                <a:spcPts val="950"/>
              </a:lnSpc>
              <a:buNone/>
            </a:pPr>
            <a:r>
              <a:rPr lang="en-US" sz="850" b="1" spc="35" kern="0" dirty="0">
                <a:solidFill>
                  <a:srgbClr val="FFFFFF"/>
                </a:solidFill>
              </a:rPr>
              <a:t>ISLANDS (U.K.)</a:t>
            </a:r>
            <a:endParaRPr lang="en-US" sz="850" dirty="0"/>
          </a:p>
        </p:txBody>
      </p:sp>
      <p:sp>
        <p:nvSpPr>
          <p:cNvPr id="132" name="Map label – ANGUILLA (U.K.)"/>
          <p:cNvSpPr txBox="1"/>
          <p:nvPr/>
        </p:nvSpPr>
        <p:spPr>
          <a:xfrm>
            <a:off x="10846475" y="3590544"/>
            <a:ext cx="989656" cy="157480"/>
          </a:xfrm>
          <a:prstGeom prst="rect">
            <a:avLst/>
          </a:prstGeom>
          <a:noFill/>
          <a:ln/>
        </p:spPr>
        <p:txBody>
          <a:bodyPr wrap="square" lIns="0" tIns="0" rIns="0" bIns="0" rtlCol="0" anchor="ctr"/>
          <a:lstStyle/>
          <a:p>
            <a:pPr algn="ctr" indent="0" marL="0">
              <a:lnSpc>
                <a:spcPts val="950"/>
              </a:lnSpc>
              <a:buNone/>
            </a:pPr>
            <a:r>
              <a:rPr lang="en-US" sz="850" b="1" spc="35" kern="0" dirty="0">
                <a:solidFill>
                  <a:srgbClr val="FFFFFF"/>
                </a:solidFill>
              </a:rPr>
              <a:t>ANGUILLA (U.K.)</a:t>
            </a:r>
            <a:endParaRPr lang="en-US" sz="850" dirty="0"/>
          </a:p>
        </p:txBody>
      </p:sp>
      <p:sp>
        <p:nvSpPr>
          <p:cNvPr id="133" name="Map label – SAINT-MARTIN/ SINT-MAARTEN"/>
          <p:cNvSpPr txBox="1"/>
          <p:nvPr/>
        </p:nvSpPr>
        <p:spPr>
          <a:xfrm>
            <a:off x="10838383" y="3975608"/>
            <a:ext cx="963740" cy="278384"/>
          </a:xfrm>
          <a:prstGeom prst="rect">
            <a:avLst/>
          </a:prstGeom>
          <a:noFill/>
          <a:ln/>
        </p:spPr>
        <p:txBody>
          <a:bodyPr wrap="square" lIns="0" tIns="0" rIns="0" bIns="0" rtlCol="0" anchor="ctr"/>
          <a:lstStyle/>
          <a:p>
            <a:pPr algn="l" indent="0" marL="0">
              <a:lnSpc>
                <a:spcPts val="950"/>
              </a:lnSpc>
              <a:buNone/>
            </a:pPr>
            <a:r>
              <a:rPr lang="en-US" sz="850" b="1" spc="35" kern="0" dirty="0">
                <a:solidFill>
                  <a:srgbClr val="FFFFFF"/>
                </a:solidFill>
              </a:rPr>
              <a:t>SAINT-MARTIN/</a:t>
            </a:r>
            <a:endParaRPr lang="en-US" sz="850" dirty="0"/>
          </a:p>
          <a:p>
            <a:pPr algn="l" indent="0" marL="0">
              <a:lnSpc>
                <a:spcPts val="950"/>
              </a:lnSpc>
              <a:buNone/>
            </a:pPr>
            <a:r>
              <a:rPr lang="en-US" sz="850" b="1" spc="35" kern="0" dirty="0">
                <a:solidFill>
                  <a:srgbClr val="FFFFFF"/>
                </a:solidFill>
              </a:rPr>
              <a:t>SINT-MAARTEN</a:t>
            </a:r>
            <a:endParaRPr lang="en-US" sz="850" dirty="0"/>
          </a:p>
        </p:txBody>
      </p:sp>
      <p:sp>
        <p:nvSpPr>
          <p:cNvPr id="134" name="Map label – ANTIGUA AND BARBUDA"/>
          <p:cNvSpPr txBox="1"/>
          <p:nvPr/>
        </p:nvSpPr>
        <p:spPr>
          <a:xfrm>
            <a:off x="11158423" y="4325620"/>
            <a:ext cx="911892" cy="278384"/>
          </a:xfrm>
          <a:prstGeom prst="rect">
            <a:avLst/>
          </a:prstGeom>
          <a:noFill/>
          <a:ln/>
        </p:spPr>
        <p:txBody>
          <a:bodyPr wrap="square" lIns="0" tIns="0" rIns="0" bIns="0" rtlCol="0" anchor="ctr"/>
          <a:lstStyle/>
          <a:p>
            <a:pPr algn="l" indent="0" marL="0">
              <a:lnSpc>
                <a:spcPts val="950"/>
              </a:lnSpc>
              <a:buNone/>
            </a:pPr>
            <a:r>
              <a:rPr lang="en-US" sz="850" b="1" spc="35" kern="0" dirty="0">
                <a:solidFill>
                  <a:srgbClr val="FFFFFF"/>
                </a:solidFill>
              </a:rPr>
              <a:t>ANTIGUA</a:t>
            </a:r>
            <a:endParaRPr lang="en-US" sz="850" dirty="0"/>
          </a:p>
          <a:p>
            <a:pPr algn="l" indent="0" marL="0">
              <a:lnSpc>
                <a:spcPts val="950"/>
              </a:lnSpc>
              <a:buNone/>
            </a:pPr>
            <a:r>
              <a:rPr lang="en-US" sz="850" b="1" spc="35" kern="0" dirty="0">
                <a:solidFill>
                  <a:srgbClr val="FFFFFF"/>
                </a:solidFill>
              </a:rPr>
              <a:t>AND BARBUDA</a:t>
            </a:r>
            <a:endParaRPr lang="en-US" sz="850" dirty="0"/>
          </a:p>
        </p:txBody>
      </p:sp>
      <p:sp>
        <p:nvSpPr>
          <p:cNvPr id="135" name="Map label – GUADELOUPE"/>
          <p:cNvSpPr txBox="1"/>
          <p:nvPr/>
        </p:nvSpPr>
        <p:spPr>
          <a:xfrm>
            <a:off x="11231575" y="4712716"/>
            <a:ext cx="851943" cy="157480"/>
          </a:xfrm>
          <a:prstGeom prst="rect">
            <a:avLst/>
          </a:prstGeom>
          <a:noFill/>
          <a:ln/>
        </p:spPr>
        <p:txBody>
          <a:bodyPr wrap="square" lIns="0" tIns="0" rIns="0" bIns="0" rtlCol="0" anchor="ctr"/>
          <a:lstStyle/>
          <a:p>
            <a:pPr algn="l" indent="0" marL="0">
              <a:lnSpc>
                <a:spcPts val="950"/>
              </a:lnSpc>
              <a:buNone/>
            </a:pPr>
            <a:r>
              <a:rPr lang="en-US" sz="850" b="1" spc="35" kern="0" dirty="0">
                <a:solidFill>
                  <a:srgbClr val="FFFFFF"/>
                </a:solidFill>
              </a:rPr>
              <a:t>GUADELOUPE</a:t>
            </a:r>
            <a:endParaRPr lang="en-US" sz="850" dirty="0"/>
          </a:p>
        </p:txBody>
      </p:sp>
      <p:sp>
        <p:nvSpPr>
          <p:cNvPr id="136" name="Map label – DOMINICA"/>
          <p:cNvSpPr txBox="1"/>
          <p:nvPr/>
        </p:nvSpPr>
        <p:spPr>
          <a:xfrm>
            <a:off x="11268151" y="4895596"/>
            <a:ext cx="705058" cy="157480"/>
          </a:xfrm>
          <a:prstGeom prst="rect">
            <a:avLst/>
          </a:prstGeom>
          <a:noFill/>
          <a:ln/>
        </p:spPr>
        <p:txBody>
          <a:bodyPr wrap="square" lIns="0" tIns="0" rIns="0" bIns="0" rtlCol="0" anchor="ctr"/>
          <a:lstStyle/>
          <a:p>
            <a:pPr algn="l" indent="0" marL="0">
              <a:lnSpc>
                <a:spcPts val="950"/>
              </a:lnSpc>
              <a:buNone/>
            </a:pPr>
            <a:r>
              <a:rPr lang="en-US" sz="850" b="1" spc="35" kern="0" dirty="0">
                <a:solidFill>
                  <a:srgbClr val="FFFFFF"/>
                </a:solidFill>
              </a:rPr>
              <a:t>DOMINICA</a:t>
            </a:r>
            <a:endParaRPr lang="en-US" sz="850" dirty="0"/>
          </a:p>
        </p:txBody>
      </p:sp>
      <p:sp>
        <p:nvSpPr>
          <p:cNvPr id="137" name="Map label – MARTINIQUE"/>
          <p:cNvSpPr txBox="1"/>
          <p:nvPr/>
        </p:nvSpPr>
        <p:spPr>
          <a:xfrm>
            <a:off x="11304727" y="5060188"/>
            <a:ext cx="827169" cy="157480"/>
          </a:xfrm>
          <a:prstGeom prst="rect">
            <a:avLst/>
          </a:prstGeom>
          <a:noFill/>
          <a:ln/>
        </p:spPr>
        <p:txBody>
          <a:bodyPr wrap="square" lIns="0" tIns="0" rIns="0" bIns="0" rtlCol="0" anchor="ctr"/>
          <a:lstStyle/>
          <a:p>
            <a:pPr algn="l" indent="0" marL="0">
              <a:lnSpc>
                <a:spcPts val="950"/>
              </a:lnSpc>
              <a:buNone/>
            </a:pPr>
            <a:r>
              <a:rPr lang="en-US" sz="850" b="1" spc="35" kern="0" dirty="0">
                <a:solidFill>
                  <a:srgbClr val="FFFFFF"/>
                </a:solidFill>
              </a:rPr>
              <a:t>MARTINIQUE</a:t>
            </a:r>
            <a:endParaRPr lang="en-US" sz="850" dirty="0"/>
          </a:p>
        </p:txBody>
      </p:sp>
      <p:sp>
        <p:nvSpPr>
          <p:cNvPr id="138" name="Map label – SAINT LUCIA"/>
          <p:cNvSpPr txBox="1"/>
          <p:nvPr/>
        </p:nvSpPr>
        <p:spPr>
          <a:xfrm>
            <a:off x="11304727" y="5215636"/>
            <a:ext cx="793400" cy="157480"/>
          </a:xfrm>
          <a:prstGeom prst="rect">
            <a:avLst/>
          </a:prstGeom>
          <a:noFill/>
          <a:ln/>
        </p:spPr>
        <p:txBody>
          <a:bodyPr wrap="square" lIns="0" tIns="0" rIns="0" bIns="0" rtlCol="0" anchor="ctr"/>
          <a:lstStyle/>
          <a:p>
            <a:pPr algn="l" indent="0" marL="0">
              <a:lnSpc>
                <a:spcPts val="950"/>
              </a:lnSpc>
              <a:buNone/>
            </a:pPr>
            <a:r>
              <a:rPr lang="en-US" sz="850" b="1" spc="35" kern="0" dirty="0">
                <a:solidFill>
                  <a:srgbClr val="FFFFFF"/>
                </a:solidFill>
              </a:rPr>
              <a:t>SAINT LUCIA</a:t>
            </a:r>
            <a:endParaRPr lang="en-US" sz="850" dirty="0"/>
          </a:p>
        </p:txBody>
      </p:sp>
      <p:sp>
        <p:nvSpPr>
          <p:cNvPr id="139" name="Map label – BARBADOS"/>
          <p:cNvSpPr txBox="1"/>
          <p:nvPr/>
        </p:nvSpPr>
        <p:spPr>
          <a:xfrm>
            <a:off x="11254054" y="5666232"/>
            <a:ext cx="723138" cy="157480"/>
          </a:xfrm>
          <a:prstGeom prst="rect">
            <a:avLst/>
          </a:prstGeom>
          <a:noFill/>
          <a:ln/>
        </p:spPr>
        <p:txBody>
          <a:bodyPr wrap="square" lIns="0" tIns="0" rIns="0" bIns="0" rtlCol="0" anchor="ctr"/>
          <a:lstStyle/>
          <a:p>
            <a:pPr algn="ctr" indent="0" marL="0">
              <a:lnSpc>
                <a:spcPts val="950"/>
              </a:lnSpc>
              <a:buNone/>
            </a:pPr>
            <a:r>
              <a:rPr lang="en-US" sz="850" b="1" spc="35" kern="0" dirty="0">
                <a:solidFill>
                  <a:srgbClr val="FFFFFF"/>
                </a:solidFill>
              </a:rPr>
              <a:t>BARBADOS</a:t>
            </a:r>
            <a:endParaRPr lang="en-US" sz="850" dirty="0"/>
          </a:p>
        </p:txBody>
      </p:sp>
      <p:sp>
        <p:nvSpPr>
          <p:cNvPr id="140" name="Map label – TRINIDAD AND TOBAGO"/>
          <p:cNvSpPr txBox="1"/>
          <p:nvPr/>
        </p:nvSpPr>
        <p:spPr>
          <a:xfrm>
            <a:off x="11158423" y="6097016"/>
            <a:ext cx="850467" cy="278384"/>
          </a:xfrm>
          <a:prstGeom prst="rect">
            <a:avLst/>
          </a:prstGeom>
          <a:noFill/>
          <a:ln/>
        </p:spPr>
        <p:txBody>
          <a:bodyPr wrap="square" lIns="0" tIns="0" rIns="0" bIns="0" rtlCol="0" anchor="ctr"/>
          <a:lstStyle/>
          <a:p>
            <a:pPr algn="l" indent="0" marL="0">
              <a:lnSpc>
                <a:spcPts val="950"/>
              </a:lnSpc>
              <a:buNone/>
            </a:pPr>
            <a:r>
              <a:rPr lang="en-US" sz="850" b="1" spc="35" kern="0" dirty="0">
                <a:solidFill>
                  <a:srgbClr val="FFFFFF"/>
                </a:solidFill>
              </a:rPr>
              <a:t>TRINIDAD</a:t>
            </a:r>
            <a:endParaRPr lang="en-US" sz="850" dirty="0"/>
          </a:p>
          <a:p>
            <a:pPr algn="l" indent="0" marL="0">
              <a:lnSpc>
                <a:spcPts val="950"/>
              </a:lnSpc>
              <a:buNone/>
            </a:pPr>
            <a:r>
              <a:rPr lang="en-US" sz="850" b="1" spc="35" kern="0" dirty="0">
                <a:solidFill>
                  <a:srgbClr val="FFFFFF"/>
                </a:solidFill>
              </a:rPr>
              <a:t>AND TOBAGO</a:t>
            </a:r>
            <a:endParaRPr lang="en-US" sz="850" dirty="0"/>
          </a:p>
        </p:txBody>
      </p:sp>
      <p:sp>
        <p:nvSpPr>
          <p:cNvPr id="141" name="Map label – SAINT KITTS AND NEVIS"/>
          <p:cNvSpPr txBox="1"/>
          <p:nvPr/>
        </p:nvSpPr>
        <p:spPr>
          <a:xfrm>
            <a:off x="9838100" y="4225036"/>
            <a:ext cx="771683" cy="278384"/>
          </a:xfrm>
          <a:prstGeom prst="rect">
            <a:avLst/>
          </a:prstGeom>
          <a:noFill/>
          <a:ln/>
        </p:spPr>
        <p:txBody>
          <a:bodyPr wrap="square" lIns="0" tIns="0" rIns="0" bIns="0" rtlCol="0" anchor="ctr"/>
          <a:lstStyle/>
          <a:p>
            <a:pPr algn="r" indent="0" marL="0">
              <a:lnSpc>
                <a:spcPts val="950"/>
              </a:lnSpc>
              <a:buNone/>
            </a:pPr>
            <a:r>
              <a:rPr lang="en-US" sz="850" b="1" spc="35" kern="0" dirty="0">
                <a:solidFill>
                  <a:srgbClr val="FFFFFF"/>
                </a:solidFill>
              </a:rPr>
              <a:t>SAINT KITTS</a:t>
            </a:r>
            <a:endParaRPr lang="en-US" sz="850" dirty="0"/>
          </a:p>
          <a:p>
            <a:pPr algn="r" indent="0" marL="0">
              <a:lnSpc>
                <a:spcPts val="950"/>
              </a:lnSpc>
              <a:buNone/>
            </a:pPr>
            <a:r>
              <a:rPr lang="en-US" sz="850" b="1" spc="35" kern="0" dirty="0">
                <a:solidFill>
                  <a:srgbClr val="FFFFFF"/>
                </a:solidFill>
              </a:rPr>
              <a:t>AND NEVIS</a:t>
            </a:r>
            <a:endParaRPr lang="en-US" sz="850" dirty="0"/>
          </a:p>
        </p:txBody>
      </p:sp>
      <p:sp>
        <p:nvSpPr>
          <p:cNvPr id="142" name="Map label – MONTSERRAT (U.K.)"/>
          <p:cNvSpPr txBox="1"/>
          <p:nvPr/>
        </p:nvSpPr>
        <p:spPr>
          <a:xfrm>
            <a:off x="9472135" y="4755388"/>
            <a:ext cx="863328" cy="278384"/>
          </a:xfrm>
          <a:prstGeom prst="rect">
            <a:avLst/>
          </a:prstGeom>
          <a:noFill/>
          <a:ln/>
        </p:spPr>
        <p:txBody>
          <a:bodyPr wrap="square" lIns="0" tIns="0" rIns="0" bIns="0" rtlCol="0" anchor="ctr"/>
          <a:lstStyle/>
          <a:p>
            <a:pPr algn="r" indent="0" marL="0">
              <a:lnSpc>
                <a:spcPts val="950"/>
              </a:lnSpc>
              <a:buNone/>
            </a:pPr>
            <a:r>
              <a:rPr lang="en-US" sz="850" b="1" spc="35" kern="0" dirty="0">
                <a:solidFill>
                  <a:srgbClr val="FFFFFF"/>
                </a:solidFill>
              </a:rPr>
              <a:t>MONTSERRAT</a:t>
            </a:r>
            <a:endParaRPr lang="en-US" sz="850" dirty="0"/>
          </a:p>
          <a:p>
            <a:pPr algn="r" indent="0" marL="0">
              <a:lnSpc>
                <a:spcPts val="950"/>
              </a:lnSpc>
              <a:buNone/>
            </a:pPr>
            <a:r>
              <a:rPr lang="en-US" sz="850" b="1" spc="35" kern="0" dirty="0">
                <a:solidFill>
                  <a:srgbClr val="FFFFFF"/>
                </a:solidFill>
              </a:rPr>
              <a:t>(U.K.)</a:t>
            </a:r>
            <a:endParaRPr lang="en-US" sz="850" dirty="0"/>
          </a:p>
        </p:txBody>
      </p:sp>
      <p:sp>
        <p:nvSpPr>
          <p:cNvPr id="143" name="Map label – SAINT VINCENT AND THE GRENADINES"/>
          <p:cNvSpPr txBox="1"/>
          <p:nvPr/>
        </p:nvSpPr>
        <p:spPr>
          <a:xfrm>
            <a:off x="9869038" y="5331460"/>
            <a:ext cx="1179657" cy="278384"/>
          </a:xfrm>
          <a:prstGeom prst="rect">
            <a:avLst/>
          </a:prstGeom>
          <a:noFill/>
          <a:ln/>
        </p:spPr>
        <p:txBody>
          <a:bodyPr wrap="square" lIns="0" tIns="0" rIns="0" bIns="0" rtlCol="0" anchor="ctr"/>
          <a:lstStyle/>
          <a:p>
            <a:pPr algn="r" indent="0" marL="0">
              <a:lnSpc>
                <a:spcPts val="950"/>
              </a:lnSpc>
              <a:buNone/>
            </a:pPr>
            <a:r>
              <a:rPr lang="en-US" sz="850" b="1" spc="35" kern="0" dirty="0">
                <a:solidFill>
                  <a:srgbClr val="FFFFFF"/>
                </a:solidFill>
              </a:rPr>
              <a:t>SAINT VINCENT AND</a:t>
            </a:r>
            <a:endParaRPr lang="en-US" sz="850" dirty="0"/>
          </a:p>
          <a:p>
            <a:pPr algn="r" indent="0" marL="0">
              <a:lnSpc>
                <a:spcPts val="950"/>
              </a:lnSpc>
              <a:buNone/>
            </a:pPr>
            <a:r>
              <a:rPr lang="en-US" sz="850" b="1" spc="35" kern="0" dirty="0">
                <a:solidFill>
                  <a:srgbClr val="FFFFFF"/>
                </a:solidFill>
              </a:rPr>
              <a:t>THE GRENADINES</a:t>
            </a:r>
            <a:endParaRPr lang="en-US" sz="850" dirty="0"/>
          </a:p>
        </p:txBody>
      </p:sp>
      <p:sp>
        <p:nvSpPr>
          <p:cNvPr id="144" name="Map label – GRENADA"/>
          <p:cNvSpPr txBox="1"/>
          <p:nvPr/>
        </p:nvSpPr>
        <p:spPr>
          <a:xfrm>
            <a:off x="10181333" y="5757672"/>
            <a:ext cx="666194" cy="157480"/>
          </a:xfrm>
          <a:prstGeom prst="rect">
            <a:avLst/>
          </a:prstGeom>
          <a:noFill/>
          <a:ln/>
        </p:spPr>
        <p:txBody>
          <a:bodyPr wrap="square" lIns="0" tIns="0" rIns="0" bIns="0" rtlCol="0" anchor="ctr"/>
          <a:lstStyle/>
          <a:p>
            <a:pPr algn="r" indent="0" marL="0">
              <a:lnSpc>
                <a:spcPts val="950"/>
              </a:lnSpc>
              <a:buNone/>
            </a:pPr>
            <a:r>
              <a:rPr lang="en-US" sz="850" b="1" spc="35" kern="0" dirty="0">
                <a:solidFill>
                  <a:srgbClr val="FFFFFF"/>
                </a:solidFill>
              </a:rPr>
              <a:t>GRENADA</a:t>
            </a:r>
            <a:endParaRPr lang="en-US" sz="850" dirty="0"/>
          </a:p>
        </p:txBody>
      </p:sp>
      <p:sp>
        <p:nvSpPr>
          <p:cNvPr id="145" name="Map label – ARUBA (NETH.)"/>
          <p:cNvSpPr txBox="1"/>
          <p:nvPr/>
        </p:nvSpPr>
        <p:spPr>
          <a:xfrm>
            <a:off x="8274684" y="5029708"/>
            <a:ext cx="555397" cy="278384"/>
          </a:xfrm>
          <a:prstGeom prst="rect">
            <a:avLst/>
          </a:prstGeom>
          <a:noFill/>
          <a:ln/>
        </p:spPr>
        <p:txBody>
          <a:bodyPr wrap="square" lIns="0" tIns="0" rIns="0" bIns="0" rtlCol="0" anchor="ctr"/>
          <a:lstStyle/>
          <a:p>
            <a:pPr algn="ctr" indent="0" marL="0">
              <a:lnSpc>
                <a:spcPts val="950"/>
              </a:lnSpc>
              <a:buNone/>
            </a:pPr>
            <a:r>
              <a:rPr lang="en-US" sz="850" b="1" spc="35" kern="0" dirty="0">
                <a:solidFill>
                  <a:srgbClr val="FFFFFF"/>
                </a:solidFill>
              </a:rPr>
              <a:t>ARUBA</a:t>
            </a:r>
            <a:endParaRPr lang="en-US" sz="850" dirty="0"/>
          </a:p>
          <a:p>
            <a:pPr algn="ctr" indent="0" marL="0">
              <a:lnSpc>
                <a:spcPts val="950"/>
              </a:lnSpc>
              <a:buNone/>
            </a:pPr>
            <a:r>
              <a:rPr lang="en-US" sz="850" b="1" spc="35" kern="0" dirty="0">
                <a:solidFill>
                  <a:srgbClr val="FFFFFF"/>
                </a:solidFill>
              </a:rPr>
              <a:t>(NETH.)</a:t>
            </a:r>
            <a:endParaRPr lang="en-US" sz="850" dirty="0"/>
          </a:p>
        </p:txBody>
      </p:sp>
      <p:sp>
        <p:nvSpPr>
          <p:cNvPr id="146" name="Map label – CURAÇAO (NETH.)"/>
          <p:cNvSpPr txBox="1"/>
          <p:nvPr/>
        </p:nvSpPr>
        <p:spPr>
          <a:xfrm>
            <a:off x="8769349" y="5029708"/>
            <a:ext cx="663347" cy="278384"/>
          </a:xfrm>
          <a:prstGeom prst="rect">
            <a:avLst/>
          </a:prstGeom>
          <a:noFill/>
          <a:ln/>
        </p:spPr>
        <p:txBody>
          <a:bodyPr wrap="square" lIns="0" tIns="0" rIns="0" bIns="0" rtlCol="0" anchor="ctr"/>
          <a:lstStyle/>
          <a:p>
            <a:pPr algn="ctr" indent="0" marL="0">
              <a:lnSpc>
                <a:spcPts val="950"/>
              </a:lnSpc>
              <a:buNone/>
            </a:pPr>
            <a:r>
              <a:rPr lang="en-US" sz="850" b="1" spc="35" kern="0" dirty="0">
                <a:solidFill>
                  <a:srgbClr val="FFFFFF"/>
                </a:solidFill>
              </a:rPr>
              <a:t>CURAÇAO</a:t>
            </a:r>
            <a:endParaRPr lang="en-US" sz="850" dirty="0"/>
          </a:p>
          <a:p>
            <a:pPr algn="ctr" indent="0" marL="0">
              <a:lnSpc>
                <a:spcPts val="950"/>
              </a:lnSpc>
              <a:buNone/>
            </a:pPr>
            <a:r>
              <a:rPr lang="en-US" sz="850" b="1" spc="35" kern="0" dirty="0">
                <a:solidFill>
                  <a:srgbClr val="FFFFFF"/>
                </a:solidFill>
              </a:rPr>
              <a:t>(NETH.)</a:t>
            </a:r>
            <a:endParaRPr lang="en-US" sz="850" dirty="0"/>
          </a:p>
        </p:txBody>
      </p:sp>
      <p:sp>
        <p:nvSpPr>
          <p:cNvPr id="147" name="Map label – BONAIRE (NETH.)"/>
          <p:cNvSpPr txBox="1"/>
          <p:nvPr/>
        </p:nvSpPr>
        <p:spPr>
          <a:xfrm>
            <a:off x="9336543" y="5029708"/>
            <a:ext cx="626240" cy="278384"/>
          </a:xfrm>
          <a:prstGeom prst="rect">
            <a:avLst/>
          </a:prstGeom>
          <a:noFill/>
          <a:ln/>
        </p:spPr>
        <p:txBody>
          <a:bodyPr wrap="square" lIns="0" tIns="0" rIns="0" bIns="0" rtlCol="0" anchor="ctr"/>
          <a:lstStyle/>
          <a:p>
            <a:pPr algn="ctr" indent="0" marL="0">
              <a:lnSpc>
                <a:spcPts val="950"/>
              </a:lnSpc>
              <a:buNone/>
            </a:pPr>
            <a:r>
              <a:rPr lang="en-US" sz="850" b="1" spc="35" kern="0" dirty="0">
                <a:solidFill>
                  <a:srgbClr val="FFFFFF"/>
                </a:solidFill>
              </a:rPr>
              <a:t>BONAIRE</a:t>
            </a:r>
            <a:endParaRPr lang="en-US" sz="850" dirty="0"/>
          </a:p>
          <a:p>
            <a:pPr algn="ctr" indent="0" marL="0">
              <a:lnSpc>
                <a:spcPts val="950"/>
              </a:lnSpc>
              <a:buNone/>
            </a:pPr>
            <a:r>
              <a:rPr lang="en-US" sz="850" b="1" spc="35" kern="0" dirty="0">
                <a:solidFill>
                  <a:srgbClr val="FFFFFF"/>
                </a:solidFill>
              </a:rPr>
              <a:t>(NETH.)</a:t>
            </a:r>
            <a:endParaRPr lang="en-US" sz="850" dirty="0"/>
          </a:p>
        </p:txBody>
      </p:sp>
      <p:sp>
        <p:nvSpPr>
          <p:cNvPr id="148" name="Map label – Nassau"/>
          <p:cNvSpPr txBox="1"/>
          <p:nvPr/>
        </p:nvSpPr>
        <p:spPr>
          <a:xfrm>
            <a:off x="6493575" y="2020942"/>
            <a:ext cx="478651" cy="150368"/>
          </a:xfrm>
          <a:prstGeom prst="rect">
            <a:avLst/>
          </a:prstGeom>
          <a:noFill/>
          <a:ln/>
        </p:spPr>
        <p:txBody>
          <a:bodyPr wrap="square" lIns="0" tIns="0" rIns="0" bIns="0" rtlCol="0" anchor="ctr"/>
          <a:lstStyle/>
          <a:p>
            <a:pPr algn="r" indent="0" marL="0">
              <a:lnSpc>
                <a:spcPts val="900"/>
              </a:lnSpc>
              <a:buNone/>
            </a:pPr>
            <a:r>
              <a:rPr lang="en-US" sz="800" dirty="0">
                <a:solidFill>
                  <a:srgbClr val="D6EAF2"/>
                </a:solidFill>
              </a:rPr>
              <a:t>Nassau</a:t>
            </a:r>
            <a:endParaRPr lang="en-US" sz="800" dirty="0"/>
          </a:p>
        </p:txBody>
      </p:sp>
      <p:sp>
        <p:nvSpPr>
          <p:cNvPr id="149" name="Map label – Havana"/>
          <p:cNvSpPr txBox="1"/>
          <p:nvPr/>
        </p:nvSpPr>
        <p:spPr>
          <a:xfrm>
            <a:off x="5417344" y="2535183"/>
            <a:ext cx="491450" cy="150368"/>
          </a:xfrm>
          <a:prstGeom prst="rect">
            <a:avLst/>
          </a:prstGeom>
          <a:noFill/>
          <a:ln/>
        </p:spPr>
        <p:txBody>
          <a:bodyPr wrap="square" lIns="0" tIns="0" rIns="0" bIns="0" rtlCol="0" anchor="ctr"/>
          <a:lstStyle/>
          <a:p>
            <a:pPr algn="ctr" indent="0" marL="0">
              <a:lnSpc>
                <a:spcPts val="900"/>
              </a:lnSpc>
              <a:buNone/>
            </a:pPr>
            <a:r>
              <a:rPr lang="en-US" sz="800" dirty="0">
                <a:solidFill>
                  <a:srgbClr val="D6EAF2"/>
                </a:solidFill>
              </a:rPr>
              <a:t>Havana</a:t>
            </a:r>
            <a:endParaRPr lang="en-US" sz="800" dirty="0"/>
          </a:p>
        </p:txBody>
      </p:sp>
      <p:sp>
        <p:nvSpPr>
          <p:cNvPr id="150" name="Map label – George Town"/>
          <p:cNvSpPr txBox="1"/>
          <p:nvPr/>
        </p:nvSpPr>
        <p:spPr>
          <a:xfrm>
            <a:off x="5547356" y="3828931"/>
            <a:ext cx="736967" cy="150368"/>
          </a:xfrm>
          <a:prstGeom prst="rect">
            <a:avLst/>
          </a:prstGeom>
          <a:noFill/>
          <a:ln/>
        </p:spPr>
        <p:txBody>
          <a:bodyPr wrap="square" lIns="0" tIns="0" rIns="0" bIns="0" rtlCol="0" anchor="ctr"/>
          <a:lstStyle/>
          <a:p>
            <a:pPr algn="ctr" indent="0" marL="0">
              <a:lnSpc>
                <a:spcPts val="900"/>
              </a:lnSpc>
              <a:buNone/>
            </a:pPr>
            <a:r>
              <a:rPr lang="en-US" sz="800" dirty="0">
                <a:solidFill>
                  <a:srgbClr val="D6EAF2"/>
                </a:solidFill>
              </a:rPr>
              <a:t>George Town</a:t>
            </a:r>
            <a:endParaRPr lang="en-US" sz="800" dirty="0"/>
          </a:p>
        </p:txBody>
      </p:sp>
      <p:sp>
        <p:nvSpPr>
          <p:cNvPr id="151" name="Map label – Cockburn Town"/>
          <p:cNvSpPr txBox="1"/>
          <p:nvPr/>
        </p:nvSpPr>
        <p:spPr>
          <a:xfrm>
            <a:off x="8502922" y="3116951"/>
            <a:ext cx="827405" cy="150368"/>
          </a:xfrm>
          <a:prstGeom prst="rect">
            <a:avLst/>
          </a:prstGeom>
          <a:noFill/>
          <a:ln/>
        </p:spPr>
        <p:txBody>
          <a:bodyPr wrap="square" lIns="0" tIns="0" rIns="0" bIns="0" rtlCol="0" anchor="ctr"/>
          <a:lstStyle/>
          <a:p>
            <a:pPr algn="l" indent="0" marL="0">
              <a:lnSpc>
                <a:spcPts val="900"/>
              </a:lnSpc>
              <a:buNone/>
            </a:pPr>
            <a:r>
              <a:rPr lang="en-US" sz="800" dirty="0">
                <a:solidFill>
                  <a:srgbClr val="D6EAF2"/>
                </a:solidFill>
              </a:rPr>
              <a:t>Cockburn Town</a:t>
            </a:r>
            <a:endParaRPr lang="en-US" sz="800" dirty="0"/>
          </a:p>
        </p:txBody>
      </p:sp>
      <p:sp>
        <p:nvSpPr>
          <p:cNvPr id="152" name="Map label – Port-au-Prince"/>
          <p:cNvSpPr txBox="1"/>
          <p:nvPr/>
        </p:nvSpPr>
        <p:spPr>
          <a:xfrm>
            <a:off x="7333465" y="4088049"/>
            <a:ext cx="780772" cy="150368"/>
          </a:xfrm>
          <a:prstGeom prst="rect">
            <a:avLst/>
          </a:prstGeom>
          <a:noFill/>
          <a:ln/>
        </p:spPr>
        <p:txBody>
          <a:bodyPr wrap="square" lIns="0" tIns="0" rIns="0" bIns="0" rtlCol="0" anchor="ctr"/>
          <a:lstStyle/>
          <a:p>
            <a:pPr algn="r" indent="0" marL="0">
              <a:lnSpc>
                <a:spcPts val="900"/>
              </a:lnSpc>
              <a:buNone/>
            </a:pPr>
            <a:r>
              <a:rPr lang="en-US" sz="800" dirty="0">
                <a:solidFill>
                  <a:srgbClr val="D6EAF2"/>
                </a:solidFill>
              </a:rPr>
              <a:t>Port-au-Prince</a:t>
            </a:r>
            <a:endParaRPr lang="en-US" sz="800" dirty="0"/>
          </a:p>
        </p:txBody>
      </p:sp>
      <p:sp>
        <p:nvSpPr>
          <p:cNvPr id="153" name="Map label – Santo Domingo"/>
          <p:cNvSpPr txBox="1"/>
          <p:nvPr/>
        </p:nvSpPr>
        <p:spPr>
          <a:xfrm>
            <a:off x="8430529" y="4187363"/>
            <a:ext cx="817533" cy="150368"/>
          </a:xfrm>
          <a:prstGeom prst="rect">
            <a:avLst/>
          </a:prstGeom>
          <a:noFill/>
          <a:ln/>
        </p:spPr>
        <p:txBody>
          <a:bodyPr wrap="square" lIns="0" tIns="0" rIns="0" bIns="0" rtlCol="0" anchor="ctr"/>
          <a:lstStyle/>
          <a:p>
            <a:pPr algn="ctr" indent="0" marL="0">
              <a:lnSpc>
                <a:spcPts val="900"/>
              </a:lnSpc>
              <a:buNone/>
            </a:pPr>
            <a:r>
              <a:rPr lang="en-US" sz="800" dirty="0">
                <a:solidFill>
                  <a:srgbClr val="D6EAF2"/>
                </a:solidFill>
              </a:rPr>
              <a:t>Santo Domingo</a:t>
            </a:r>
            <a:endParaRPr lang="en-US" sz="800" dirty="0"/>
          </a:p>
        </p:txBody>
      </p:sp>
      <p:sp>
        <p:nvSpPr>
          <p:cNvPr id="154" name="Map label – Kingston"/>
          <p:cNvSpPr txBox="1"/>
          <p:nvPr/>
        </p:nvSpPr>
        <p:spPr>
          <a:xfrm>
            <a:off x="7197503" y="4235928"/>
            <a:ext cx="540911" cy="150368"/>
          </a:xfrm>
          <a:prstGeom prst="rect">
            <a:avLst/>
          </a:prstGeom>
          <a:noFill/>
          <a:ln/>
        </p:spPr>
        <p:txBody>
          <a:bodyPr wrap="square" lIns="0" tIns="0" rIns="0" bIns="0" rtlCol="0" anchor="ctr"/>
          <a:lstStyle/>
          <a:p>
            <a:pPr algn="l" indent="0" marL="0">
              <a:lnSpc>
                <a:spcPts val="900"/>
              </a:lnSpc>
              <a:buNone/>
            </a:pPr>
            <a:r>
              <a:rPr lang="en-US" sz="800" dirty="0">
                <a:solidFill>
                  <a:srgbClr val="D6EAF2"/>
                </a:solidFill>
              </a:rPr>
              <a:t>Kingston</a:t>
            </a:r>
            <a:endParaRPr lang="en-US" sz="800" dirty="0"/>
          </a:p>
        </p:txBody>
      </p:sp>
      <p:sp>
        <p:nvSpPr>
          <p:cNvPr id="155" name="Map label – San Juan"/>
          <p:cNvSpPr txBox="1"/>
          <p:nvPr/>
        </p:nvSpPr>
        <p:spPr>
          <a:xfrm>
            <a:off x="9195584" y="3570732"/>
            <a:ext cx="542399" cy="150368"/>
          </a:xfrm>
          <a:prstGeom prst="rect">
            <a:avLst/>
          </a:prstGeom>
          <a:noFill/>
          <a:ln/>
        </p:spPr>
        <p:txBody>
          <a:bodyPr wrap="square" lIns="0" tIns="0" rIns="0" bIns="0" rtlCol="0" anchor="ctr"/>
          <a:lstStyle/>
          <a:p>
            <a:pPr algn="ctr" indent="0" marL="0">
              <a:lnSpc>
                <a:spcPts val="900"/>
              </a:lnSpc>
              <a:buNone/>
            </a:pPr>
            <a:r>
              <a:rPr lang="en-US" sz="800" dirty="0">
                <a:solidFill>
                  <a:srgbClr val="D6EAF2"/>
                </a:solidFill>
              </a:rPr>
              <a:t>San Juan</a:t>
            </a:r>
            <a:endParaRPr lang="en-US" sz="800" dirty="0"/>
          </a:p>
        </p:txBody>
      </p:sp>
      <p:sp>
        <p:nvSpPr>
          <p:cNvPr id="156" name="Map label – Charlotte Amalie"/>
          <p:cNvSpPr txBox="1"/>
          <p:nvPr/>
        </p:nvSpPr>
        <p:spPr>
          <a:xfrm>
            <a:off x="9438863" y="3140964"/>
            <a:ext cx="878800" cy="150368"/>
          </a:xfrm>
          <a:prstGeom prst="rect">
            <a:avLst/>
          </a:prstGeom>
          <a:noFill/>
          <a:ln/>
        </p:spPr>
        <p:txBody>
          <a:bodyPr wrap="square" lIns="0" tIns="0" rIns="0" bIns="0" rtlCol="0" anchor="ctr"/>
          <a:lstStyle/>
          <a:p>
            <a:pPr algn="ctr" indent="0" marL="0">
              <a:lnSpc>
                <a:spcPts val="900"/>
              </a:lnSpc>
              <a:buNone/>
            </a:pPr>
            <a:r>
              <a:rPr lang="en-US" sz="800" dirty="0">
                <a:solidFill>
                  <a:srgbClr val="D6EAF2"/>
                </a:solidFill>
              </a:rPr>
              <a:t>Charlotte Amalie</a:t>
            </a:r>
            <a:endParaRPr lang="en-US" sz="800" dirty="0"/>
          </a:p>
        </p:txBody>
      </p:sp>
      <p:sp>
        <p:nvSpPr>
          <p:cNvPr id="157" name="Map label – Road Town"/>
          <p:cNvSpPr txBox="1"/>
          <p:nvPr/>
        </p:nvSpPr>
        <p:spPr>
          <a:xfrm>
            <a:off x="10424075" y="3360420"/>
            <a:ext cx="645735" cy="150368"/>
          </a:xfrm>
          <a:prstGeom prst="rect">
            <a:avLst/>
          </a:prstGeom>
          <a:noFill/>
          <a:ln/>
        </p:spPr>
        <p:txBody>
          <a:bodyPr wrap="square" lIns="0" tIns="0" rIns="0" bIns="0" rtlCol="0" anchor="ctr"/>
          <a:lstStyle/>
          <a:p>
            <a:pPr algn="ctr" indent="0" marL="0">
              <a:lnSpc>
                <a:spcPts val="900"/>
              </a:lnSpc>
              <a:buNone/>
            </a:pPr>
            <a:r>
              <a:rPr lang="en-US" sz="800" dirty="0">
                <a:solidFill>
                  <a:srgbClr val="D6EAF2"/>
                </a:solidFill>
              </a:rPr>
              <a:t>Road Town</a:t>
            </a:r>
            <a:endParaRPr lang="en-US" sz="800" dirty="0"/>
          </a:p>
        </p:txBody>
      </p:sp>
      <p:sp>
        <p:nvSpPr>
          <p:cNvPr id="158" name="Map label – The Valley"/>
          <p:cNvSpPr txBox="1"/>
          <p:nvPr/>
        </p:nvSpPr>
        <p:spPr>
          <a:xfrm>
            <a:off x="11036915" y="3720592"/>
            <a:ext cx="608776" cy="150368"/>
          </a:xfrm>
          <a:prstGeom prst="rect">
            <a:avLst/>
          </a:prstGeom>
          <a:noFill/>
          <a:ln/>
        </p:spPr>
        <p:txBody>
          <a:bodyPr wrap="square" lIns="0" tIns="0" rIns="0" bIns="0" rtlCol="0" anchor="ctr"/>
          <a:lstStyle/>
          <a:p>
            <a:pPr algn="ctr" indent="0" marL="0">
              <a:lnSpc>
                <a:spcPts val="900"/>
              </a:lnSpc>
              <a:buNone/>
            </a:pPr>
            <a:r>
              <a:rPr lang="en-US" sz="800" dirty="0">
                <a:solidFill>
                  <a:srgbClr val="D6EAF2"/>
                </a:solidFill>
              </a:rPr>
              <a:t>The Valley</a:t>
            </a:r>
            <a:endParaRPr lang="en-US" sz="800" dirty="0"/>
          </a:p>
        </p:txBody>
      </p:sp>
      <p:sp>
        <p:nvSpPr>
          <p:cNvPr id="159" name="Map label – St. John&amp;apos;s"/>
          <p:cNvSpPr txBox="1"/>
          <p:nvPr/>
        </p:nvSpPr>
        <p:spPr>
          <a:xfrm>
            <a:off x="11158423" y="4576572"/>
            <a:ext cx="567105" cy="150368"/>
          </a:xfrm>
          <a:prstGeom prst="rect">
            <a:avLst/>
          </a:prstGeom>
          <a:noFill/>
          <a:ln/>
        </p:spPr>
        <p:txBody>
          <a:bodyPr wrap="square" lIns="0" tIns="0" rIns="0" bIns="0" rtlCol="0" anchor="ctr"/>
          <a:lstStyle/>
          <a:p>
            <a:pPr algn="l" indent="0" marL="0">
              <a:lnSpc>
                <a:spcPts val="900"/>
              </a:lnSpc>
              <a:buNone/>
            </a:pPr>
            <a:r>
              <a:rPr lang="en-US" sz="800" dirty="0">
                <a:solidFill>
                  <a:srgbClr val="D6EAF2"/>
                </a:solidFill>
              </a:rPr>
              <a:t>St. John's</a:t>
            </a:r>
            <a:endParaRPr lang="en-US" sz="800" dirty="0"/>
          </a:p>
        </p:txBody>
      </p:sp>
      <p:sp>
        <p:nvSpPr>
          <p:cNvPr id="160" name="Map label – Bridgetown"/>
          <p:cNvSpPr txBox="1"/>
          <p:nvPr/>
        </p:nvSpPr>
        <p:spPr>
          <a:xfrm>
            <a:off x="11284496" y="5796280"/>
            <a:ext cx="662255" cy="150368"/>
          </a:xfrm>
          <a:prstGeom prst="rect">
            <a:avLst/>
          </a:prstGeom>
          <a:noFill/>
          <a:ln/>
        </p:spPr>
        <p:txBody>
          <a:bodyPr wrap="square" lIns="0" tIns="0" rIns="0" bIns="0" rtlCol="0" anchor="ctr"/>
          <a:lstStyle/>
          <a:p>
            <a:pPr algn="ctr" indent="0" marL="0">
              <a:lnSpc>
                <a:spcPts val="900"/>
              </a:lnSpc>
              <a:buNone/>
            </a:pPr>
            <a:r>
              <a:rPr lang="en-US" sz="800" dirty="0">
                <a:solidFill>
                  <a:srgbClr val="D6EAF2"/>
                </a:solidFill>
              </a:rPr>
              <a:t>Bridgetown</a:t>
            </a:r>
            <a:endParaRPr lang="en-US" sz="800" dirty="0"/>
          </a:p>
        </p:txBody>
      </p:sp>
      <p:sp>
        <p:nvSpPr>
          <p:cNvPr id="161" name="Map label – Basseterre"/>
          <p:cNvSpPr txBox="1"/>
          <p:nvPr/>
        </p:nvSpPr>
        <p:spPr>
          <a:xfrm>
            <a:off x="9986967" y="4475988"/>
            <a:ext cx="622816" cy="150368"/>
          </a:xfrm>
          <a:prstGeom prst="rect">
            <a:avLst/>
          </a:prstGeom>
          <a:noFill/>
          <a:ln/>
        </p:spPr>
        <p:txBody>
          <a:bodyPr wrap="square" lIns="0" tIns="0" rIns="0" bIns="0" rtlCol="0" anchor="ctr"/>
          <a:lstStyle/>
          <a:p>
            <a:pPr algn="r" indent="0" marL="0">
              <a:lnSpc>
                <a:spcPts val="900"/>
              </a:lnSpc>
              <a:buNone/>
            </a:pPr>
            <a:r>
              <a:rPr lang="en-US" sz="800" dirty="0">
                <a:solidFill>
                  <a:srgbClr val="D6EAF2"/>
                </a:solidFill>
              </a:rPr>
              <a:t>Basseterre</a:t>
            </a:r>
            <a:endParaRPr lang="en-US" sz="800" dirty="0"/>
          </a:p>
        </p:txBody>
      </p:sp>
      <p:sp>
        <p:nvSpPr>
          <p:cNvPr id="162" name="Map label – Plymouth"/>
          <p:cNvSpPr txBox="1"/>
          <p:nvPr/>
        </p:nvSpPr>
        <p:spPr>
          <a:xfrm>
            <a:off x="9755262" y="5006340"/>
            <a:ext cx="580201" cy="150368"/>
          </a:xfrm>
          <a:prstGeom prst="rect">
            <a:avLst/>
          </a:prstGeom>
          <a:noFill/>
          <a:ln/>
        </p:spPr>
        <p:txBody>
          <a:bodyPr wrap="square" lIns="0" tIns="0" rIns="0" bIns="0" rtlCol="0" anchor="ctr"/>
          <a:lstStyle/>
          <a:p>
            <a:pPr algn="r" indent="0" marL="0">
              <a:lnSpc>
                <a:spcPts val="900"/>
              </a:lnSpc>
              <a:buNone/>
            </a:pPr>
            <a:r>
              <a:rPr lang="en-US" sz="800" dirty="0">
                <a:solidFill>
                  <a:srgbClr val="D6EAF2"/>
                </a:solidFill>
              </a:rPr>
              <a:t>Plymouth</a:t>
            </a:r>
            <a:endParaRPr lang="en-US" sz="800" dirty="0"/>
          </a:p>
        </p:txBody>
      </p:sp>
      <p:sp>
        <p:nvSpPr>
          <p:cNvPr id="163" name="Map label – Basse-Terre"/>
          <p:cNvSpPr txBox="1"/>
          <p:nvPr/>
        </p:nvSpPr>
        <p:spPr>
          <a:xfrm>
            <a:off x="10278712" y="4643120"/>
            <a:ext cx="669399" cy="150368"/>
          </a:xfrm>
          <a:prstGeom prst="rect">
            <a:avLst/>
          </a:prstGeom>
          <a:noFill/>
          <a:ln/>
        </p:spPr>
        <p:txBody>
          <a:bodyPr wrap="square" lIns="0" tIns="0" rIns="0" bIns="0" rtlCol="0" anchor="ctr"/>
          <a:lstStyle/>
          <a:p>
            <a:pPr algn="r" indent="0" marL="0">
              <a:lnSpc>
                <a:spcPts val="900"/>
              </a:lnSpc>
              <a:buNone/>
            </a:pPr>
            <a:r>
              <a:rPr lang="en-US" sz="800" dirty="0">
                <a:solidFill>
                  <a:srgbClr val="D6EAF2"/>
                </a:solidFill>
              </a:rPr>
              <a:t>Basse-Terre</a:t>
            </a:r>
            <a:endParaRPr lang="en-US" sz="800" dirty="0"/>
          </a:p>
        </p:txBody>
      </p:sp>
      <p:sp>
        <p:nvSpPr>
          <p:cNvPr id="164" name="Map label – Roseau"/>
          <p:cNvSpPr txBox="1"/>
          <p:nvPr/>
        </p:nvSpPr>
        <p:spPr>
          <a:xfrm>
            <a:off x="10555592" y="4826000"/>
            <a:ext cx="483959" cy="150368"/>
          </a:xfrm>
          <a:prstGeom prst="rect">
            <a:avLst/>
          </a:prstGeom>
          <a:noFill/>
          <a:ln/>
        </p:spPr>
        <p:txBody>
          <a:bodyPr wrap="square" lIns="0" tIns="0" rIns="0" bIns="0" rtlCol="0" anchor="ctr"/>
          <a:lstStyle/>
          <a:p>
            <a:pPr algn="r" indent="0" marL="0">
              <a:lnSpc>
                <a:spcPts val="900"/>
              </a:lnSpc>
              <a:buNone/>
            </a:pPr>
            <a:r>
              <a:rPr lang="en-US" sz="800" dirty="0">
                <a:solidFill>
                  <a:srgbClr val="D6EAF2"/>
                </a:solidFill>
              </a:rPr>
              <a:t>Roseau</a:t>
            </a:r>
            <a:endParaRPr lang="en-US" sz="800" dirty="0"/>
          </a:p>
        </p:txBody>
      </p:sp>
      <p:sp>
        <p:nvSpPr>
          <p:cNvPr id="165" name="Map label – Fort-de-France"/>
          <p:cNvSpPr txBox="1"/>
          <p:nvPr/>
        </p:nvSpPr>
        <p:spPr>
          <a:xfrm>
            <a:off x="10325448" y="5027168"/>
            <a:ext cx="796399" cy="150368"/>
          </a:xfrm>
          <a:prstGeom prst="rect">
            <a:avLst/>
          </a:prstGeom>
          <a:noFill/>
          <a:ln/>
        </p:spPr>
        <p:txBody>
          <a:bodyPr wrap="square" lIns="0" tIns="0" rIns="0" bIns="0" rtlCol="0" anchor="ctr"/>
          <a:lstStyle/>
          <a:p>
            <a:pPr algn="r" indent="0" marL="0">
              <a:lnSpc>
                <a:spcPts val="900"/>
              </a:lnSpc>
              <a:buNone/>
            </a:pPr>
            <a:r>
              <a:rPr lang="en-US" sz="800" dirty="0">
                <a:solidFill>
                  <a:srgbClr val="D6EAF2"/>
                </a:solidFill>
              </a:rPr>
              <a:t>Fort-de-France</a:t>
            </a:r>
            <a:endParaRPr lang="en-US" sz="800" dirty="0"/>
          </a:p>
        </p:txBody>
      </p:sp>
      <p:sp>
        <p:nvSpPr>
          <p:cNvPr id="166" name="Map label – Castries"/>
          <p:cNvSpPr txBox="1"/>
          <p:nvPr/>
        </p:nvSpPr>
        <p:spPr>
          <a:xfrm>
            <a:off x="10631619" y="5191760"/>
            <a:ext cx="508516" cy="150368"/>
          </a:xfrm>
          <a:prstGeom prst="rect">
            <a:avLst/>
          </a:prstGeom>
          <a:noFill/>
          <a:ln/>
        </p:spPr>
        <p:txBody>
          <a:bodyPr wrap="square" lIns="0" tIns="0" rIns="0" bIns="0" rtlCol="0" anchor="ctr"/>
          <a:lstStyle/>
          <a:p>
            <a:pPr algn="r" indent="0" marL="0">
              <a:lnSpc>
                <a:spcPts val="900"/>
              </a:lnSpc>
              <a:buNone/>
            </a:pPr>
            <a:r>
              <a:rPr lang="en-US" sz="800" dirty="0">
                <a:solidFill>
                  <a:srgbClr val="D6EAF2"/>
                </a:solidFill>
              </a:rPr>
              <a:t>Castries</a:t>
            </a:r>
            <a:endParaRPr lang="en-US" sz="800" dirty="0"/>
          </a:p>
        </p:txBody>
      </p:sp>
      <p:sp>
        <p:nvSpPr>
          <p:cNvPr id="167" name="Map label – Kingstown"/>
          <p:cNvSpPr txBox="1"/>
          <p:nvPr/>
        </p:nvSpPr>
        <p:spPr>
          <a:xfrm>
            <a:off x="10435156" y="5582412"/>
            <a:ext cx="613539" cy="150368"/>
          </a:xfrm>
          <a:prstGeom prst="rect">
            <a:avLst/>
          </a:prstGeom>
          <a:noFill/>
          <a:ln/>
        </p:spPr>
        <p:txBody>
          <a:bodyPr wrap="square" lIns="0" tIns="0" rIns="0" bIns="0" rtlCol="0" anchor="ctr"/>
          <a:lstStyle/>
          <a:p>
            <a:pPr algn="r" indent="0" marL="0">
              <a:lnSpc>
                <a:spcPts val="900"/>
              </a:lnSpc>
              <a:buNone/>
            </a:pPr>
            <a:r>
              <a:rPr lang="en-US" sz="800" dirty="0">
                <a:solidFill>
                  <a:srgbClr val="D6EAF2"/>
                </a:solidFill>
              </a:rPr>
              <a:t>Kingstown</a:t>
            </a:r>
            <a:endParaRPr lang="en-US" sz="800" dirty="0"/>
          </a:p>
        </p:txBody>
      </p:sp>
      <p:sp>
        <p:nvSpPr>
          <p:cNvPr id="168" name="Map label – St. George&amp;apos;s"/>
          <p:cNvSpPr txBox="1"/>
          <p:nvPr/>
        </p:nvSpPr>
        <p:spPr>
          <a:xfrm>
            <a:off x="10171133" y="5887720"/>
            <a:ext cx="676394" cy="150368"/>
          </a:xfrm>
          <a:prstGeom prst="rect">
            <a:avLst/>
          </a:prstGeom>
          <a:noFill/>
          <a:ln/>
        </p:spPr>
        <p:txBody>
          <a:bodyPr wrap="square" lIns="0" tIns="0" rIns="0" bIns="0" rtlCol="0" anchor="ctr"/>
          <a:lstStyle/>
          <a:p>
            <a:pPr algn="r" indent="0" marL="0">
              <a:lnSpc>
                <a:spcPts val="900"/>
              </a:lnSpc>
              <a:buNone/>
            </a:pPr>
            <a:r>
              <a:rPr lang="en-US" sz="800" dirty="0">
                <a:solidFill>
                  <a:srgbClr val="D6EAF2"/>
                </a:solidFill>
              </a:rPr>
              <a:t>St. George's</a:t>
            </a:r>
            <a:endParaRPr lang="en-US" sz="800" dirty="0"/>
          </a:p>
        </p:txBody>
      </p:sp>
      <p:sp>
        <p:nvSpPr>
          <p:cNvPr id="169" name="Map label – Port of Spain"/>
          <p:cNvSpPr txBox="1"/>
          <p:nvPr/>
        </p:nvSpPr>
        <p:spPr>
          <a:xfrm>
            <a:off x="10215478" y="6197600"/>
            <a:ext cx="714345" cy="150368"/>
          </a:xfrm>
          <a:prstGeom prst="rect">
            <a:avLst/>
          </a:prstGeom>
          <a:noFill/>
          <a:ln/>
        </p:spPr>
        <p:txBody>
          <a:bodyPr wrap="square" lIns="0" tIns="0" rIns="0" bIns="0" rtlCol="0" anchor="ctr"/>
          <a:lstStyle/>
          <a:p>
            <a:pPr algn="r" indent="0" marL="0">
              <a:lnSpc>
                <a:spcPts val="900"/>
              </a:lnSpc>
              <a:buNone/>
            </a:pPr>
            <a:r>
              <a:rPr lang="en-US" sz="800" dirty="0">
                <a:solidFill>
                  <a:srgbClr val="D6EAF2"/>
                </a:solidFill>
              </a:rPr>
              <a:t>Port of Spain</a:t>
            </a:r>
            <a:endParaRPr lang="en-US" sz="800" dirty="0"/>
          </a:p>
        </p:txBody>
      </p:sp>
      <p:sp>
        <p:nvSpPr>
          <p:cNvPr id="170" name="Map label – Oranjestad"/>
          <p:cNvSpPr txBox="1"/>
          <p:nvPr/>
        </p:nvSpPr>
        <p:spPr>
          <a:xfrm>
            <a:off x="8233236" y="5280660"/>
            <a:ext cx="638294" cy="150368"/>
          </a:xfrm>
          <a:prstGeom prst="rect">
            <a:avLst/>
          </a:prstGeom>
          <a:noFill/>
          <a:ln/>
        </p:spPr>
        <p:txBody>
          <a:bodyPr wrap="square" lIns="0" tIns="0" rIns="0" bIns="0" rtlCol="0" anchor="ctr"/>
          <a:lstStyle/>
          <a:p>
            <a:pPr algn="ctr" indent="0" marL="0">
              <a:lnSpc>
                <a:spcPts val="900"/>
              </a:lnSpc>
              <a:buNone/>
            </a:pPr>
            <a:r>
              <a:rPr lang="en-US" sz="800" dirty="0">
                <a:solidFill>
                  <a:srgbClr val="D6EAF2"/>
                </a:solidFill>
              </a:rPr>
              <a:t>Oranjestad</a:t>
            </a:r>
            <a:endParaRPr lang="en-US" sz="800" dirty="0"/>
          </a:p>
        </p:txBody>
      </p:sp>
      <p:sp>
        <p:nvSpPr>
          <p:cNvPr id="171" name="Map label – Willemstad"/>
          <p:cNvSpPr txBox="1"/>
          <p:nvPr/>
        </p:nvSpPr>
        <p:spPr>
          <a:xfrm>
            <a:off x="8775650" y="5280660"/>
            <a:ext cx="650746" cy="150368"/>
          </a:xfrm>
          <a:prstGeom prst="rect">
            <a:avLst/>
          </a:prstGeom>
          <a:noFill/>
          <a:ln/>
        </p:spPr>
        <p:txBody>
          <a:bodyPr wrap="square" lIns="0" tIns="0" rIns="0" bIns="0" rtlCol="0" anchor="ctr"/>
          <a:lstStyle/>
          <a:p>
            <a:pPr algn="ctr" indent="0" marL="0">
              <a:lnSpc>
                <a:spcPts val="900"/>
              </a:lnSpc>
              <a:buNone/>
            </a:pPr>
            <a:r>
              <a:rPr lang="en-US" sz="800" dirty="0">
                <a:solidFill>
                  <a:srgbClr val="D6EAF2"/>
                </a:solidFill>
              </a:rPr>
              <a:t>Willemstad</a:t>
            </a:r>
            <a:endParaRPr lang="en-US" sz="800" dirty="0"/>
          </a:p>
        </p:txBody>
      </p:sp>
      <p:sp>
        <p:nvSpPr>
          <p:cNvPr id="172" name="Map label – Kralendijk"/>
          <p:cNvSpPr txBox="1"/>
          <p:nvPr/>
        </p:nvSpPr>
        <p:spPr>
          <a:xfrm>
            <a:off x="9352568" y="5280660"/>
            <a:ext cx="594191" cy="150368"/>
          </a:xfrm>
          <a:prstGeom prst="rect">
            <a:avLst/>
          </a:prstGeom>
          <a:noFill/>
          <a:ln/>
        </p:spPr>
        <p:txBody>
          <a:bodyPr wrap="square" lIns="0" tIns="0" rIns="0" bIns="0" rtlCol="0" anchor="ctr"/>
          <a:lstStyle/>
          <a:p>
            <a:pPr algn="ctr" indent="0" marL="0">
              <a:lnSpc>
                <a:spcPts val="900"/>
              </a:lnSpc>
              <a:buNone/>
            </a:pPr>
            <a:r>
              <a:rPr lang="en-US" sz="800" dirty="0">
                <a:solidFill>
                  <a:srgbClr val="D6EAF2"/>
                </a:solidFill>
              </a:rPr>
              <a:t>Kralendijk</a:t>
            </a:r>
            <a:endParaRPr lang="en-US" sz="800" dirty="0"/>
          </a:p>
        </p:txBody>
      </p:sp>
      <p:sp>
        <p:nvSpPr>
          <p:cNvPr id="173" name="Map label – GREATER ANTILLES"/>
          <p:cNvSpPr txBox="1"/>
          <p:nvPr/>
        </p:nvSpPr>
        <p:spPr>
          <a:xfrm>
            <a:off x="6263954" y="4518729"/>
            <a:ext cx="1642537" cy="185928"/>
          </a:xfrm>
          <a:prstGeom prst="rect">
            <a:avLst/>
          </a:prstGeom>
          <a:noFill/>
          <a:ln/>
        </p:spPr>
        <p:txBody>
          <a:bodyPr wrap="square" lIns="0" tIns="0" rIns="0" bIns="0" rtlCol="0" anchor="ctr"/>
          <a:lstStyle/>
          <a:p>
            <a:pPr algn="ctr" indent="0" marL="0">
              <a:lnSpc>
                <a:spcPts val="1180"/>
              </a:lnSpc>
              <a:buNone/>
            </a:pPr>
            <a:r>
              <a:rPr lang="en-US" sz="1050" b="1" spc="200" kern="0" dirty="0">
                <a:solidFill>
                  <a:srgbClr val="BFE3EE"/>
                </a:solidFill>
              </a:rPr>
              <a:t>GREATER ANTILLES</a:t>
            </a:r>
            <a:endParaRPr lang="en-US" sz="1050" dirty="0"/>
          </a:p>
        </p:txBody>
      </p:sp>
      <p:sp>
        <p:nvSpPr>
          <p:cNvPr id="174" name="Map label – LESSER ANTILLES"/>
          <p:cNvSpPr txBox="1"/>
          <p:nvPr/>
        </p:nvSpPr>
        <p:spPr>
          <a:xfrm>
            <a:off x="8653706" y="4629845"/>
            <a:ext cx="897146" cy="335280"/>
          </a:xfrm>
          <a:prstGeom prst="rect">
            <a:avLst/>
          </a:prstGeom>
          <a:noFill/>
          <a:ln/>
        </p:spPr>
        <p:txBody>
          <a:bodyPr wrap="square" lIns="0" tIns="0" rIns="0" bIns="0" rtlCol="0" anchor="ctr"/>
          <a:lstStyle/>
          <a:p>
            <a:pPr algn="ctr" indent="0" marL="0">
              <a:lnSpc>
                <a:spcPts val="1180"/>
              </a:lnSpc>
              <a:buNone/>
            </a:pPr>
            <a:r>
              <a:rPr lang="en-US" sz="1050" b="1" spc="200" kern="0" dirty="0">
                <a:solidFill>
                  <a:srgbClr val="BFE3EE"/>
                </a:solidFill>
              </a:rPr>
              <a:t>LESSER</a:t>
            </a:r>
            <a:endParaRPr lang="en-US" sz="1050" dirty="0"/>
          </a:p>
          <a:p>
            <a:pPr algn="ctr" indent="0" marL="0">
              <a:lnSpc>
                <a:spcPts val="1180"/>
              </a:lnSpc>
              <a:buNone/>
            </a:pPr>
            <a:r>
              <a:rPr lang="en-US" sz="1050" b="1" spc="200" kern="0" dirty="0">
                <a:solidFill>
                  <a:srgbClr val="BFE3EE"/>
                </a:solidFill>
              </a:rPr>
              <a:t>ANTILLES</a:t>
            </a:r>
            <a:endParaRPr lang="en-US" sz="1050" dirty="0"/>
          </a:p>
        </p:txBody>
      </p:sp>
      <p:sp>
        <p:nvSpPr>
          <p:cNvPr id="175" name="Map label – ATLANTIC OCEAN"/>
          <p:cNvSpPr txBox="1"/>
          <p:nvPr/>
        </p:nvSpPr>
        <p:spPr>
          <a:xfrm>
            <a:off x="9234194" y="1747153"/>
            <a:ext cx="1625565" cy="185928"/>
          </a:xfrm>
          <a:prstGeom prst="rect">
            <a:avLst/>
          </a:prstGeom>
          <a:noFill/>
          <a:ln/>
        </p:spPr>
        <p:txBody>
          <a:bodyPr wrap="square" lIns="0" tIns="0" rIns="0" bIns="0" rtlCol="0" anchor="ctr"/>
          <a:lstStyle/>
          <a:p>
            <a:pPr algn="ctr" indent="0" marL="0">
              <a:lnSpc>
                <a:spcPts val="1180"/>
              </a:lnSpc>
              <a:buNone/>
            </a:pPr>
            <a:r>
              <a:rPr lang="en-US" sz="1050" i="1" spc="280" kern="0" dirty="0">
                <a:solidFill>
                  <a:srgbClr val="8FC4DA"/>
                </a:solidFill>
              </a:rPr>
              <a:t>ATLANTIC OCEAN</a:t>
            </a:r>
            <a:endParaRPr lang="en-US" sz="1050" dirty="0"/>
          </a:p>
        </p:txBody>
      </p:sp>
      <p:sp>
        <p:nvSpPr>
          <p:cNvPr id="176" name="Map label – CARIBBEAN SEA"/>
          <p:cNvSpPr txBox="1"/>
          <p:nvPr/>
        </p:nvSpPr>
        <p:spPr>
          <a:xfrm>
            <a:off x="6690679" y="4995222"/>
            <a:ext cx="1503991" cy="185928"/>
          </a:xfrm>
          <a:prstGeom prst="rect">
            <a:avLst/>
          </a:prstGeom>
          <a:noFill/>
          <a:ln/>
        </p:spPr>
        <p:txBody>
          <a:bodyPr wrap="square" lIns="0" tIns="0" rIns="0" bIns="0" rtlCol="0" anchor="ctr"/>
          <a:lstStyle/>
          <a:p>
            <a:pPr algn="ctr" indent="0" marL="0">
              <a:lnSpc>
                <a:spcPts val="1180"/>
              </a:lnSpc>
              <a:buNone/>
            </a:pPr>
            <a:r>
              <a:rPr lang="en-US" sz="1050" i="1" spc="280" kern="0" dirty="0">
                <a:solidFill>
                  <a:srgbClr val="8FC4DA"/>
                </a:solidFill>
              </a:rPr>
              <a:t>CARIBBEAN SEA</a:t>
            </a:r>
            <a:endParaRPr lang="en-US" sz="1050" dirty="0"/>
          </a:p>
        </p:txBody>
      </p:sp>
      <p:sp>
        <p:nvSpPr>
          <p:cNvPr id="177" name="Map title"/>
          <p:cNvSpPr txBox="1"/>
          <p:nvPr/>
        </p:nvSpPr>
        <p:spPr>
          <a:xfrm>
            <a:off x="8716975" y="365760"/>
            <a:ext cx="3108960" cy="502920"/>
          </a:xfrm>
          <a:prstGeom prst="rect">
            <a:avLst/>
          </a:prstGeom>
          <a:noFill/>
          <a:ln/>
        </p:spPr>
        <p:txBody>
          <a:bodyPr wrap="square" lIns="0" tIns="0" rIns="0" bIns="0" rtlCol="0" anchor="ctr"/>
          <a:lstStyle/>
          <a:p>
            <a:pPr algn="r" indent="0" marL="0">
              <a:buNone/>
            </a:pPr>
            <a:r>
              <a:rPr lang="en-US" sz="2600" spc="300" kern="0" dirty="0">
                <a:solidFill>
                  <a:srgbClr val="FFFFFF"/>
                </a:solidFill>
                <a:latin typeface="+mj-lt" pitchFamily="34" charset="0"/>
                <a:ea typeface="+mj-lt" pitchFamily="34" charset="-122"/>
                <a:cs typeface="+mj-lt" pitchFamily="34" charset="-120"/>
              </a:rPr>
              <a:t>WEST INDIES</a:t>
            </a:r>
            <a:endParaRPr lang="en-US" sz="2600" dirty="0"/>
          </a:p>
        </p:txBody>
      </p:sp>
      <p:sp>
        <p:nvSpPr>
          <p:cNvPr id="178" name="Text 0"/>
          <p:cNvSpPr/>
          <p:nvPr>
            <p:ph idx="100" type="title" hasCustomPrompt="1"/>
          </p:nvPr>
        </p:nvSpPr>
        <p:spPr>
          <a:xfrm>
            <a:off x="594360" y="1371600"/>
            <a:ext cx="4206240" cy="2286000"/>
          </a:xfrm>
          <a:prstGeom prst="rect">
            <a:avLst/>
          </a:prstGeom>
          <a:noFill/>
          <a:ln/>
        </p:spPr>
        <p:txBody>
          <a:bodyPr wrap="square" lIns="0" tIns="0" rIns="0" bIns="0" rtlCol="0" anchor="t"/>
          <a:lstStyle/>
          <a:p>
            <a:pPr algn="l" indent="0" marL="0">
              <a:buNone/>
            </a:pPr>
            <a:r>
              <a:rPr lang="en-US" sz="3600" b="1" dirty="0">
                <a:solidFill>
                  <a:schemeClr val="bg1"/>
                </a:solidFill>
              </a:rPr>
              <a:t>Interplay of social and actuarial issues for social security in the Caribbean</a:t>
            </a:r>
            <a:endParaRPr lang="en-US" sz="3600" dirty="0"/>
          </a:p>
        </p:txBody>
      </p:sp>
      <p:sp>
        <p:nvSpPr>
          <p:cNvPr id="179" name="Text 0"/>
          <p:cNvSpPr/>
          <p:nvPr>
            <p:ph idx="101" type="body" hasCustomPrompt="1"/>
          </p:nvPr>
        </p:nvSpPr>
        <p:spPr>
          <a:xfrm>
            <a:off x="594360" y="3931920"/>
            <a:ext cx="4114800" cy="822960"/>
          </a:xfrm>
          <a:prstGeom prst="rect">
            <a:avLst/>
          </a:prstGeom>
          <a:noFill/>
          <a:ln/>
        </p:spPr>
        <p:txBody>
          <a:bodyPr wrap="square" lIns="0" tIns="0" rIns="0" bIns="0" rtlCol="0" anchor="t"/>
          <a:lstStyle/>
          <a:p>
            <a:pPr algn="l" indent="0" marL="0">
              <a:buNone/>
            </a:pPr>
            <a:r>
              <a:rPr lang="en-US" sz="1800" dirty="0">
                <a:solidFill>
                  <a:srgbClr val="B9C8DA"/>
                </a:solidFill>
              </a:rPr>
              <a:t>Population dynamics, aging trajectories, fertility shifts</a:t>
            </a:r>
            <a:endParaRPr lang="en-US" sz="1800" dirty="0"/>
          </a:p>
        </p:txBody>
      </p:sp>
      <p:sp>
        <p:nvSpPr>
          <p:cNvPr id="180" name="Text 0"/>
          <p:cNvSpPr/>
          <p:nvPr>
            <p:ph idx="102" type="body" hasCustomPrompt="1"/>
          </p:nvPr>
        </p:nvSpPr>
        <p:spPr>
          <a:xfrm>
            <a:off x="594360" y="5074920"/>
            <a:ext cx="4114800" cy="365760"/>
          </a:xfrm>
          <a:prstGeom prst="rect">
            <a:avLst/>
          </a:prstGeom>
          <a:noFill/>
          <a:ln/>
        </p:spPr>
        <p:txBody>
          <a:bodyPr wrap="square" lIns="0" tIns="0" rIns="0" bIns="0" rtlCol="0" anchor="t"/>
          <a:lstStyle/>
          <a:p>
            <a:pPr algn="l" indent="0" marL="0">
              <a:buNone/>
            </a:pPr>
            <a:r>
              <a:rPr lang="en-US" sz="1600" b="1" dirty="0">
                <a:solidFill>
                  <a:schemeClr val="accent4"/>
                </a:solidFill>
              </a:rPr>
              <a:t>Gabriel Martínez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94360" y="457200"/>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SOCIOLINGUISTICS</a:t>
            </a:r>
            <a:endParaRPr lang="en-US" sz="1200" dirty="0"/>
          </a:p>
        </p:txBody>
      </p:sp>
      <p:sp>
        <p:nvSpPr>
          <p:cNvPr id="3" name="Text 0"/>
          <p:cNvSpPr/>
          <p:nvPr>
            <p:ph idx="101" type="title" hasCustomPrompt="1"/>
          </p:nvPr>
        </p:nvSpPr>
        <p:spPr>
          <a:xfrm>
            <a:off x="594360" y="731520"/>
            <a:ext cx="11002975" cy="1005840"/>
          </a:xfrm>
          <a:prstGeom prst="rect">
            <a:avLst/>
          </a:prstGeom>
          <a:noFill/>
          <a:ln/>
        </p:spPr>
        <p:txBody>
          <a:bodyPr wrap="square" lIns="0" tIns="0" rIns="0" bIns="0" rtlCol="0" anchor="t"/>
          <a:lstStyle/>
          <a:p>
            <a:pPr algn="l" indent="0" marL="0">
              <a:buNone/>
            </a:pPr>
            <a:r>
              <a:rPr lang="en-US" sz="3200" b="1" dirty="0">
                <a:solidFill>
                  <a:schemeClr val="tx2"/>
                </a:solidFill>
              </a:rPr>
              <a:t>Linguistic &amp; Cultural Sub-Regions</a:t>
            </a:r>
            <a:endParaRPr lang="en-US" sz="3200" dirty="0"/>
          </a:p>
        </p:txBody>
      </p:sp>
      <p:graphicFrame>
        <p:nvGraphicFramePr>
          <p:cNvPr id="3" name="Data table"/>
          <p:cNvGraphicFramePr>
            <a:graphicFrameLocks noGrp="1"/>
          </p:cNvGraphicFramePr>
          <p:nvPr>
            <p:extLst>
              <p:ext uri="{D42A27DB-BD31-4B8C-83A1-F6EECF244321}">
                <p14:modId xmlns:p14="http://schemas.microsoft.com/office/powerpoint/2010/main" val="1579011935"/>
              </p:ext>
            </p:extLst>
          </p:nvPr>
        </p:nvGraphicFramePr>
        <p:xfrm>
          <a:off x="594360" y="1920240"/>
          <a:ext cx="11000232" cy="914400"/>
        </p:xfrm>
        <a:graphic>
          <a:graphicData uri="http://schemas.openxmlformats.org/drawingml/2006/table">
            <a:tbl>
              <a:tblPr/>
              <a:tblGrid>
                <a:gridCol w="2651760"/>
                <a:gridCol w="4206240"/>
                <a:gridCol w="2011680"/>
                <a:gridCol w="2130552"/>
              </a:tblGrid>
              <a:tr h="548640">
                <a:tc>
                  <a:txBody>
                    <a:bodyPr/>
                    <a:lstStyle/>
                    <a:p>
                      <a:pPr algn="l" indent="0" marL="0">
                        <a:buNone/>
                      </a:pPr>
                      <a:r>
                        <a:rPr lang="en-US" sz="1400" b="1" dirty="0">
                          <a:solidFill>
                            <a:schemeClr val="bg1"/>
                          </a:solidFill>
                        </a:rPr>
                        <a:t>Linguistic Zone</a:t>
                      </a:r>
                      <a:endParaRPr lang="en-US" sz="14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Primary Countries</a:t>
                      </a:r>
                      <a:endParaRPr lang="en-US" sz="14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Population Share</a:t>
                      </a:r>
                      <a:endParaRPr lang="en-US" sz="14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tx2"/>
                    </a:solidFill>
                  </a:tcPr>
                </a:tc>
                <a:tc>
                  <a:txBody>
                    <a:bodyPr/>
                    <a:lstStyle/>
                    <a:p>
                      <a:pPr algn="l" indent="0" marL="0">
                        <a:buNone/>
                      </a:pPr>
                      <a:r>
                        <a:rPr lang="en-US" sz="1400" b="1" dirty="0">
                          <a:solidFill>
                            <a:schemeClr val="bg1"/>
                          </a:solidFill>
                        </a:rPr>
                        <a:t>Dominant Languages</a:t>
                      </a:r>
                      <a:endParaRPr lang="en-US" sz="14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tx2"/>
                    </a:solidFill>
                  </a:tcPr>
                </a:tc>
              </a:tr>
              <a:tr h="822960">
                <a:tc>
                  <a:txBody>
                    <a:bodyPr/>
                    <a:lstStyle/>
                    <a:p>
                      <a:pPr algn="l" indent="0" marL="0">
                        <a:buNone/>
                      </a:pPr>
                      <a:r>
                        <a:rPr lang="en-US" sz="1700" b="1" dirty="0">
                          <a:solidFill>
                            <a:schemeClr val="tx2"/>
                          </a:solidFill>
                        </a:rPr>
                        <a:t>Spanish Caribbean</a:t>
                      </a:r>
                      <a:endParaRPr lang="en-US" sz="17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Cuba, Dominican Rep, Puerto Rico</a:t>
                      </a:r>
                      <a:endParaRPr lang="en-US" sz="17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700" b="1" dirty="0">
                          <a:solidFill>
                            <a:schemeClr val="accent1"/>
                          </a:solidFill>
                        </a:rPr>
                        <a:t>57.5%</a:t>
                      </a:r>
                      <a:endParaRPr lang="en-US" sz="17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Spanish</a:t>
                      </a:r>
                      <a:endParaRPr lang="en-US" sz="17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r>
              <a:tr h="822960">
                <a:tc>
                  <a:txBody>
                    <a:bodyPr/>
                    <a:lstStyle/>
                    <a:p>
                      <a:pPr algn="l" indent="0" marL="0">
                        <a:buNone/>
                      </a:pPr>
                      <a:r>
                        <a:rPr lang="en-US" sz="1700" b="1" dirty="0">
                          <a:solidFill>
                            <a:schemeClr val="tx2"/>
                          </a:solidFill>
                        </a:rPr>
                        <a:t>French / Creole</a:t>
                      </a:r>
                      <a:endParaRPr lang="en-US" sz="17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Haiti, Guadeloupe, Martinique</a:t>
                      </a:r>
                      <a:endParaRPr lang="en-US" sz="17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700" b="1" dirty="0">
                          <a:solidFill>
                            <a:schemeClr val="accent1"/>
                          </a:solidFill>
                        </a:rPr>
                        <a:t>28.0%</a:t>
                      </a:r>
                      <a:endParaRPr lang="en-US" sz="17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French, Haitian Creole</a:t>
                      </a:r>
                      <a:endParaRPr lang="en-US" sz="17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r>
              <a:tr h="822960">
                <a:tc>
                  <a:txBody>
                    <a:bodyPr/>
                    <a:lstStyle/>
                    <a:p>
                      <a:pPr algn="l" indent="0" marL="0">
                        <a:buNone/>
                      </a:pPr>
                      <a:r>
                        <a:rPr lang="en-US" sz="1700" b="1" dirty="0">
                          <a:solidFill>
                            <a:schemeClr val="tx2"/>
                          </a:solidFill>
                        </a:rPr>
                        <a:t>Anglo Caribbean</a:t>
                      </a:r>
                      <a:endParaRPr lang="en-US" sz="17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Jamaica, Trinidad, Barbados, Bahamas</a:t>
                      </a:r>
                      <a:endParaRPr lang="en-US" sz="17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700" b="1" dirty="0">
                          <a:solidFill>
                            <a:schemeClr val="accent1"/>
                          </a:solidFill>
                        </a:rPr>
                        <a:t>13.5%</a:t>
                      </a:r>
                      <a:endParaRPr lang="en-US" sz="17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English, English Creoles</a:t>
                      </a:r>
                      <a:endParaRPr lang="en-US" sz="17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r>
              <a:tr h="822960">
                <a:tc>
                  <a:txBody>
                    <a:bodyPr/>
                    <a:lstStyle/>
                    <a:p>
                      <a:pPr algn="l" indent="0" marL="0">
                        <a:buNone/>
                      </a:pPr>
                      <a:r>
                        <a:rPr lang="en-US" sz="1700" b="1" dirty="0">
                          <a:solidFill>
                            <a:schemeClr val="tx2"/>
                          </a:solidFill>
                        </a:rPr>
                        <a:t>Dutch Caribbean</a:t>
                      </a:r>
                      <a:endParaRPr lang="en-US" sz="17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Aruba, Curaçao, Sint Maarten</a:t>
                      </a:r>
                      <a:endParaRPr lang="en-US" sz="17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700" b="1" dirty="0">
                          <a:solidFill>
                            <a:schemeClr val="accent1"/>
                          </a:solidFill>
                        </a:rPr>
                        <a:t>1.0%</a:t>
                      </a:r>
                      <a:endParaRPr lang="en-US" sz="17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Dutch, Papiamento</a:t>
                      </a:r>
                      <a:endParaRPr lang="en-US" sz="17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r>
            </a:tbl>
          </a:graphicData>
        </a:graphic>
      </p:graphicFrame>
      <p:sp>
        <p:nvSpPr>
          <p:cNvPr id="5" name="Text 0"/>
          <p:cNvSpPr/>
          <p:nvPr>
            <p:ph idx="102" type="body" hasCustomPrompt="1"/>
          </p:nvPr>
        </p:nvSpPr>
        <p:spPr>
          <a:xfrm>
            <a:off x="594360" y="1371600"/>
            <a:ext cx="11002975" cy="36576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594360" y="731520"/>
            <a:ext cx="11002975" cy="1005840"/>
          </a:xfrm>
          <a:prstGeom prst="rect">
            <a:avLst/>
          </a:prstGeom>
          <a:noFill/>
          <a:ln/>
        </p:spPr>
        <p:txBody>
          <a:bodyPr wrap="square" lIns="0" tIns="0" rIns="0" bIns="0" rtlCol="0" anchor="t"/>
          <a:lstStyle/>
          <a:p>
            <a:pPr algn="l" indent="0" marL="0">
              <a:buNone/>
            </a:pPr>
            <a:r>
              <a:rPr lang="en-US" sz="3200" b="1" dirty="0">
                <a:solidFill>
                  <a:schemeClr val="tx2"/>
                </a:solidFill>
              </a:rPr>
              <a:t>Key Demographic Shifts in Caribbean</a:t>
            </a:r>
            <a:endParaRPr lang="en-US" sz="3200" dirty="0"/>
          </a:p>
        </p:txBody>
      </p:sp>
      <p:sp>
        <p:nvSpPr>
          <p:cNvPr id="3" name="Card – Sub-Replacement Fertility"/>
          <p:cNvSpPr/>
          <p:nvPr/>
        </p:nvSpPr>
        <p:spPr>
          <a:xfrm>
            <a:off x="594360" y="1783080"/>
            <a:ext cx="3484778" cy="2103120"/>
          </a:xfrm>
          <a:prstGeom prst="roundRect">
            <a:avLst>
              <a:gd name="adj" fmla="val 5217"/>
            </a:avLst>
          </a:prstGeom>
          <a:solidFill>
            <a:schemeClr val="bg2"/>
          </a:solidFill>
          <a:ln/>
        </p:spPr>
      </p:sp>
      <p:sp>
        <p:nvSpPr>
          <p:cNvPr id="4" name="Sub-Replacement Fertility badge"/>
          <p:cNvSpPr/>
          <p:nvPr/>
        </p:nvSpPr>
        <p:spPr>
          <a:xfrm>
            <a:off x="868680" y="2039112"/>
            <a:ext cx="566928" cy="566928"/>
          </a:xfrm>
          <a:prstGeom prst="ellipse">
            <a:avLst/>
          </a:prstGeom>
          <a:solidFill>
            <a:schemeClr val="accent1"/>
          </a:solidFill>
          <a:ln/>
        </p:spPr>
      </p:sp>
      <p:pic>
        <p:nvPicPr>
          <p:cNvPr id="5" name="Sub-Replacement Fertility icon" descr="/tmp/claude-0/-home-user-Arturo/8d4d3924-7078-5160-a89d-b2e82f900b72/scratchpad/work/build/assets/icons/trendDown_FFFFFF.png">    </p:cNvPr>
          <p:cNvPicPr>
            <a:picLocks noChangeAspect="1"/>
          </p:cNvPicPr>
          <p:nvPr/>
        </p:nvPicPr>
        <p:blipFill>
          <a:blip r:embed="rId1"/>
          <a:stretch>
            <a:fillRect/>
          </a:stretch>
        </p:blipFill>
        <p:spPr>
          <a:xfrm>
            <a:off x="1010412" y="2180844"/>
            <a:ext cx="283464" cy="283464"/>
          </a:xfrm>
          <a:prstGeom prst="rect">
            <a:avLst/>
          </a:prstGeom>
        </p:spPr>
      </p:pic>
      <p:sp>
        <p:nvSpPr>
          <p:cNvPr id="6" name="Heading"/>
          <p:cNvSpPr txBox="1"/>
          <p:nvPr/>
        </p:nvSpPr>
        <p:spPr>
          <a:xfrm>
            <a:off x="868680" y="2788920"/>
            <a:ext cx="2936138" cy="292608"/>
          </a:xfrm>
          <a:prstGeom prst="rect">
            <a:avLst/>
          </a:prstGeom>
          <a:noFill/>
          <a:ln/>
        </p:spPr>
        <p:txBody>
          <a:bodyPr wrap="square" lIns="0" tIns="0" rIns="0" bIns="0" rtlCol="0" anchor="t"/>
          <a:lstStyle/>
          <a:p>
            <a:pPr algn="l" indent="0" marL="0">
              <a:buNone/>
            </a:pPr>
            <a:r>
              <a:rPr lang="en-US" sz="1600" b="1" dirty="0">
                <a:solidFill>
                  <a:schemeClr val="tx2"/>
                </a:solidFill>
              </a:rPr>
              <a:t>Sub-Replacement Fertility</a:t>
            </a:r>
            <a:endParaRPr lang="en-US" sz="1600" dirty="0"/>
          </a:p>
        </p:txBody>
      </p:sp>
      <p:sp>
        <p:nvSpPr>
          <p:cNvPr id="7" name="Text 4"/>
          <p:cNvSpPr txBox="1"/>
          <p:nvPr/>
        </p:nvSpPr>
        <p:spPr>
          <a:xfrm>
            <a:off x="868680" y="3118104"/>
            <a:ext cx="2936138" cy="676656"/>
          </a:xfrm>
          <a:prstGeom prst="rect">
            <a:avLst/>
          </a:prstGeom>
          <a:noFill/>
          <a:ln/>
        </p:spPr>
        <p:txBody>
          <a:bodyPr wrap="square" lIns="0" tIns="0" rIns="0" bIns="0" rtlCol="0" anchor="t"/>
          <a:lstStyle/>
          <a:p>
            <a:pPr algn="l" indent="0" marL="0">
              <a:buNone/>
            </a:pPr>
            <a:r>
              <a:rPr lang="en-US" sz="1400" dirty="0">
                <a:solidFill>
                  <a:srgbClr val="34475C"/>
                </a:solidFill>
              </a:rPr>
              <a:t>TFR dropped below 2.1 in major islands including Cuba, Puerto Rico, and Jamaica.</a:t>
            </a:r>
            <a:endParaRPr lang="en-US" sz="1400" dirty="0"/>
          </a:p>
        </p:txBody>
      </p:sp>
      <p:sp>
        <p:nvSpPr>
          <p:cNvPr id="8" name="Card – Accelerated Aging"/>
          <p:cNvSpPr/>
          <p:nvPr/>
        </p:nvSpPr>
        <p:spPr>
          <a:xfrm>
            <a:off x="4353458" y="1783080"/>
            <a:ext cx="3484778" cy="2103120"/>
          </a:xfrm>
          <a:prstGeom prst="roundRect">
            <a:avLst>
              <a:gd name="adj" fmla="val 5217"/>
            </a:avLst>
          </a:prstGeom>
          <a:solidFill>
            <a:schemeClr val="bg2"/>
          </a:solidFill>
          <a:ln/>
        </p:spPr>
      </p:sp>
      <p:sp>
        <p:nvSpPr>
          <p:cNvPr id="9" name="Accelerated Aging badge"/>
          <p:cNvSpPr/>
          <p:nvPr/>
        </p:nvSpPr>
        <p:spPr>
          <a:xfrm>
            <a:off x="4627778" y="2039112"/>
            <a:ext cx="566928" cy="566928"/>
          </a:xfrm>
          <a:prstGeom prst="ellipse">
            <a:avLst/>
          </a:prstGeom>
          <a:solidFill>
            <a:schemeClr val="accent1"/>
          </a:solidFill>
          <a:ln/>
        </p:spPr>
      </p:sp>
      <p:pic>
        <p:nvPicPr>
          <p:cNvPr id="10" name="Accelerated Aging icon" descr="/tmp/claude-0/-home-user-Arturo/8d4d3924-7078-5160-a89d-b2e82f900b72/scratchpad/work/build/assets/icons/userClock_FFFFFF.png">    </p:cNvPr>
          <p:cNvPicPr>
            <a:picLocks noChangeAspect="1"/>
          </p:cNvPicPr>
          <p:nvPr/>
        </p:nvPicPr>
        <p:blipFill>
          <a:blip r:embed="rId2"/>
          <a:stretch>
            <a:fillRect/>
          </a:stretch>
        </p:blipFill>
        <p:spPr>
          <a:xfrm>
            <a:off x="4769510" y="2180844"/>
            <a:ext cx="283464" cy="283464"/>
          </a:xfrm>
          <a:prstGeom prst="rect">
            <a:avLst/>
          </a:prstGeom>
        </p:spPr>
      </p:pic>
      <p:sp>
        <p:nvSpPr>
          <p:cNvPr id="11" name="Heading"/>
          <p:cNvSpPr txBox="1"/>
          <p:nvPr/>
        </p:nvSpPr>
        <p:spPr>
          <a:xfrm>
            <a:off x="4627778" y="2788920"/>
            <a:ext cx="2936138" cy="292608"/>
          </a:xfrm>
          <a:prstGeom prst="rect">
            <a:avLst/>
          </a:prstGeom>
          <a:noFill/>
          <a:ln/>
        </p:spPr>
        <p:txBody>
          <a:bodyPr wrap="square" lIns="0" tIns="0" rIns="0" bIns="0" rtlCol="0" anchor="t"/>
          <a:lstStyle/>
          <a:p>
            <a:pPr algn="l" indent="0" marL="0">
              <a:buNone/>
            </a:pPr>
            <a:r>
              <a:rPr lang="en-US" sz="1600" b="1" dirty="0">
                <a:solidFill>
                  <a:schemeClr val="tx2"/>
                </a:solidFill>
              </a:rPr>
              <a:t>Accelerated Aging</a:t>
            </a:r>
            <a:endParaRPr lang="en-US" sz="1600" dirty="0"/>
          </a:p>
        </p:txBody>
      </p:sp>
      <p:sp>
        <p:nvSpPr>
          <p:cNvPr id="12" name="Text 8"/>
          <p:cNvSpPr txBox="1"/>
          <p:nvPr/>
        </p:nvSpPr>
        <p:spPr>
          <a:xfrm>
            <a:off x="4627778" y="3118104"/>
            <a:ext cx="2936138" cy="676656"/>
          </a:xfrm>
          <a:prstGeom prst="rect">
            <a:avLst/>
          </a:prstGeom>
          <a:noFill/>
          <a:ln/>
        </p:spPr>
        <p:txBody>
          <a:bodyPr wrap="square" lIns="0" tIns="0" rIns="0" bIns="0" rtlCol="0" anchor="t"/>
          <a:lstStyle/>
          <a:p>
            <a:pPr algn="l" indent="0" marL="0">
              <a:buNone/>
            </a:pPr>
            <a:r>
              <a:rPr lang="en-US" sz="1400" dirty="0">
                <a:solidFill>
                  <a:srgbClr val="34475C"/>
                </a:solidFill>
              </a:rPr>
              <a:t>Elderly population ratio rising rapidly in Cuba and Puerto Rico due to low births.</a:t>
            </a:r>
            <a:endParaRPr lang="en-US" sz="1400" dirty="0"/>
          </a:p>
        </p:txBody>
      </p:sp>
      <p:sp>
        <p:nvSpPr>
          <p:cNvPr id="13" name="Card – Persistent brain dra"/>
          <p:cNvSpPr/>
          <p:nvPr/>
        </p:nvSpPr>
        <p:spPr>
          <a:xfrm>
            <a:off x="8112557" y="1783080"/>
            <a:ext cx="3484778" cy="2103120"/>
          </a:xfrm>
          <a:prstGeom prst="roundRect">
            <a:avLst>
              <a:gd name="adj" fmla="val 5217"/>
            </a:avLst>
          </a:prstGeom>
          <a:solidFill>
            <a:schemeClr val="bg2"/>
          </a:solidFill>
          <a:ln/>
        </p:spPr>
      </p:sp>
      <p:sp>
        <p:nvSpPr>
          <p:cNvPr id="14" name="Icon badge"/>
          <p:cNvSpPr/>
          <p:nvPr/>
        </p:nvSpPr>
        <p:spPr>
          <a:xfrm>
            <a:off x="8386877" y="2039112"/>
            <a:ext cx="566928" cy="566928"/>
          </a:xfrm>
          <a:prstGeom prst="ellipse">
            <a:avLst/>
          </a:prstGeom>
          <a:solidFill>
            <a:schemeClr val="accent1"/>
          </a:solidFill>
          <a:ln/>
        </p:spPr>
      </p:sp>
      <p:pic>
        <p:nvPicPr>
          <p:cNvPr id="15" name="Icon icon" descr="/tmp/claude-0/-home-user-Arturo/8d4d3924-7078-5160-a89d-b2e82f900b72/scratchpad/work/build/assets/icons/plane_FFFFFF.png">    </p:cNvPr>
          <p:cNvPicPr>
            <a:picLocks noChangeAspect="1"/>
          </p:cNvPicPr>
          <p:nvPr/>
        </p:nvPicPr>
        <p:blipFill>
          <a:blip r:embed="rId3"/>
          <a:stretch>
            <a:fillRect/>
          </a:stretch>
        </p:blipFill>
        <p:spPr>
          <a:xfrm>
            <a:off x="8528609" y="2180844"/>
            <a:ext cx="283464" cy="283464"/>
          </a:xfrm>
          <a:prstGeom prst="rect">
            <a:avLst/>
          </a:prstGeom>
        </p:spPr>
      </p:pic>
      <p:sp>
        <p:nvSpPr>
          <p:cNvPr id="16" name="Text 11"/>
          <p:cNvSpPr txBox="1"/>
          <p:nvPr/>
        </p:nvSpPr>
        <p:spPr>
          <a:xfrm>
            <a:off x="8386877" y="3118104"/>
            <a:ext cx="2936138" cy="676656"/>
          </a:xfrm>
          <a:prstGeom prst="rect">
            <a:avLst/>
          </a:prstGeom>
          <a:noFill/>
          <a:ln/>
        </p:spPr>
        <p:txBody>
          <a:bodyPr wrap="square" lIns="0" tIns="0" rIns="0" bIns="0" rtlCol="0" anchor="t"/>
          <a:lstStyle/>
          <a:p>
            <a:pPr algn="l" indent="0" marL="0">
              <a:buNone/>
            </a:pPr>
            <a:r>
              <a:rPr lang="en-US" sz="1400" dirty="0">
                <a:solidFill>
                  <a:srgbClr val="34475C"/>
                </a:solidFill>
              </a:rPr>
              <a:t>Persistent brain drain to North America balancing local unemployment pressure.</a:t>
            </a:r>
            <a:endParaRPr lang="en-US" sz="1400" dirty="0"/>
          </a:p>
        </p:txBody>
      </p:sp>
      <p:sp>
        <p:nvSpPr>
          <p:cNvPr id="17" name="Card – Sub-Replacement Fertility"/>
          <p:cNvSpPr/>
          <p:nvPr/>
        </p:nvSpPr>
        <p:spPr>
          <a:xfrm>
            <a:off x="594360" y="4114800"/>
            <a:ext cx="3484778" cy="2103120"/>
          </a:xfrm>
          <a:prstGeom prst="roundRect">
            <a:avLst>
              <a:gd name="adj" fmla="val 5217"/>
            </a:avLst>
          </a:prstGeom>
          <a:solidFill>
            <a:schemeClr val="bg2"/>
          </a:solidFill>
          <a:ln/>
        </p:spPr>
      </p:sp>
      <p:sp>
        <p:nvSpPr>
          <p:cNvPr id="18" name="Sub-Replacement Fertility badge"/>
          <p:cNvSpPr/>
          <p:nvPr/>
        </p:nvSpPr>
        <p:spPr>
          <a:xfrm>
            <a:off x="868680" y="4370832"/>
            <a:ext cx="566928" cy="566928"/>
          </a:xfrm>
          <a:prstGeom prst="ellipse">
            <a:avLst/>
          </a:prstGeom>
          <a:solidFill>
            <a:schemeClr val="accent1"/>
          </a:solidFill>
          <a:ln/>
        </p:spPr>
      </p:sp>
      <p:pic>
        <p:nvPicPr>
          <p:cNvPr id="19" name="Sub-Replacement Fertility icon" descr="/tmp/claude-0/-home-user-Arturo/8d4d3924-7078-5160-a89d-b2e82f900b72/scratchpad/work/build/assets/icons/trendDown_FFFFFF.png">    </p:cNvPr>
          <p:cNvPicPr>
            <a:picLocks noChangeAspect="1"/>
          </p:cNvPicPr>
          <p:nvPr/>
        </p:nvPicPr>
        <p:blipFill>
          <a:blip r:embed="rId4"/>
          <a:stretch>
            <a:fillRect/>
          </a:stretch>
        </p:blipFill>
        <p:spPr>
          <a:xfrm>
            <a:off x="1010412" y="4512564"/>
            <a:ext cx="283464" cy="283464"/>
          </a:xfrm>
          <a:prstGeom prst="rect">
            <a:avLst/>
          </a:prstGeom>
        </p:spPr>
      </p:pic>
      <p:sp>
        <p:nvSpPr>
          <p:cNvPr id="20" name="Heading"/>
          <p:cNvSpPr txBox="1"/>
          <p:nvPr/>
        </p:nvSpPr>
        <p:spPr>
          <a:xfrm>
            <a:off x="868680" y="5120640"/>
            <a:ext cx="2936138" cy="292608"/>
          </a:xfrm>
          <a:prstGeom prst="rect">
            <a:avLst/>
          </a:prstGeom>
          <a:noFill/>
          <a:ln/>
        </p:spPr>
        <p:txBody>
          <a:bodyPr wrap="square" lIns="0" tIns="0" rIns="0" bIns="0" rtlCol="0" anchor="t"/>
          <a:lstStyle/>
          <a:p>
            <a:pPr algn="l" indent="0" marL="0">
              <a:buNone/>
            </a:pPr>
            <a:r>
              <a:rPr lang="en-US" sz="1600" b="1" dirty="0">
                <a:solidFill>
                  <a:schemeClr val="tx2"/>
                </a:solidFill>
              </a:rPr>
              <a:t>Sub-Replacement Fertility</a:t>
            </a:r>
            <a:endParaRPr lang="en-US" sz="1600" dirty="0"/>
          </a:p>
        </p:txBody>
      </p:sp>
      <p:sp>
        <p:nvSpPr>
          <p:cNvPr id="21" name="Text 15"/>
          <p:cNvSpPr txBox="1"/>
          <p:nvPr/>
        </p:nvSpPr>
        <p:spPr>
          <a:xfrm>
            <a:off x="868680" y="5449824"/>
            <a:ext cx="2936138" cy="676656"/>
          </a:xfrm>
          <a:prstGeom prst="rect">
            <a:avLst/>
          </a:prstGeom>
          <a:noFill/>
          <a:ln/>
        </p:spPr>
        <p:txBody>
          <a:bodyPr wrap="square" lIns="0" tIns="0" rIns="0" bIns="0" rtlCol="0" anchor="t"/>
          <a:lstStyle/>
          <a:p>
            <a:pPr algn="l" indent="0" marL="0">
              <a:buNone/>
            </a:pPr>
            <a:r>
              <a:rPr lang="en-US" sz="1400" dirty="0">
                <a:solidFill>
                  <a:srgbClr val="34475C"/>
                </a:solidFill>
              </a:rPr>
              <a:t>TFR dropped to 1.4–1.6 across most OECS islands, well below the 2.1 replacement benchmark.</a:t>
            </a:r>
            <a:endParaRPr lang="en-US" sz="1400" dirty="0"/>
          </a:p>
        </p:txBody>
      </p:sp>
      <p:sp>
        <p:nvSpPr>
          <p:cNvPr id="22" name="Card – Accelerated Aging"/>
          <p:cNvSpPr/>
          <p:nvPr/>
        </p:nvSpPr>
        <p:spPr>
          <a:xfrm>
            <a:off x="4353458" y="4114800"/>
            <a:ext cx="3484778" cy="2103120"/>
          </a:xfrm>
          <a:prstGeom prst="roundRect">
            <a:avLst>
              <a:gd name="adj" fmla="val 5217"/>
            </a:avLst>
          </a:prstGeom>
          <a:solidFill>
            <a:schemeClr val="bg2"/>
          </a:solidFill>
          <a:ln/>
        </p:spPr>
      </p:sp>
      <p:sp>
        <p:nvSpPr>
          <p:cNvPr id="23" name="Accelerated Aging badge"/>
          <p:cNvSpPr/>
          <p:nvPr/>
        </p:nvSpPr>
        <p:spPr>
          <a:xfrm>
            <a:off x="4627778" y="4370832"/>
            <a:ext cx="566928" cy="566928"/>
          </a:xfrm>
          <a:prstGeom prst="ellipse">
            <a:avLst/>
          </a:prstGeom>
          <a:solidFill>
            <a:schemeClr val="accent1"/>
          </a:solidFill>
          <a:ln/>
        </p:spPr>
      </p:sp>
      <p:pic>
        <p:nvPicPr>
          <p:cNvPr id="24" name="Accelerated Aging icon" descr="/tmp/claude-0/-home-user-Arturo/8d4d3924-7078-5160-a89d-b2e82f900b72/scratchpad/work/build/assets/icons/userClock_FFFFFF.png">    </p:cNvPr>
          <p:cNvPicPr>
            <a:picLocks noChangeAspect="1"/>
          </p:cNvPicPr>
          <p:nvPr/>
        </p:nvPicPr>
        <p:blipFill>
          <a:blip r:embed="rId5"/>
          <a:stretch>
            <a:fillRect/>
          </a:stretch>
        </p:blipFill>
        <p:spPr>
          <a:xfrm>
            <a:off x="4769510" y="4512564"/>
            <a:ext cx="283464" cy="283464"/>
          </a:xfrm>
          <a:prstGeom prst="rect">
            <a:avLst/>
          </a:prstGeom>
        </p:spPr>
      </p:pic>
      <p:sp>
        <p:nvSpPr>
          <p:cNvPr id="25" name="Heading"/>
          <p:cNvSpPr txBox="1"/>
          <p:nvPr/>
        </p:nvSpPr>
        <p:spPr>
          <a:xfrm>
            <a:off x="4627778" y="5120640"/>
            <a:ext cx="2936138" cy="292608"/>
          </a:xfrm>
          <a:prstGeom prst="rect">
            <a:avLst/>
          </a:prstGeom>
          <a:noFill/>
          <a:ln/>
        </p:spPr>
        <p:txBody>
          <a:bodyPr wrap="square" lIns="0" tIns="0" rIns="0" bIns="0" rtlCol="0" anchor="t"/>
          <a:lstStyle/>
          <a:p>
            <a:pPr algn="l" indent="0" marL="0">
              <a:buNone/>
            </a:pPr>
            <a:r>
              <a:rPr lang="en-US" sz="1600" b="1" dirty="0">
                <a:solidFill>
                  <a:schemeClr val="tx2"/>
                </a:solidFill>
              </a:rPr>
              <a:t>Accelerated Aging</a:t>
            </a:r>
            <a:endParaRPr lang="en-US" sz="1600" dirty="0"/>
          </a:p>
        </p:txBody>
      </p:sp>
      <p:sp>
        <p:nvSpPr>
          <p:cNvPr id="26" name="Text 19"/>
          <p:cNvSpPr txBox="1"/>
          <p:nvPr/>
        </p:nvSpPr>
        <p:spPr>
          <a:xfrm>
            <a:off x="4627778" y="5449824"/>
            <a:ext cx="2936138" cy="676656"/>
          </a:xfrm>
          <a:prstGeom prst="rect">
            <a:avLst/>
          </a:prstGeom>
          <a:noFill/>
          <a:ln/>
        </p:spPr>
        <p:txBody>
          <a:bodyPr wrap="square" lIns="0" tIns="0" rIns="0" bIns="0" rtlCol="0" anchor="t"/>
          <a:lstStyle/>
          <a:p>
            <a:pPr algn="l" indent="0" marL="0">
              <a:buNone/>
            </a:pPr>
            <a:r>
              <a:rPr lang="en-US" sz="1400" dirty="0">
                <a:solidFill>
                  <a:srgbClr val="34475C"/>
                </a:solidFill>
              </a:rPr>
              <a:t>Median age rising rapidly past 36 years in Barbados, St. Kitts, and Saint Lucia.</a:t>
            </a:r>
            <a:endParaRPr lang="en-US" sz="1400" dirty="0"/>
          </a:p>
        </p:txBody>
      </p:sp>
      <p:sp>
        <p:nvSpPr>
          <p:cNvPr id="27" name="Card – Non-Marital Family Structure"/>
          <p:cNvSpPr/>
          <p:nvPr/>
        </p:nvSpPr>
        <p:spPr>
          <a:xfrm>
            <a:off x="8112557" y="4114800"/>
            <a:ext cx="3484778" cy="2103120"/>
          </a:xfrm>
          <a:prstGeom prst="roundRect">
            <a:avLst>
              <a:gd name="adj" fmla="val 5217"/>
            </a:avLst>
          </a:prstGeom>
          <a:solidFill>
            <a:schemeClr val="bg2"/>
          </a:solidFill>
          <a:ln/>
        </p:spPr>
      </p:sp>
      <p:sp>
        <p:nvSpPr>
          <p:cNvPr id="28" name="Non-Marital Family Structure badge"/>
          <p:cNvSpPr/>
          <p:nvPr/>
        </p:nvSpPr>
        <p:spPr>
          <a:xfrm>
            <a:off x="8386877" y="4370832"/>
            <a:ext cx="566928" cy="566928"/>
          </a:xfrm>
          <a:prstGeom prst="ellipse">
            <a:avLst/>
          </a:prstGeom>
          <a:solidFill>
            <a:schemeClr val="accent1"/>
          </a:solidFill>
          <a:ln/>
        </p:spPr>
      </p:sp>
      <p:pic>
        <p:nvPicPr>
          <p:cNvPr id="29" name="Non-Marital Family Structure icon" descr="/tmp/claude-0/-home-user-Arturo/8d4d3924-7078-5160-a89d-b2e82f900b72/scratchpad/work/build/assets/icons/ring_FFFFFF.png">    </p:cNvPr>
          <p:cNvPicPr>
            <a:picLocks noChangeAspect="1"/>
          </p:cNvPicPr>
          <p:nvPr/>
        </p:nvPicPr>
        <p:blipFill>
          <a:blip r:embed="rId6"/>
          <a:stretch>
            <a:fillRect/>
          </a:stretch>
        </p:blipFill>
        <p:spPr>
          <a:xfrm>
            <a:off x="8528609" y="4512564"/>
            <a:ext cx="283464" cy="283464"/>
          </a:xfrm>
          <a:prstGeom prst="rect">
            <a:avLst/>
          </a:prstGeom>
        </p:spPr>
      </p:pic>
      <p:sp>
        <p:nvSpPr>
          <p:cNvPr id="30" name="Heading"/>
          <p:cNvSpPr txBox="1"/>
          <p:nvPr/>
        </p:nvSpPr>
        <p:spPr>
          <a:xfrm>
            <a:off x="8386877" y="5120640"/>
            <a:ext cx="2936138" cy="292608"/>
          </a:xfrm>
          <a:prstGeom prst="rect">
            <a:avLst/>
          </a:prstGeom>
          <a:noFill/>
          <a:ln/>
        </p:spPr>
        <p:txBody>
          <a:bodyPr wrap="square" lIns="0" tIns="0" rIns="0" bIns="0" rtlCol="0" anchor="t"/>
          <a:lstStyle/>
          <a:p>
            <a:pPr algn="l" indent="0" marL="0">
              <a:buNone/>
            </a:pPr>
            <a:r>
              <a:rPr lang="en-US" sz="1600" b="1" dirty="0">
                <a:solidFill>
                  <a:schemeClr val="tx2"/>
                </a:solidFill>
              </a:rPr>
              <a:t>Non-Marital Family Structure</a:t>
            </a:r>
            <a:endParaRPr lang="en-US" sz="1600" dirty="0"/>
          </a:p>
        </p:txBody>
      </p:sp>
      <p:sp>
        <p:nvSpPr>
          <p:cNvPr id="31" name="Text 23"/>
          <p:cNvSpPr txBox="1"/>
          <p:nvPr/>
        </p:nvSpPr>
        <p:spPr>
          <a:xfrm>
            <a:off x="8386877" y="5449824"/>
            <a:ext cx="2936138" cy="676656"/>
          </a:xfrm>
          <a:prstGeom prst="rect">
            <a:avLst/>
          </a:prstGeom>
          <a:noFill/>
          <a:ln/>
        </p:spPr>
        <p:txBody>
          <a:bodyPr wrap="square" lIns="0" tIns="0" rIns="0" bIns="0" rtlCol="0" anchor="t"/>
          <a:lstStyle/>
          <a:p>
            <a:pPr algn="l" indent="0" marL="0">
              <a:buNone/>
            </a:pPr>
            <a:r>
              <a:rPr lang="en-US" sz="1400" dirty="0">
                <a:solidFill>
                  <a:srgbClr val="34475C"/>
                </a:solidFill>
              </a:rPr>
              <a:t>Visiting unions and common-law partnerships dominate, with low formal crude marriage rates.</a:t>
            </a:r>
            <a:endParaRPr lang="en-US" sz="1400" dirty="0"/>
          </a:p>
        </p:txBody>
      </p:sp>
      <p:sp>
        <p:nvSpPr>
          <p:cNvPr id="32" name="Text 0"/>
          <p:cNvSpPr/>
          <p:nvPr>
            <p:ph idx="100" type="body" hasCustomPrompt="1"/>
          </p:nvPr>
        </p:nvSpPr>
        <p:spPr>
          <a:xfrm>
            <a:off x="594360" y="457200"/>
            <a:ext cx="8229600" cy="274320"/>
          </a:xfrm>
          <a:prstGeom prst="rect">
            <a:avLst/>
          </a:prstGeom>
          <a:noFill/>
          <a:ln/>
        </p:spPr>
        <p:txBody>
          <a:bodyPr wrap="square" lIns="0" tIns="0" rIns="0" bIns="0" rtlCol="0" anchor="t"/>
          <a:lstStyle/>
          <a:p>
            <a:pPr algn="l" indent="0" marL="0">
              <a:buNone/>
            </a:pPr>
            <a:endParaRPr lang="en-US" sz="1200" dirty="0"/>
          </a:p>
        </p:txBody>
      </p:sp>
      <p:sp>
        <p:nvSpPr>
          <p:cNvPr id="33" name="Text 0"/>
          <p:cNvSpPr/>
          <p:nvPr>
            <p:ph idx="102" type="body" hasCustomPrompt="1"/>
          </p:nvPr>
        </p:nvSpPr>
        <p:spPr>
          <a:xfrm>
            <a:off x="594360" y="1371600"/>
            <a:ext cx="11002975" cy="36576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94360" y="457200"/>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FERTILITY TRENDS</a:t>
            </a:r>
            <a:endParaRPr lang="en-US" sz="1200" dirty="0"/>
          </a:p>
        </p:txBody>
      </p:sp>
      <p:sp>
        <p:nvSpPr>
          <p:cNvPr id="3" name="Text 0"/>
          <p:cNvSpPr/>
          <p:nvPr>
            <p:ph idx="101" type="title" hasCustomPrompt="1"/>
          </p:nvPr>
        </p:nvSpPr>
        <p:spPr>
          <a:xfrm>
            <a:off x="594360" y="731520"/>
            <a:ext cx="11002975" cy="1005840"/>
          </a:xfrm>
          <a:prstGeom prst="rect">
            <a:avLst/>
          </a:prstGeom>
          <a:noFill/>
          <a:ln/>
        </p:spPr>
        <p:txBody>
          <a:bodyPr wrap="square" lIns="0" tIns="0" rIns="0" bIns="0" rtlCol="0" anchor="t"/>
          <a:lstStyle/>
          <a:p>
            <a:pPr algn="l" indent="0" marL="0">
              <a:buNone/>
            </a:pPr>
            <a:r>
              <a:rPr lang="en-US" sz="3200" b="1" dirty="0">
                <a:solidFill>
                  <a:schemeClr val="tx2"/>
                </a:solidFill>
              </a:rPr>
              <a:t>Total Fertility Rate (TFR) Comparison</a:t>
            </a:r>
            <a:endParaRPr lang="en-US" sz="3200" dirty="0"/>
          </a:p>
        </p:txBody>
      </p:sp>
      <p:graphicFrame>
        <p:nvGraphicFramePr>
          <p:cNvPr id="5" name="Data table"/>
          <p:cNvGraphicFramePr>
            <a:graphicFrameLocks noGrp="1"/>
          </p:cNvGraphicFramePr>
          <p:nvPr>
            <p:extLst>
              <p:ext uri="{D42A27DB-BD31-4B8C-83A1-F6EECF244321}">
                <p14:modId xmlns:p14="http://schemas.microsoft.com/office/powerpoint/2010/main" val="1579011935"/>
              </p:ext>
            </p:extLst>
          </p:nvPr>
        </p:nvGraphicFramePr>
        <p:xfrm>
          <a:off x="594360" y="1783080"/>
          <a:ext cx="11000232" cy="914400"/>
        </p:xfrm>
        <a:graphic>
          <a:graphicData uri="http://schemas.openxmlformats.org/drawingml/2006/table">
            <a:tbl>
              <a:tblPr/>
              <a:tblGrid>
                <a:gridCol w="3108960"/>
                <a:gridCol w="1554480"/>
                <a:gridCol w="1554480"/>
                <a:gridCol w="1554480"/>
                <a:gridCol w="3227832"/>
              </a:tblGrid>
              <a:tr h="457200">
                <a:tc>
                  <a:txBody>
                    <a:bodyPr/>
                    <a:lstStyle/>
                    <a:p>
                      <a:pPr algn="l" indent="0" marL="0">
                        <a:buNone/>
                      </a:pPr>
                      <a:r>
                        <a:rPr lang="en-US" sz="1300" b="1" dirty="0">
                          <a:solidFill>
                            <a:schemeClr val="bg1"/>
                          </a:solidFill>
                        </a:rPr>
                        <a:t>Country</a:t>
                      </a:r>
                      <a:endParaRPr lang="en-US" sz="13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1990 TFR</a:t>
                      </a:r>
                      <a:endParaRPr lang="en-US" sz="13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2010 TFR</a:t>
                      </a:r>
                      <a:endParaRPr lang="en-US" sz="13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2026 TFR</a:t>
                      </a:r>
                      <a:endParaRPr lang="en-US" sz="13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Status vs Replacement (2.1)</a:t>
                      </a:r>
                      <a:endParaRPr lang="en-US" sz="13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tx2"/>
                    </a:solidFill>
                  </a:tcPr>
                </a:tc>
              </a:tr>
              <a:tr h="484632">
                <a:tc>
                  <a:txBody>
                    <a:bodyPr/>
                    <a:lstStyle/>
                    <a:p>
                      <a:pPr algn="l" indent="0" marL="0">
                        <a:buNone/>
                      </a:pPr>
                      <a:r>
                        <a:rPr lang="en-US" sz="1600" b="1" dirty="0">
                          <a:solidFill>
                            <a:schemeClr val="tx2"/>
                          </a:solidFill>
                        </a:rPr>
                        <a:t>Barbados</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1.8</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1.5</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1.3</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b="1" dirty="0">
                          <a:solidFill>
                            <a:srgbClr val="A32621"/>
                          </a:solidFill>
                        </a:rPr>
                        <a:t>Critically Low</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rgbClr val="F9E1E0"/>
                    </a:solidFill>
                  </a:tcPr>
                </a:tc>
              </a:tr>
              <a:tr h="484632">
                <a:tc>
                  <a:txBody>
                    <a:bodyPr/>
                    <a:lstStyle/>
                    <a:p>
                      <a:pPr algn="l" indent="0" marL="0">
                        <a:buNone/>
                      </a:pPr>
                      <a:r>
                        <a:rPr lang="en-US" sz="1600" b="1" dirty="0">
                          <a:solidFill>
                            <a:schemeClr val="tx2"/>
                          </a:solidFill>
                        </a:rPr>
                        <a:t>Saint Lucia</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3.1</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1.8</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1.4</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b="1" dirty="0">
                          <a:solidFill>
                            <a:srgbClr val="A32621"/>
                          </a:solidFill>
                        </a:rPr>
                        <a:t>Below Replacement</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rgbClr val="F9E1E0"/>
                    </a:solidFill>
                  </a:tcPr>
                </a:tc>
              </a:tr>
              <a:tr h="484632">
                <a:tc>
                  <a:txBody>
                    <a:bodyPr/>
                    <a:lstStyle/>
                    <a:p>
                      <a:pPr algn="l" indent="0" marL="0">
                        <a:buNone/>
                      </a:pPr>
                      <a:r>
                        <a:rPr lang="en-US" sz="1600" b="1" dirty="0">
                          <a:solidFill>
                            <a:schemeClr val="tx2"/>
                          </a:solidFill>
                        </a:rPr>
                        <a:t>Antigua &amp; Barbuda</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2.2</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1.7</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1.4</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b="1" dirty="0">
                          <a:solidFill>
                            <a:srgbClr val="A32621"/>
                          </a:solidFill>
                        </a:rPr>
                        <a:t>Below Replacement</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rgbClr val="F9E1E0"/>
                    </a:solidFill>
                  </a:tcPr>
                </a:tc>
              </a:tr>
              <a:tr h="484632">
                <a:tc>
                  <a:txBody>
                    <a:bodyPr/>
                    <a:lstStyle/>
                    <a:p>
                      <a:pPr algn="l" indent="0" marL="0">
                        <a:buNone/>
                      </a:pPr>
                      <a:r>
                        <a:rPr lang="en-US" sz="1600" b="1" dirty="0">
                          <a:solidFill>
                            <a:schemeClr val="tx2"/>
                          </a:solidFill>
                        </a:rPr>
                        <a:t>St. Kitts &amp; Nevis</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2.8</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1.7</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1.5</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b="1" dirty="0">
                          <a:solidFill>
                            <a:srgbClr val="A32621"/>
                          </a:solidFill>
                        </a:rPr>
                        <a:t>Below Replacement</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rgbClr val="F9E1E0"/>
                    </a:solidFill>
                  </a:tcPr>
                </a:tc>
              </a:tr>
              <a:tr h="484632">
                <a:tc>
                  <a:txBody>
                    <a:bodyPr/>
                    <a:lstStyle/>
                    <a:p>
                      <a:pPr algn="l" indent="0" marL="0">
                        <a:buNone/>
                      </a:pPr>
                      <a:r>
                        <a:rPr lang="en-US" sz="1600" b="1" dirty="0">
                          <a:solidFill>
                            <a:schemeClr val="tx2"/>
                          </a:solidFill>
                        </a:rPr>
                        <a:t>Grenada</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3.4</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2.0</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1.5</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b="1" dirty="0">
                          <a:solidFill>
                            <a:srgbClr val="A32621"/>
                          </a:solidFill>
                        </a:rPr>
                        <a:t>Below Replacement</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rgbClr val="F9E1E0"/>
                    </a:solidFill>
                  </a:tcPr>
                </a:tc>
              </a:tr>
              <a:tr h="484632">
                <a:tc>
                  <a:txBody>
                    <a:bodyPr/>
                    <a:lstStyle/>
                    <a:p>
                      <a:pPr algn="l" indent="0" marL="0">
                        <a:buNone/>
                      </a:pPr>
                      <a:r>
                        <a:rPr lang="en-US" sz="1600" b="1" dirty="0">
                          <a:solidFill>
                            <a:schemeClr val="tx2"/>
                          </a:solidFill>
                        </a:rPr>
                        <a:t>Dominica</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3.0</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1.9</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1.6</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b="1" dirty="0">
                          <a:solidFill>
                            <a:srgbClr val="A32621"/>
                          </a:solidFill>
                        </a:rPr>
                        <a:t>Below Replacement</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rgbClr val="F9E1E0"/>
                    </a:solidFill>
                  </a:tcPr>
                </a:tc>
              </a:tr>
              <a:tr h="484632">
                <a:tc>
                  <a:txBody>
                    <a:bodyPr/>
                    <a:lstStyle/>
                    <a:p>
                      <a:pPr algn="l" indent="0" marL="0">
                        <a:buNone/>
                      </a:pPr>
                      <a:r>
                        <a:rPr lang="en-US" sz="1600" b="1" dirty="0">
                          <a:solidFill>
                            <a:schemeClr val="tx2"/>
                          </a:solidFill>
                        </a:rPr>
                        <a:t>St. Vincent &amp; Grenadines</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3.2</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2.1</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1.7</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b="1" dirty="0">
                          <a:solidFill>
                            <a:srgbClr val="8A5A12"/>
                          </a:solidFill>
                        </a:rPr>
                        <a:t>Moderate Low</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rgbClr val="FBEBD3"/>
                    </a:solidFill>
                  </a:tcPr>
                </a:tc>
              </a:tr>
              <a:tr h="484632">
                <a:tc>
                  <a:txBody>
                    <a:bodyPr/>
                    <a:lstStyle/>
                    <a:p>
                      <a:pPr algn="l" indent="0" marL="0">
                        <a:buNone/>
                      </a:pPr>
                      <a:r>
                        <a:rPr lang="en-US" sz="1600" b="1" dirty="0">
                          <a:solidFill>
                            <a:schemeClr val="tx2"/>
                          </a:solidFill>
                        </a:rPr>
                        <a:t>Belize</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4.5</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2.6</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2.0</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b="1" dirty="0">
                          <a:solidFill>
                            <a:srgbClr val="176A42"/>
                          </a:solidFill>
                        </a:rPr>
                        <a:t>Near Replacement</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rgbClr val="DDF1E5"/>
                    </a:solidFill>
                  </a:tcPr>
                </a:tc>
              </a:tr>
            </a:tbl>
          </a:graphicData>
        </a:graphic>
      </p:graphicFrame>
      <p:sp>
        <p:nvSpPr>
          <p:cNvPr id="5" name="Text 0"/>
          <p:cNvSpPr/>
          <p:nvPr>
            <p:ph idx="102" type="body" hasCustomPrompt="1"/>
          </p:nvPr>
        </p:nvSpPr>
        <p:spPr>
          <a:xfrm>
            <a:off x="594360" y="1371600"/>
            <a:ext cx="11002975" cy="36576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94360" y="457200"/>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FERTILITY ANALYSIS</a:t>
            </a:r>
            <a:endParaRPr lang="en-US" sz="1200" dirty="0"/>
          </a:p>
        </p:txBody>
      </p:sp>
      <p:sp>
        <p:nvSpPr>
          <p:cNvPr id="3" name="Text 0"/>
          <p:cNvSpPr/>
          <p:nvPr>
            <p:ph idx="101" type="title" hasCustomPrompt="1"/>
          </p:nvPr>
        </p:nvSpPr>
        <p:spPr>
          <a:xfrm>
            <a:off x="594360" y="731520"/>
            <a:ext cx="11002975" cy="1005840"/>
          </a:xfrm>
          <a:prstGeom prst="rect">
            <a:avLst/>
          </a:prstGeom>
          <a:noFill/>
          <a:ln/>
        </p:spPr>
        <p:txBody>
          <a:bodyPr wrap="square" lIns="0" tIns="0" rIns="0" bIns="0" rtlCol="0" anchor="t"/>
          <a:lstStyle/>
          <a:p>
            <a:pPr algn="l" indent="0" marL="0">
              <a:buNone/>
            </a:pPr>
            <a:r>
              <a:rPr lang="en-US" sz="3200" b="1" dirty="0">
                <a:solidFill>
                  <a:schemeClr val="tx2"/>
                </a:solidFill>
              </a:rPr>
              <a:t>Total Fertility Rate (TFR) Comparison</a:t>
            </a:r>
            <a:endParaRPr lang="en-US" sz="3200" dirty="0"/>
          </a:p>
        </p:txBody>
      </p:sp>
      <p:sp>
        <p:nvSpPr>
          <p:cNvPr id="4" name="Text 0"/>
          <p:cNvSpPr/>
          <p:nvPr>
            <p:ph idx="102" type="body" hasCustomPrompt="1"/>
          </p:nvPr>
        </p:nvSpPr>
        <p:spPr>
          <a:xfrm>
            <a:off x="594360" y="1371600"/>
            <a:ext cx="11002975" cy="365760"/>
          </a:xfrm>
          <a:prstGeom prst="rect">
            <a:avLst/>
          </a:prstGeom>
          <a:noFill/>
          <a:ln/>
        </p:spPr>
        <p:txBody>
          <a:bodyPr wrap="square" lIns="0" tIns="0" rIns="0" bIns="0" rtlCol="0" anchor="t"/>
          <a:lstStyle/>
          <a:p>
            <a:pPr algn="l" indent="0" marL="0">
              <a:buNone/>
            </a:pPr>
            <a:r>
              <a:rPr lang="en-US" sz="1600" dirty="0">
                <a:solidFill>
                  <a:srgbClr val="5B6B7D"/>
                </a:solidFill>
              </a:rPr>
              <a:t>Replacement level fertility is 2.1 births per woman. Most Caribbean nations sit below this line.</a:t>
            </a:r>
            <a:endParaRPr lang="en-US" sz="1600" dirty="0"/>
          </a:p>
        </p:txBody>
      </p:sp>
      <p:graphicFrame>
        <p:nvGraphicFramePr>
          <p:cNvPr id="6" name="Data table"/>
          <p:cNvGraphicFramePr>
            <a:graphicFrameLocks noGrp="1"/>
          </p:cNvGraphicFramePr>
          <p:nvPr>
            <p:extLst>
              <p:ext uri="{D42A27DB-BD31-4B8C-83A1-F6EECF244321}">
                <p14:modId xmlns:p14="http://schemas.microsoft.com/office/powerpoint/2010/main" val="1579011935"/>
              </p:ext>
            </p:extLst>
          </p:nvPr>
        </p:nvGraphicFramePr>
        <p:xfrm>
          <a:off x="594360" y="2103120"/>
          <a:ext cx="11000232" cy="914400"/>
        </p:xfrm>
        <a:graphic>
          <a:graphicData uri="http://schemas.openxmlformats.org/drawingml/2006/table">
            <a:tbl>
              <a:tblPr/>
              <a:tblGrid>
                <a:gridCol w="3108960"/>
                <a:gridCol w="1554480"/>
                <a:gridCol w="1554480"/>
                <a:gridCol w="1737360"/>
                <a:gridCol w="3044952"/>
              </a:tblGrid>
              <a:tr h="475488">
                <a:tc>
                  <a:txBody>
                    <a:bodyPr/>
                    <a:lstStyle/>
                    <a:p>
                      <a:pPr algn="l" indent="0" marL="0">
                        <a:buNone/>
                      </a:pPr>
                      <a:r>
                        <a:rPr lang="en-US" sz="1300" b="1" dirty="0">
                          <a:solidFill>
                            <a:schemeClr val="bg1"/>
                          </a:solidFill>
                        </a:rPr>
                        <a:t>Country</a:t>
                      </a:r>
                      <a:endParaRPr lang="en-US" sz="13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TFR (1990)</a:t>
                      </a:r>
                      <a:endParaRPr lang="en-US" sz="13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TFR (2010)</a:t>
                      </a:r>
                      <a:endParaRPr lang="en-US" sz="13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TFR (2024/2025)</a:t>
                      </a:r>
                      <a:endParaRPr lang="en-US" sz="13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Status vs Replacement (2.1)</a:t>
                      </a:r>
                      <a:endParaRPr lang="en-US" sz="13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tx2"/>
                    </a:solidFill>
                  </a:tcPr>
                </a:tc>
              </a:tr>
              <a:tr h="566928">
                <a:tc>
                  <a:txBody>
                    <a:bodyPr/>
                    <a:lstStyle/>
                    <a:p>
                      <a:pPr algn="l" indent="0" marL="0">
                        <a:buNone/>
                      </a:pPr>
                      <a:r>
                        <a:rPr lang="en-US" sz="1600" b="1" dirty="0">
                          <a:solidFill>
                            <a:schemeClr val="tx2"/>
                          </a:solidFill>
                        </a:rPr>
                        <a:t>Haiti</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5.2</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3.5</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2.7</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b="1" dirty="0">
                          <a:solidFill>
                            <a:srgbClr val="176A42"/>
                          </a:solidFill>
                        </a:rPr>
                        <a:t>Above Replacement</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rgbClr val="DDF1E5"/>
                    </a:solidFill>
                  </a:tcPr>
                </a:tc>
              </a:tr>
              <a:tr h="566928">
                <a:tc>
                  <a:txBody>
                    <a:bodyPr/>
                    <a:lstStyle/>
                    <a:p>
                      <a:pPr algn="l" indent="0" marL="0">
                        <a:buNone/>
                      </a:pPr>
                      <a:r>
                        <a:rPr lang="en-US" sz="1600" b="1" dirty="0">
                          <a:solidFill>
                            <a:schemeClr val="tx2"/>
                          </a:solidFill>
                        </a:rPr>
                        <a:t>Dominican Republic</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3.6</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2.6</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2.2</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b="1" dirty="0">
                          <a:solidFill>
                            <a:srgbClr val="176A42"/>
                          </a:solidFill>
                        </a:rPr>
                        <a:t>Near Replacement</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rgbClr val="DDF1E5"/>
                    </a:solidFill>
                  </a:tcPr>
                </a:tc>
              </a:tr>
              <a:tr h="566928">
                <a:tc>
                  <a:txBody>
                    <a:bodyPr/>
                    <a:lstStyle/>
                    <a:p>
                      <a:pPr algn="l" indent="0" marL="0">
                        <a:buNone/>
                      </a:pPr>
                      <a:r>
                        <a:rPr lang="en-US" sz="1600" b="1" dirty="0">
                          <a:solidFill>
                            <a:schemeClr val="tx2"/>
                          </a:solidFill>
                        </a:rPr>
                        <a:t>Jamaica</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3.1</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2.2</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1.8</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b="1" dirty="0">
                          <a:solidFill>
                            <a:srgbClr val="A32621"/>
                          </a:solidFill>
                        </a:rPr>
                        <a:t>Below Replacement</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rgbClr val="F9E1E0"/>
                    </a:solidFill>
                  </a:tcPr>
                </a:tc>
              </a:tr>
              <a:tr h="566928">
                <a:tc>
                  <a:txBody>
                    <a:bodyPr/>
                    <a:lstStyle/>
                    <a:p>
                      <a:pPr algn="l" indent="0" marL="0">
                        <a:buNone/>
                      </a:pPr>
                      <a:r>
                        <a:rPr lang="en-US" sz="1600" b="1" dirty="0">
                          <a:solidFill>
                            <a:schemeClr val="tx2"/>
                          </a:solidFill>
                        </a:rPr>
                        <a:t>Trinidad &amp; Tobago</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2.5</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1.8</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1.6</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b="1" dirty="0">
                          <a:solidFill>
                            <a:srgbClr val="A32621"/>
                          </a:solidFill>
                        </a:rPr>
                        <a:t>Below Replacement</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rgbClr val="F9E1E0"/>
                    </a:solidFill>
                  </a:tcPr>
                </a:tc>
              </a:tr>
              <a:tr h="566928">
                <a:tc>
                  <a:txBody>
                    <a:bodyPr/>
                    <a:lstStyle/>
                    <a:p>
                      <a:pPr algn="l" indent="0" marL="0">
                        <a:buNone/>
                      </a:pPr>
                      <a:r>
                        <a:rPr lang="en-US" sz="1600" b="1" dirty="0">
                          <a:solidFill>
                            <a:schemeClr val="tx2"/>
                          </a:solidFill>
                        </a:rPr>
                        <a:t>Cuba</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1.8</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1.5</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1.4</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b="1" dirty="0">
                          <a:solidFill>
                            <a:srgbClr val="A32621"/>
                          </a:solidFill>
                        </a:rPr>
                        <a:t>Critically Low</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rgbClr val="F9E1E0"/>
                    </a:solidFill>
                  </a:tcPr>
                </a:tc>
              </a:tr>
              <a:tr h="566928">
                <a:tc>
                  <a:txBody>
                    <a:bodyPr/>
                    <a:lstStyle/>
                    <a:p>
                      <a:pPr algn="l" indent="0" marL="0">
                        <a:buNone/>
                      </a:pPr>
                      <a:r>
                        <a:rPr lang="en-US" sz="1600" b="1" dirty="0">
                          <a:solidFill>
                            <a:schemeClr val="tx2"/>
                          </a:solidFill>
                        </a:rPr>
                        <a:t>Puerto Rico</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2.2</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1.6</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0.9</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b="1" dirty="0">
                          <a:solidFill>
                            <a:srgbClr val="A32621"/>
                          </a:solidFill>
                        </a:rPr>
                        <a:t>Ultra Low</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rgbClr val="F9E1E0"/>
                    </a:solidFill>
                  </a:tcPr>
                </a:tc>
              </a:tr>
            </a:tbl>
          </a:graphicData>
        </a:graphic>
      </p:graphicFrame>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94360" y="457200"/>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DATA OVERVIEW</a:t>
            </a:r>
            <a:endParaRPr lang="en-US" sz="1200" dirty="0"/>
          </a:p>
        </p:txBody>
      </p:sp>
      <p:sp>
        <p:nvSpPr>
          <p:cNvPr id="3" name="Text 0"/>
          <p:cNvSpPr/>
          <p:nvPr>
            <p:ph idx="101" type="title" hasCustomPrompt="1"/>
          </p:nvPr>
        </p:nvSpPr>
        <p:spPr>
          <a:xfrm>
            <a:off x="594360" y="731520"/>
            <a:ext cx="11002975" cy="1005840"/>
          </a:xfrm>
          <a:prstGeom prst="rect">
            <a:avLst/>
          </a:prstGeom>
          <a:noFill/>
          <a:ln/>
        </p:spPr>
        <p:txBody>
          <a:bodyPr wrap="square" lIns="0" tIns="0" rIns="0" bIns="0" rtlCol="0" anchor="t"/>
          <a:lstStyle/>
          <a:p>
            <a:pPr algn="l" indent="0" marL="0">
              <a:buNone/>
            </a:pPr>
            <a:r>
              <a:rPr lang="en-US" sz="3200" b="1" dirty="0">
                <a:solidFill>
                  <a:schemeClr val="tx2"/>
                </a:solidFill>
              </a:rPr>
              <a:t>Larger Caribbean Populations by Country</a:t>
            </a:r>
            <a:endParaRPr lang="en-US" sz="3200" dirty="0"/>
          </a:p>
        </p:txBody>
      </p:sp>
      <p:graphicFrame>
        <p:nvGraphicFramePr>
          <p:cNvPr id="7" name="Data table"/>
          <p:cNvGraphicFramePr>
            <a:graphicFrameLocks noGrp="1"/>
          </p:cNvGraphicFramePr>
          <p:nvPr>
            <p:extLst>
              <p:ext uri="{D42A27DB-BD31-4B8C-83A1-F6EECF244321}">
                <p14:modId xmlns:p14="http://schemas.microsoft.com/office/powerpoint/2010/main" val="1579011935"/>
              </p:ext>
            </p:extLst>
          </p:nvPr>
        </p:nvGraphicFramePr>
        <p:xfrm>
          <a:off x="594360" y="1828800"/>
          <a:ext cx="11000232" cy="914400"/>
        </p:xfrm>
        <a:graphic>
          <a:graphicData uri="http://schemas.openxmlformats.org/drawingml/2006/table">
            <a:tbl>
              <a:tblPr/>
              <a:tblGrid>
                <a:gridCol w="3200400"/>
                <a:gridCol w="2377440"/>
                <a:gridCol w="1737360"/>
                <a:gridCol w="1920240"/>
                <a:gridCol w="1764792"/>
              </a:tblGrid>
              <a:tr h="502920">
                <a:tc>
                  <a:txBody>
                    <a:bodyPr/>
                    <a:lstStyle/>
                    <a:p>
                      <a:pPr algn="l" indent="0" marL="0">
                        <a:buNone/>
                      </a:pPr>
                      <a:r>
                        <a:rPr lang="en-US" sz="1300" b="1" dirty="0">
                          <a:solidFill>
                            <a:schemeClr val="bg1"/>
                          </a:solidFill>
                        </a:rPr>
                        <a:t>Country / Territory</a:t>
                      </a:r>
                      <a:endParaRPr lang="en-US" sz="13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Population (2024/2025)</a:t>
                      </a:r>
                      <a:endParaRPr lang="en-US" sz="13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Share of Region</a:t>
                      </a:r>
                      <a:endParaRPr lang="en-US" sz="13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Annual Growth Rate</a:t>
                      </a:r>
                      <a:endParaRPr lang="en-US" sz="13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Urbanization Rate</a:t>
                      </a:r>
                      <a:endParaRPr lang="en-US" sz="13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tx2"/>
                    </a:solidFill>
                  </a:tcPr>
                </a:tc>
              </a:tr>
              <a:tr h="640080">
                <a:tc>
                  <a:txBody>
                    <a:bodyPr/>
                    <a:lstStyle/>
                    <a:p>
                      <a:pPr algn="l" indent="0" marL="0">
                        <a:buNone/>
                      </a:pPr>
                      <a:r>
                        <a:rPr lang="en-US" sz="1600" b="1" dirty="0">
                          <a:solidFill>
                            <a:schemeClr val="tx2"/>
                          </a:solidFill>
                        </a:rPr>
                        <a:t>Haiti</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1"/>
                          </a:solidFill>
                        </a:rPr>
                        <a:t>11.72 Million</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26.3%</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+1.12%</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59.8%</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r>
              <a:tr h="640080">
                <a:tc>
                  <a:txBody>
                    <a:bodyPr/>
                    <a:lstStyle/>
                    <a:p>
                      <a:pPr algn="l" indent="0" marL="0">
                        <a:buNone/>
                      </a:pPr>
                      <a:r>
                        <a:rPr lang="en-US" sz="1600" b="1" dirty="0">
                          <a:solidFill>
                            <a:schemeClr val="tx2"/>
                          </a:solidFill>
                        </a:rPr>
                        <a:t>Dominican Republic</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accent1"/>
                          </a:solidFill>
                        </a:rPr>
                        <a:t>11.33 Million</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25.5%</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+0.92%</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83.2%</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r>
              <a:tr h="640080">
                <a:tc>
                  <a:txBody>
                    <a:bodyPr/>
                    <a:lstStyle/>
                    <a:p>
                      <a:pPr algn="l" indent="0" marL="0">
                        <a:buNone/>
                      </a:pPr>
                      <a:r>
                        <a:rPr lang="en-US" sz="1600" b="1" dirty="0">
                          <a:solidFill>
                            <a:schemeClr val="tx2"/>
                          </a:solidFill>
                        </a:rPr>
                        <a:t>Cuba</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1"/>
                          </a:solidFill>
                        </a:rPr>
                        <a:t>11.02 Million</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24.8%</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-0.35%</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77.4%</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r>
              <a:tr h="640080">
                <a:tc>
                  <a:txBody>
                    <a:bodyPr/>
                    <a:lstStyle/>
                    <a:p>
                      <a:pPr algn="l" indent="0" marL="0">
                        <a:buNone/>
                      </a:pPr>
                      <a:r>
                        <a:rPr lang="en-US" sz="1600" b="1" dirty="0">
                          <a:solidFill>
                            <a:schemeClr val="tx2"/>
                          </a:solidFill>
                        </a:rPr>
                        <a:t>Puerto Rico (US)</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accent1"/>
                          </a:solidFill>
                        </a:rPr>
                        <a:t>3.22 Million</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7.2%</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-0.48%</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93.6%</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r>
              <a:tr h="640080">
                <a:tc>
                  <a:txBody>
                    <a:bodyPr/>
                    <a:lstStyle/>
                    <a:p>
                      <a:pPr algn="l" indent="0" marL="0">
                        <a:buNone/>
                      </a:pPr>
                      <a:r>
                        <a:rPr lang="en-US" sz="1600" b="1" dirty="0">
                          <a:solidFill>
                            <a:schemeClr val="tx2"/>
                          </a:solidFill>
                        </a:rPr>
                        <a:t>Jamaica</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b="1" dirty="0">
                          <a:solidFill>
                            <a:schemeClr val="accent1"/>
                          </a:solidFill>
                        </a:rPr>
                        <a:t>2.83 Million</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6.4%</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+0.15%</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600" dirty="0">
                          <a:solidFill>
                            <a:schemeClr val="tx1"/>
                          </a:solidFill>
                        </a:rPr>
                        <a:t>56.7%</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r>
              <a:tr h="640080">
                <a:tc>
                  <a:txBody>
                    <a:bodyPr/>
                    <a:lstStyle/>
                    <a:p>
                      <a:pPr algn="l" indent="0" marL="0">
                        <a:buNone/>
                      </a:pPr>
                      <a:r>
                        <a:rPr lang="en-US" sz="1600" b="1" dirty="0">
                          <a:solidFill>
                            <a:schemeClr val="tx2"/>
                          </a:solidFill>
                        </a:rPr>
                        <a:t>Trinidad &amp; Tobago</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accent1"/>
                          </a:solidFill>
                        </a:rPr>
                        <a:t>1.53 Million</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3.4%</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+0.28%</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600" dirty="0">
                          <a:solidFill>
                            <a:schemeClr val="tx1"/>
                          </a:solidFill>
                        </a:rPr>
                        <a:t>53.2%</a:t>
                      </a:r>
                      <a:endParaRPr lang="en-US" sz="16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r>
            </a:tbl>
          </a:graphicData>
        </a:graphic>
      </p:graphicFrame>
      <p:sp>
        <p:nvSpPr>
          <p:cNvPr id="5" name="Text 0"/>
          <p:cNvSpPr/>
          <p:nvPr>
            <p:ph idx="102" type="body" hasCustomPrompt="1"/>
          </p:nvPr>
        </p:nvSpPr>
        <p:spPr>
          <a:xfrm>
            <a:off x="594360" y="1371600"/>
            <a:ext cx="11002975" cy="36576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94360" y="457200"/>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AGING PROFILES</a:t>
            </a:r>
            <a:endParaRPr lang="en-US" sz="1200" dirty="0"/>
          </a:p>
        </p:txBody>
      </p:sp>
      <p:sp>
        <p:nvSpPr>
          <p:cNvPr id="3" name="Text 0"/>
          <p:cNvSpPr/>
          <p:nvPr>
            <p:ph idx="101" type="title" hasCustomPrompt="1"/>
          </p:nvPr>
        </p:nvSpPr>
        <p:spPr>
          <a:xfrm>
            <a:off x="594360" y="731520"/>
            <a:ext cx="11002975" cy="1005840"/>
          </a:xfrm>
          <a:prstGeom prst="rect">
            <a:avLst/>
          </a:prstGeom>
          <a:noFill/>
          <a:ln/>
        </p:spPr>
        <p:txBody>
          <a:bodyPr wrap="square" lIns="0" tIns="0" rIns="0" bIns="0" rtlCol="0" anchor="t"/>
          <a:lstStyle/>
          <a:p>
            <a:pPr algn="l" indent="0" marL="0">
              <a:buNone/>
            </a:pPr>
            <a:r>
              <a:rPr lang="en-US" sz="3200" b="1" dirty="0">
                <a:solidFill>
                  <a:schemeClr val="tx2"/>
                </a:solidFill>
              </a:rPr>
              <a:t>Median Age (2026 Estimates)</a:t>
            </a:r>
            <a:endParaRPr lang="en-US" sz="3200" dirty="0"/>
          </a:p>
        </p:txBody>
      </p:sp>
      <p:sp>
        <p:nvSpPr>
          <p:cNvPr id="4" name="Text 0"/>
          <p:cNvSpPr/>
          <p:nvPr>
            <p:ph idx="102" type="body" hasCustomPrompt="1"/>
          </p:nvPr>
        </p:nvSpPr>
        <p:spPr>
          <a:xfrm>
            <a:off x="594360" y="1371600"/>
            <a:ext cx="11002975" cy="365760"/>
          </a:xfrm>
          <a:prstGeom prst="rect">
            <a:avLst/>
          </a:prstGeom>
          <a:noFill/>
          <a:ln/>
        </p:spPr>
        <p:txBody>
          <a:bodyPr wrap="square" lIns="0" tIns="0" rIns="0" bIns="0" rtlCol="0" anchor="t"/>
          <a:lstStyle/>
          <a:p>
            <a:pPr algn="l" indent="0" marL="0">
              <a:buNone/>
            </a:pPr>
            <a:r>
              <a:rPr lang="en-US" sz="1600" dirty="0">
                <a:solidFill>
                  <a:srgbClr val="5B6B7D"/>
                </a:solidFill>
              </a:rPr>
              <a:t>Eastern Caribbean islands show advanced demographic aging compared to Central American Belize.</a:t>
            </a:r>
            <a:endParaRPr lang="en-US" sz="1600" dirty="0"/>
          </a:p>
        </p:txBody>
      </p:sp>
      <p:graphicFrame>
        <p:nvGraphicFramePr>
          <p:cNvPr id="5" name="Chart 0" descr="Bar chart of median age in 2026 for six countries"/>
          <p:cNvGraphicFramePr/>
          <p:nvPr/>
        </p:nvGraphicFramePr>
        <p:xfrm>
          <a:off x="594360" y="2011680"/>
          <a:ext cx="11002975" cy="41148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94360" y="457200"/>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FAMILY STRUCTURE DYNAMICS</a:t>
            </a:r>
            <a:endParaRPr lang="en-US" sz="1200" dirty="0"/>
          </a:p>
        </p:txBody>
      </p:sp>
      <p:sp>
        <p:nvSpPr>
          <p:cNvPr id="3" name="Text 0"/>
          <p:cNvSpPr/>
          <p:nvPr>
            <p:ph idx="101" type="title" hasCustomPrompt="1"/>
          </p:nvPr>
        </p:nvSpPr>
        <p:spPr>
          <a:xfrm>
            <a:off x="594360" y="731520"/>
            <a:ext cx="11002975" cy="1005840"/>
          </a:xfrm>
          <a:prstGeom prst="rect">
            <a:avLst/>
          </a:prstGeom>
          <a:noFill/>
          <a:ln/>
        </p:spPr>
        <p:txBody>
          <a:bodyPr wrap="square" lIns="0" tIns="0" rIns="0" bIns="0" rtlCol="0" anchor="t"/>
          <a:lstStyle/>
          <a:p>
            <a:pPr algn="l" indent="0" marL="0">
              <a:buNone/>
            </a:pPr>
            <a:r>
              <a:rPr lang="en-US" sz="3200" b="1" dirty="0">
                <a:solidFill>
                  <a:schemeClr val="tx2"/>
                </a:solidFill>
              </a:rPr>
              <a:t>Marriage Rates &amp; Union Formations</a:t>
            </a:r>
            <a:endParaRPr lang="en-US" sz="3200" dirty="0"/>
          </a:p>
        </p:txBody>
      </p:sp>
      <p:sp>
        <p:nvSpPr>
          <p:cNvPr id="4" name="Card – Low Marriage Rates"/>
          <p:cNvSpPr/>
          <p:nvPr/>
        </p:nvSpPr>
        <p:spPr>
          <a:xfrm>
            <a:off x="594360" y="1828800"/>
            <a:ext cx="5341468" cy="4114800"/>
          </a:xfrm>
          <a:prstGeom prst="roundRect">
            <a:avLst>
              <a:gd name="adj" fmla="val 2667"/>
            </a:avLst>
          </a:prstGeom>
          <a:solidFill>
            <a:schemeClr val="bg2"/>
          </a:solidFill>
          <a:ln/>
        </p:spPr>
      </p:sp>
      <p:sp>
        <p:nvSpPr>
          <p:cNvPr id="5" name="Marriage badge"/>
          <p:cNvSpPr/>
          <p:nvPr/>
        </p:nvSpPr>
        <p:spPr>
          <a:xfrm>
            <a:off x="960120" y="2194560"/>
            <a:ext cx="731520" cy="731520"/>
          </a:xfrm>
          <a:prstGeom prst="ellipse">
            <a:avLst/>
          </a:prstGeom>
          <a:solidFill>
            <a:schemeClr val="accent1"/>
          </a:solidFill>
          <a:ln/>
        </p:spPr>
      </p:sp>
      <p:pic>
        <p:nvPicPr>
          <p:cNvPr id="6" name="Marriage icon" descr="/tmp/claude-0/-home-user-Arturo/8d4d3924-7078-5160-a89d-b2e82f900b72/scratchpad/work/build/assets/icons/ring_FFFFFF.png">    </p:cNvPr>
          <p:cNvPicPr>
            <a:picLocks noChangeAspect="1"/>
          </p:cNvPicPr>
          <p:nvPr/>
        </p:nvPicPr>
        <p:blipFill>
          <a:blip r:embed="rId1"/>
          <a:stretch>
            <a:fillRect/>
          </a:stretch>
        </p:blipFill>
        <p:spPr>
          <a:xfrm>
            <a:off x="1143000" y="2377440"/>
            <a:ext cx="365760" cy="365760"/>
          </a:xfrm>
          <a:prstGeom prst="rect">
            <a:avLst/>
          </a:prstGeom>
        </p:spPr>
      </p:pic>
      <p:sp>
        <p:nvSpPr>
          <p:cNvPr id="7" name="Heading"/>
          <p:cNvSpPr txBox="1"/>
          <p:nvPr/>
        </p:nvSpPr>
        <p:spPr>
          <a:xfrm>
            <a:off x="1920240" y="2194560"/>
            <a:ext cx="3695548" cy="731520"/>
          </a:xfrm>
          <a:prstGeom prst="rect">
            <a:avLst/>
          </a:prstGeom>
          <a:noFill/>
          <a:ln/>
        </p:spPr>
        <p:txBody>
          <a:bodyPr wrap="square" lIns="0" tIns="0" rIns="0" bIns="0" rtlCol="0" anchor="ctr"/>
          <a:lstStyle/>
          <a:p>
            <a:pPr algn="l" indent="0" marL="0">
              <a:buNone/>
            </a:pPr>
            <a:r>
              <a:rPr lang="en-US" sz="2400" b="1" dirty="0">
                <a:solidFill>
                  <a:schemeClr val="tx2"/>
                </a:solidFill>
              </a:rPr>
              <a:t>Low Marriage Rates</a:t>
            </a:r>
            <a:endParaRPr lang="en-US" sz="2400" dirty="0"/>
          </a:p>
        </p:txBody>
      </p:sp>
      <p:sp>
        <p:nvSpPr>
          <p:cNvPr id="8" name="Low marriage rates text"/>
          <p:cNvSpPr txBox="1"/>
          <p:nvPr/>
        </p:nvSpPr>
        <p:spPr>
          <a:xfrm>
            <a:off x="960120" y="3246120"/>
            <a:ext cx="4609948" cy="2468880"/>
          </a:xfrm>
          <a:prstGeom prst="rect">
            <a:avLst/>
          </a:prstGeom>
          <a:noFill/>
          <a:ln/>
        </p:spPr>
        <p:txBody>
          <a:bodyPr wrap="square" lIns="0" tIns="0" rIns="0" bIns="0" rtlCol="0" anchor="t"/>
          <a:lstStyle/>
          <a:p>
            <a:pPr indent="0" marL="0">
              <a:spcAft>
                <a:spcPts val="1400"/>
              </a:spcAft>
              <a:buNone/>
            </a:pPr>
            <a:r>
              <a:rPr lang="en-US" sz="1800" dirty="0">
                <a:solidFill>
                  <a:srgbClr val="34475C"/>
                </a:solidFill>
              </a:rPr>
              <a:t>Crude marriage rates across the Eastern Caribbean range between </a:t>
            </a:r>
            <a:pPr indent="0" marL="0">
              <a:spcAft>
                <a:spcPts val="1400"/>
              </a:spcAft>
              <a:buNone/>
            </a:pPr>
            <a:r>
              <a:rPr lang="en-US" sz="1800" b="1" dirty="0">
                <a:solidFill>
                  <a:schemeClr val="tx2"/>
                </a:solidFill>
              </a:rPr>
              <a:t>2.5 to 4.2 per 1,000 residents</a:t>
            </a:r>
            <a:pPr indent="0" marL="0">
              <a:spcAft>
                <a:spcPts val="1400"/>
              </a:spcAft>
              <a:buNone/>
            </a:pPr>
            <a:r>
              <a:rPr lang="en-US" sz="1800" dirty="0">
                <a:solidFill>
                  <a:srgbClr val="34475C"/>
                </a:solidFill>
              </a:rPr>
              <a:t>.</a:t>
            </a:r>
            <a:endParaRPr lang="en-US" sz="1800" dirty="0"/>
          </a:p>
          <a:p>
            <a:pPr indent="0" marL="0">
              <a:spcAft>
                <a:spcPts val="1400"/>
              </a:spcAft>
              <a:buNone/>
            </a:pPr>
            <a:r>
              <a:rPr lang="en-US" sz="1800" dirty="0">
                <a:solidFill>
                  <a:srgbClr val="34475C"/>
                </a:solidFill>
              </a:rPr>
              <a:t>Formal marriage is increasingly delayed until mature adulthood or bypassed in favor of informal unions.</a:t>
            </a:r>
            <a:endParaRPr lang="en-US" sz="1800" dirty="0"/>
          </a:p>
        </p:txBody>
      </p:sp>
      <p:sp>
        <p:nvSpPr>
          <p:cNvPr id="9" name="Card – Prevalent Union Types"/>
          <p:cNvSpPr/>
          <p:nvPr/>
        </p:nvSpPr>
        <p:spPr>
          <a:xfrm>
            <a:off x="6255868" y="1828800"/>
            <a:ext cx="5341468" cy="4114800"/>
          </a:xfrm>
          <a:prstGeom prst="roundRect">
            <a:avLst>
              <a:gd name="adj" fmla="val 2667"/>
            </a:avLst>
          </a:prstGeom>
          <a:solidFill>
            <a:schemeClr val="bg2"/>
          </a:solidFill>
          <a:ln/>
        </p:spPr>
      </p:sp>
      <p:sp>
        <p:nvSpPr>
          <p:cNvPr id="10" name="Unions badge"/>
          <p:cNvSpPr/>
          <p:nvPr/>
        </p:nvSpPr>
        <p:spPr>
          <a:xfrm>
            <a:off x="6621628" y="2194560"/>
            <a:ext cx="731520" cy="731520"/>
          </a:xfrm>
          <a:prstGeom prst="ellipse">
            <a:avLst/>
          </a:prstGeom>
          <a:solidFill>
            <a:schemeClr val="accent1"/>
          </a:solidFill>
          <a:ln/>
        </p:spPr>
      </p:sp>
      <p:pic>
        <p:nvPicPr>
          <p:cNvPr id="11" name="Unions icon" descr="/tmp/claude-0/-home-user-Arturo/8d4d3924-7078-5160-a89d-b2e82f900b72/scratchpad/work/build/assets/icons/users_FFFFFF.png">    </p:cNvPr>
          <p:cNvPicPr>
            <a:picLocks noChangeAspect="1"/>
          </p:cNvPicPr>
          <p:nvPr/>
        </p:nvPicPr>
        <p:blipFill>
          <a:blip r:embed="rId2"/>
          <a:stretch>
            <a:fillRect/>
          </a:stretch>
        </p:blipFill>
        <p:spPr>
          <a:xfrm>
            <a:off x="6804508" y="2377440"/>
            <a:ext cx="365760" cy="365760"/>
          </a:xfrm>
          <a:prstGeom prst="rect">
            <a:avLst/>
          </a:prstGeom>
        </p:spPr>
      </p:pic>
      <p:sp>
        <p:nvSpPr>
          <p:cNvPr id="12" name="Heading"/>
          <p:cNvSpPr txBox="1"/>
          <p:nvPr/>
        </p:nvSpPr>
        <p:spPr>
          <a:xfrm>
            <a:off x="7581748" y="2194560"/>
            <a:ext cx="3695548" cy="731520"/>
          </a:xfrm>
          <a:prstGeom prst="rect">
            <a:avLst/>
          </a:prstGeom>
          <a:noFill/>
          <a:ln/>
        </p:spPr>
        <p:txBody>
          <a:bodyPr wrap="square" lIns="0" tIns="0" rIns="0" bIns="0" rtlCol="0" anchor="ctr"/>
          <a:lstStyle/>
          <a:p>
            <a:pPr algn="l" indent="0" marL="0">
              <a:buNone/>
            </a:pPr>
            <a:r>
              <a:rPr lang="en-US" sz="2400" b="1" dirty="0">
                <a:solidFill>
                  <a:schemeClr val="tx2"/>
                </a:solidFill>
              </a:rPr>
              <a:t>Prevalent Union Types</a:t>
            </a:r>
            <a:endParaRPr lang="en-US" sz="2400" dirty="0"/>
          </a:p>
        </p:txBody>
      </p:sp>
      <p:sp>
        <p:nvSpPr>
          <p:cNvPr id="13" name="Union types text"/>
          <p:cNvSpPr txBox="1"/>
          <p:nvPr/>
        </p:nvSpPr>
        <p:spPr>
          <a:xfrm>
            <a:off x="6621628" y="3246120"/>
            <a:ext cx="4609948" cy="2468880"/>
          </a:xfrm>
          <a:prstGeom prst="rect">
            <a:avLst/>
          </a:prstGeom>
          <a:noFill/>
          <a:ln/>
        </p:spPr>
        <p:txBody>
          <a:bodyPr wrap="square" lIns="0" tIns="0" rIns="0" bIns="0" rtlCol="0" anchor="t"/>
          <a:lstStyle/>
          <a:p>
            <a:pPr indent="0" marL="0">
              <a:spcAft>
                <a:spcPts val="1400"/>
              </a:spcAft>
              <a:buNone/>
            </a:pPr>
            <a:r>
              <a:rPr lang="en-US" sz="1800" b="1" dirty="0">
                <a:solidFill>
                  <a:schemeClr val="tx2"/>
                </a:solidFill>
              </a:rPr>
              <a:t>Visiting Unions:</a:t>
            </a:r>
            <a:pPr indent="0" marL="0">
              <a:spcAft>
                <a:spcPts val="1400"/>
              </a:spcAft>
              <a:buNone/>
            </a:pPr>
            <a:r>
              <a:rPr lang="en-US" sz="1800" dirty="0">
                <a:solidFill>
                  <a:srgbClr val="34475C"/>
                </a:solidFill>
              </a:rPr>
              <a:t> Partners maintain separate residences while bearing children.</a:t>
            </a:r>
            <a:endParaRPr lang="en-US" sz="1800" dirty="0"/>
          </a:p>
          <a:p>
            <a:pPr indent="0" marL="0">
              <a:spcAft>
                <a:spcPts val="1400"/>
              </a:spcAft>
              <a:buNone/>
            </a:pPr>
            <a:r>
              <a:rPr lang="en-US" sz="1800" b="1" dirty="0">
                <a:solidFill>
                  <a:schemeClr val="tx2"/>
                </a:solidFill>
              </a:rPr>
              <a:t>Common-Law Unions:</a:t>
            </a:r>
            <a:pPr indent="0" marL="0">
              <a:spcAft>
                <a:spcPts val="1400"/>
              </a:spcAft>
              <a:buNone/>
            </a:pPr>
            <a:r>
              <a:rPr lang="en-US" sz="1800" dirty="0">
                <a:solidFill>
                  <a:srgbClr val="34475C"/>
                </a:solidFill>
              </a:rPr>
              <a:t> Co-habiting non-marital partnerships.</a:t>
            </a:r>
            <a:endParaRPr lang="en-US" sz="1800" dirty="0"/>
          </a:p>
          <a:p>
            <a:pPr indent="0" marL="0">
              <a:spcAft>
                <a:spcPts val="1400"/>
              </a:spcAft>
              <a:buNone/>
            </a:pPr>
            <a:r>
              <a:rPr lang="en-US" sz="1800" b="1" dirty="0">
                <a:solidFill>
                  <a:schemeClr val="tx2"/>
                </a:solidFill>
              </a:rPr>
              <a:t>Matrifocal Units:</a:t>
            </a:r>
            <a:pPr indent="0" marL="0">
              <a:spcAft>
                <a:spcPts val="1400"/>
              </a:spcAft>
              <a:buNone/>
            </a:pPr>
            <a:r>
              <a:rPr lang="en-US" sz="1800" dirty="0">
                <a:solidFill>
                  <a:srgbClr val="34475C"/>
                </a:solidFill>
              </a:rPr>
              <a:t> High proportion of female-headed households.</a:t>
            </a:r>
            <a:endParaRPr lang="en-US" sz="1800" dirty="0"/>
          </a:p>
        </p:txBody>
      </p:sp>
      <p:sp>
        <p:nvSpPr>
          <p:cNvPr id="14" name="Text 0"/>
          <p:cNvSpPr/>
          <p:nvPr>
            <p:ph idx="102" type="body" hasCustomPrompt="1"/>
          </p:nvPr>
        </p:nvSpPr>
        <p:spPr>
          <a:xfrm>
            <a:off x="594360" y="1371600"/>
            <a:ext cx="11002975" cy="36576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94360" y="457200"/>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DATA MATRIX</a:t>
            </a:r>
            <a:endParaRPr lang="en-US" sz="1200" dirty="0"/>
          </a:p>
        </p:txBody>
      </p:sp>
      <p:sp>
        <p:nvSpPr>
          <p:cNvPr id="3" name="Text 0"/>
          <p:cNvSpPr/>
          <p:nvPr>
            <p:ph idx="101" type="title" hasCustomPrompt="1"/>
          </p:nvPr>
        </p:nvSpPr>
        <p:spPr>
          <a:xfrm>
            <a:off x="594360" y="731520"/>
            <a:ext cx="11002975" cy="1005840"/>
          </a:xfrm>
          <a:prstGeom prst="rect">
            <a:avLst/>
          </a:prstGeom>
          <a:noFill/>
          <a:ln/>
        </p:spPr>
        <p:txBody>
          <a:bodyPr wrap="square" lIns="0" tIns="0" rIns="0" bIns="0" rtlCol="0" anchor="t"/>
          <a:lstStyle/>
          <a:p>
            <a:pPr algn="l" indent="0" marL="0">
              <a:buNone/>
            </a:pPr>
            <a:r>
              <a:rPr lang="en-US" sz="3200" b="1" dirty="0">
                <a:solidFill>
                  <a:schemeClr val="tx2"/>
                </a:solidFill>
              </a:rPr>
              <a:t>Marriage &amp; Family Structure</a:t>
            </a:r>
            <a:endParaRPr lang="en-US" sz="3200" dirty="0"/>
          </a:p>
        </p:txBody>
      </p:sp>
      <p:graphicFrame>
        <p:nvGraphicFramePr>
          <p:cNvPr id="10" name="Data table"/>
          <p:cNvGraphicFramePr>
            <a:graphicFrameLocks noGrp="1"/>
          </p:cNvGraphicFramePr>
          <p:nvPr>
            <p:extLst>
              <p:ext uri="{D42A27DB-BD31-4B8C-83A1-F6EECF244321}">
                <p14:modId xmlns:p14="http://schemas.microsoft.com/office/powerpoint/2010/main" val="1579011935"/>
              </p:ext>
            </p:extLst>
          </p:nvPr>
        </p:nvGraphicFramePr>
        <p:xfrm>
          <a:off x="594360" y="1783080"/>
          <a:ext cx="11000232" cy="914400"/>
        </p:xfrm>
        <a:graphic>
          <a:graphicData uri="http://schemas.openxmlformats.org/drawingml/2006/table">
            <a:tbl>
              <a:tblPr/>
              <a:tblGrid>
                <a:gridCol w="2377440"/>
                <a:gridCol w="2011680"/>
                <a:gridCol w="2286000"/>
                <a:gridCol w="1920240"/>
                <a:gridCol w="2404872"/>
              </a:tblGrid>
              <a:tr h="502920">
                <a:tc>
                  <a:txBody>
                    <a:bodyPr/>
                    <a:lstStyle/>
                    <a:p>
                      <a:pPr algn="l" indent="0" marL="0">
                        <a:buNone/>
                      </a:pPr>
                      <a:r>
                        <a:rPr lang="en-US" sz="1300" b="1" dirty="0">
                          <a:solidFill>
                            <a:schemeClr val="bg1"/>
                          </a:solidFill>
                        </a:rPr>
                        <a:t>Country</a:t>
                      </a:r>
                      <a:endParaRPr lang="en-US" sz="13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Crude Marriage Rate</a:t>
                      </a:r>
                      <a:endParaRPr lang="en-US" sz="13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Out-of-Wedlock Births (%)</a:t>
                      </a:r>
                      <a:endParaRPr lang="en-US" sz="13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Avg Household Size</a:t>
                      </a:r>
                      <a:endParaRPr lang="en-US" sz="13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tx2"/>
                    </a:solidFill>
                  </a:tcPr>
                </a:tc>
                <a:tc>
                  <a:txBody>
                    <a:bodyPr/>
                    <a:lstStyle/>
                    <a:p>
                      <a:pPr algn="l" indent="0" marL="0">
                        <a:buNone/>
                      </a:pPr>
                      <a:r>
                        <a:rPr lang="en-US" sz="1300" b="1" dirty="0">
                          <a:solidFill>
                            <a:schemeClr val="bg1"/>
                          </a:solidFill>
                        </a:rPr>
                        <a:t>Dominant Union Structure</a:t>
                      </a:r>
                      <a:endParaRPr lang="en-US" sz="13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tx2"/>
                    </a:solidFill>
                  </a:tcPr>
                </a:tc>
              </a:tr>
              <a:tr h="475488">
                <a:tc>
                  <a:txBody>
                    <a:bodyPr/>
                    <a:lstStyle/>
                    <a:p>
                      <a:pPr algn="l" indent="0" marL="0">
                        <a:buNone/>
                      </a:pPr>
                      <a:r>
                        <a:rPr lang="en-US" sz="1500" b="1" dirty="0">
                          <a:solidFill>
                            <a:schemeClr val="tx2"/>
                          </a:solidFill>
                        </a:rPr>
                        <a:t>Saint Lucia</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3.2 / 1,000</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82%</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2.9 persons</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Visiting / Single Mother</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r>
              <a:tr h="475488">
                <a:tc>
                  <a:txBody>
                    <a:bodyPr/>
                    <a:lstStyle/>
                    <a:p>
                      <a:pPr algn="l" indent="0" marL="0">
                        <a:buNone/>
                      </a:pPr>
                      <a:r>
                        <a:rPr lang="en-US" sz="1500" b="1" dirty="0">
                          <a:solidFill>
                            <a:schemeClr val="tx2"/>
                          </a:solidFill>
                        </a:rPr>
                        <a:t>St. Kitts &amp; Nevis</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3.5 / 1,000</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78%</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3.0 persons</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Visiting / Extended</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r>
              <a:tr h="475488">
                <a:tc>
                  <a:txBody>
                    <a:bodyPr/>
                    <a:lstStyle/>
                    <a:p>
                      <a:pPr algn="l" indent="0" marL="0">
                        <a:buNone/>
                      </a:pPr>
                      <a:r>
                        <a:rPr lang="en-US" sz="1500" b="1" dirty="0">
                          <a:solidFill>
                            <a:schemeClr val="tx2"/>
                          </a:solidFill>
                        </a:rPr>
                        <a:t>Grenada</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2.9 / 1,000</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81%</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3.2 persons</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Matrifocal / Common-Law</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r>
              <a:tr h="475488">
                <a:tc>
                  <a:txBody>
                    <a:bodyPr/>
                    <a:lstStyle/>
                    <a:p>
                      <a:pPr algn="l" indent="0" marL="0">
                        <a:buNone/>
                      </a:pPr>
                      <a:r>
                        <a:rPr lang="en-US" sz="1500" b="1" dirty="0">
                          <a:solidFill>
                            <a:schemeClr val="tx2"/>
                          </a:solidFill>
                        </a:rPr>
                        <a:t>Antigua &amp; Barbuda</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4.1 / 1,000</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74%</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3.1 persons</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Single Parent / Extended</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r>
              <a:tr h="475488">
                <a:tc>
                  <a:txBody>
                    <a:bodyPr/>
                    <a:lstStyle/>
                    <a:p>
                      <a:pPr algn="l" indent="0" marL="0">
                        <a:buNone/>
                      </a:pPr>
                      <a:r>
                        <a:rPr lang="en-US" sz="1500" b="1" dirty="0">
                          <a:solidFill>
                            <a:schemeClr val="tx2"/>
                          </a:solidFill>
                        </a:rPr>
                        <a:t>Dominica</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3.0 / 1,000</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79%</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3.1 persons</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algn="l" indent="0" marL="0">
                        <a:buNone/>
                      </a:pPr>
                      <a:r>
                        <a:rPr lang="en-US" sz="1500" dirty="0">
                          <a:solidFill>
                            <a:schemeClr val="tx1"/>
                          </a:solidFill>
                        </a:rPr>
                        <a:t>Common-Law / Visiting</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r>
              <a:tr h="475488">
                <a:tc>
                  <a:txBody>
                    <a:bodyPr/>
                    <a:lstStyle/>
                    <a:p>
                      <a:pPr algn="l" indent="0" marL="0">
                        <a:buNone/>
                      </a:pPr>
                      <a:r>
                        <a:rPr lang="en-US" sz="1500" b="1" dirty="0">
                          <a:solidFill>
                            <a:schemeClr val="tx2"/>
                          </a:solidFill>
                        </a:rPr>
                        <a:t>Belize</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4.8 / 1,000</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62%</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ctr" indent="0" marL="0">
                        <a:buNone/>
                      </a:pPr>
                      <a:r>
                        <a:rPr lang="en-US" sz="1500" dirty="0">
                          <a:solidFill>
                            <a:schemeClr val="tx1"/>
                          </a:solidFill>
                        </a:rPr>
                        <a:t>3.8 persons</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algn="l" indent="0" marL="0">
                        <a:buNone/>
                      </a:pPr>
                      <a:r>
                        <a:rPr lang="en-US" sz="1500" dirty="0">
                          <a:solidFill>
                            <a:schemeClr val="tx1"/>
                          </a:solidFill>
                        </a:rPr>
                        <a:t>Nuclear / Common-Law</a:t>
                      </a:r>
                      <a:endParaRPr lang="en-US" sz="1500" dirty="0"/>
                    </a:p>
                  </a:txBody>
                  <a:tcPr marL="146304" marR="146304" marT="36576" marB="36576"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r>
            </a:tbl>
          </a:graphicData>
        </a:graphic>
      </p:graphicFrame>
      <p:sp>
        <p:nvSpPr>
          <p:cNvPr id="5" name="Note card"/>
          <p:cNvSpPr/>
          <p:nvPr/>
        </p:nvSpPr>
        <p:spPr>
          <a:xfrm>
            <a:off x="594360" y="5257800"/>
            <a:ext cx="11002975" cy="960120"/>
          </a:xfrm>
          <a:prstGeom prst="roundRect">
            <a:avLst>
              <a:gd name="adj" fmla="val 11429"/>
            </a:avLst>
          </a:prstGeom>
          <a:solidFill>
            <a:schemeClr val="bg2"/>
          </a:solidFill>
          <a:ln/>
        </p:spPr>
      </p:sp>
      <p:sp>
        <p:nvSpPr>
          <p:cNvPr id="6" name="Note"/>
          <p:cNvSpPr txBox="1"/>
          <p:nvPr/>
        </p:nvSpPr>
        <p:spPr>
          <a:xfrm>
            <a:off x="868680" y="5257800"/>
            <a:ext cx="10454335" cy="960120"/>
          </a:xfrm>
          <a:prstGeom prst="rect">
            <a:avLst/>
          </a:prstGeom>
          <a:noFill/>
          <a:ln/>
        </p:spPr>
        <p:txBody>
          <a:bodyPr wrap="square" lIns="0" tIns="0" rIns="0" bIns="0" rtlCol="0" anchor="ctr"/>
          <a:lstStyle/>
          <a:p>
            <a:pPr indent="0" marL="0">
              <a:spcAft>
                <a:spcPts val="400"/>
              </a:spcAft>
              <a:buNone/>
            </a:pPr>
            <a:r>
              <a:rPr lang="en-US" sz="1500" dirty="0">
                <a:solidFill>
                  <a:srgbClr val="34475C"/>
                </a:solidFill>
              </a:rPr>
              <a:t>Out-of marriage: USA: 40%, Chile: 78%, México: 73%, Colombia: 87%, Japan 2.4%. Many in common law unions.</a:t>
            </a:r>
            <a:endParaRPr lang="en-US" sz="1500" dirty="0"/>
          </a:p>
          <a:p>
            <a:pPr indent="0" marL="0">
              <a:spcAft>
                <a:spcPts val="400"/>
              </a:spcAft>
              <a:buNone/>
            </a:pPr>
            <a:r>
              <a:rPr lang="en-US" sz="1500" dirty="0">
                <a:solidFill>
                  <a:srgbClr val="34475C"/>
                </a:solidFill>
              </a:rPr>
              <a:t>Still, many births out of marriage and out of unión: Chile: 25%, Colombia: 21%</a:t>
            </a:r>
            <a:endParaRPr lang="en-US" sz="1500" dirty="0"/>
          </a:p>
        </p:txBody>
      </p:sp>
      <p:sp>
        <p:nvSpPr>
          <p:cNvPr id="7" name="Text 0"/>
          <p:cNvSpPr/>
          <p:nvPr>
            <p:ph idx="102" type="body" hasCustomPrompt="1"/>
          </p:nvPr>
        </p:nvSpPr>
        <p:spPr>
          <a:xfrm>
            <a:off x="594360" y="1371600"/>
            <a:ext cx="11002975" cy="36576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94360" y="457200"/>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SOCIO-ECONOMIC IMPACT</a:t>
            </a:r>
            <a:endParaRPr lang="en-US" sz="1200" dirty="0"/>
          </a:p>
        </p:txBody>
      </p:sp>
      <p:sp>
        <p:nvSpPr>
          <p:cNvPr id="3" name="Text 0"/>
          <p:cNvSpPr/>
          <p:nvPr>
            <p:ph idx="101" type="title" hasCustomPrompt="1"/>
          </p:nvPr>
        </p:nvSpPr>
        <p:spPr>
          <a:xfrm>
            <a:off x="594360" y="731520"/>
            <a:ext cx="11002975" cy="1005840"/>
          </a:xfrm>
          <a:prstGeom prst="rect">
            <a:avLst/>
          </a:prstGeom>
          <a:noFill/>
          <a:ln/>
        </p:spPr>
        <p:txBody>
          <a:bodyPr wrap="square" lIns="0" tIns="0" rIns="0" bIns="0" rtlCol="0" anchor="t"/>
          <a:lstStyle/>
          <a:p>
            <a:pPr algn="l" indent="0" marL="0">
              <a:buNone/>
            </a:pPr>
            <a:r>
              <a:rPr lang="en-US" sz="3200" b="1" dirty="0">
                <a:solidFill>
                  <a:schemeClr val="tx2"/>
                </a:solidFill>
              </a:rPr>
              <a:t>Elderly Dependency &amp; Healthcare Strain</a:t>
            </a:r>
            <a:endParaRPr lang="en-US" sz="3200" dirty="0"/>
          </a:p>
        </p:txBody>
      </p:sp>
      <p:sp>
        <p:nvSpPr>
          <p:cNvPr id="4" name="Elderly dependence lists"/>
          <p:cNvSpPr txBox="1"/>
          <p:nvPr/>
        </p:nvSpPr>
        <p:spPr>
          <a:xfrm>
            <a:off x="594360" y="1783080"/>
            <a:ext cx="5394960" cy="1691640"/>
          </a:xfrm>
          <a:prstGeom prst="rect">
            <a:avLst/>
          </a:prstGeom>
          <a:noFill/>
          <a:ln/>
        </p:spPr>
        <p:txBody>
          <a:bodyPr wrap="square" lIns="0" tIns="0" rIns="0" bIns="0" rtlCol="0" anchor="t"/>
          <a:lstStyle/>
          <a:p>
            <a:pPr indent="0" marL="0">
              <a:spcAft>
                <a:spcPts val="1000"/>
              </a:spcAft>
              <a:buNone/>
            </a:pPr>
            <a:r>
              <a:rPr lang="en-US" sz="1600" b="1" dirty="0">
                <a:solidFill>
                  <a:schemeClr val="tx2"/>
                </a:solidFill>
              </a:rPr>
              <a:t>Countries with highest elderly dependence:</a:t>
            </a:r>
            <a:pPr indent="0" marL="0">
              <a:spcAft>
                <a:spcPts val="1000"/>
              </a:spcAft>
              <a:buNone/>
            </a:pPr>
            <a:r>
              <a:rPr lang="en-US" sz="1600" dirty="0">
                <a:solidFill>
                  <a:srgbClr val="34475C"/>
                </a:solidFill>
              </a:rPr>
              <a:t> Puerto Rico, Martinique &amp; Guadeloupe, Curaca &amp; Aruba, Barbados, Cuba</a:t>
            </a:r>
            <a:endParaRPr lang="en-US" sz="1600" dirty="0"/>
          </a:p>
          <a:p>
            <a:pPr indent="0" marL="0">
              <a:spcAft>
                <a:spcPts val="1000"/>
              </a:spcAft>
              <a:buNone/>
            </a:pPr>
            <a:r>
              <a:rPr lang="en-US" sz="1600" b="1" dirty="0">
                <a:solidFill>
                  <a:schemeClr val="tx2"/>
                </a:solidFill>
              </a:rPr>
              <a:t>Countris with lowest elderly dependence:</a:t>
            </a:r>
            <a:pPr indent="0" marL="0">
              <a:spcAft>
                <a:spcPts val="1000"/>
              </a:spcAft>
              <a:buNone/>
            </a:pPr>
            <a:r>
              <a:rPr lang="en-US" sz="1600" dirty="0">
                <a:solidFill>
                  <a:srgbClr val="34475C"/>
                </a:solidFill>
              </a:rPr>
              <a:t> Honduras, Haiti, Guatemala, Belize, Bolivia</a:t>
            </a:r>
            <a:endParaRPr lang="en-US" sz="1600" dirty="0"/>
          </a:p>
        </p:txBody>
      </p:sp>
      <p:sp>
        <p:nvSpPr>
          <p:cNvPr id="5" name="Stat card – 65+ share"/>
          <p:cNvSpPr/>
          <p:nvPr/>
        </p:nvSpPr>
        <p:spPr>
          <a:xfrm>
            <a:off x="594360" y="3611880"/>
            <a:ext cx="5394960" cy="2514600"/>
          </a:xfrm>
          <a:prstGeom prst="roundRect">
            <a:avLst>
              <a:gd name="adj" fmla="val 4364"/>
            </a:avLst>
          </a:prstGeom>
          <a:solidFill>
            <a:schemeClr val="tx2"/>
          </a:solidFill>
          <a:ln/>
        </p:spPr>
      </p:sp>
      <p:sp>
        <p:nvSpPr>
          <p:cNvPr id="6" name="Text 4"/>
          <p:cNvSpPr txBox="1"/>
          <p:nvPr/>
        </p:nvSpPr>
        <p:spPr>
          <a:xfrm>
            <a:off x="960120" y="3840480"/>
            <a:ext cx="4663440" cy="274320"/>
          </a:xfrm>
          <a:prstGeom prst="rect">
            <a:avLst/>
          </a:prstGeom>
          <a:noFill/>
          <a:ln/>
        </p:spPr>
        <p:txBody>
          <a:bodyPr wrap="square" lIns="0" tIns="0" rIns="0" bIns="0" rtlCol="0" anchor="t"/>
          <a:lstStyle/>
          <a:p>
            <a:pPr algn="l" indent="0" marL="0">
              <a:buNone/>
            </a:pPr>
            <a:r>
              <a:rPr lang="en-US" sz="1400" b="1" spc="100" kern="0" dirty="0">
                <a:solidFill>
                  <a:schemeClr val="accent4"/>
                </a:solidFill>
              </a:rPr>
              <a:t>65+ POPULATION SHARE (2030 PROJ.)</a:t>
            </a:r>
            <a:endParaRPr lang="en-US" sz="1400" dirty="0"/>
          </a:p>
        </p:txBody>
      </p:sp>
      <p:sp>
        <p:nvSpPr>
          <p:cNvPr id="7" name="Stat 18.5%"/>
          <p:cNvSpPr txBox="1"/>
          <p:nvPr/>
        </p:nvSpPr>
        <p:spPr>
          <a:xfrm>
            <a:off x="960120" y="4160520"/>
            <a:ext cx="4663440" cy="1051560"/>
          </a:xfrm>
          <a:prstGeom prst="rect">
            <a:avLst/>
          </a:prstGeom>
          <a:noFill/>
          <a:ln/>
        </p:spPr>
        <p:txBody>
          <a:bodyPr wrap="square" lIns="0" tIns="0" rIns="0" bIns="0" rtlCol="0" anchor="ctr"/>
          <a:lstStyle/>
          <a:p>
            <a:pPr indent="0" marL="0">
              <a:buNone/>
            </a:pPr>
            <a:r>
              <a:rPr lang="en-US" sz="7200" b="1" dirty="0">
                <a:solidFill>
                  <a:schemeClr val="bg1"/>
                </a:solidFill>
                <a:latin typeface="+mj-lt" pitchFamily="34" charset="0"/>
                <a:ea typeface="+mj-lt" pitchFamily="34" charset="-122"/>
                <a:cs typeface="+mj-lt" pitchFamily="34" charset="-120"/>
              </a:rPr>
              <a:t>18.5%</a:t>
            </a:r>
            <a:endParaRPr lang="en-US" sz="7200" dirty="0"/>
          </a:p>
        </p:txBody>
      </p:sp>
      <p:sp>
        <p:nvSpPr>
          <p:cNvPr id="8" name="Text 6"/>
          <p:cNvSpPr txBox="1"/>
          <p:nvPr/>
        </p:nvSpPr>
        <p:spPr>
          <a:xfrm>
            <a:off x="960120" y="5349240"/>
            <a:ext cx="4663440" cy="548640"/>
          </a:xfrm>
          <a:prstGeom prst="rect">
            <a:avLst/>
          </a:prstGeom>
          <a:noFill/>
          <a:ln/>
        </p:spPr>
        <p:txBody>
          <a:bodyPr wrap="square" lIns="0" tIns="0" rIns="0" bIns="0" rtlCol="0" anchor="t"/>
          <a:lstStyle/>
          <a:p>
            <a:pPr algn="l" indent="0" marL="0">
              <a:buNone/>
            </a:pPr>
            <a:r>
              <a:rPr lang="en-US" sz="1600" dirty="0">
                <a:solidFill>
                  <a:srgbClr val="D5E1EA"/>
                </a:solidFill>
              </a:rPr>
              <a:t>Average across Barbados, St. Kitts, Antigua, and Saint Lucia.</a:t>
            </a:r>
            <a:endParaRPr lang="en-US" sz="1600" dirty="0"/>
          </a:p>
        </p:txBody>
      </p:sp>
      <p:sp>
        <p:nvSpPr>
          <p:cNvPr id="9" name="Card – Pension Solvency Pressure"/>
          <p:cNvSpPr/>
          <p:nvPr/>
        </p:nvSpPr>
        <p:spPr>
          <a:xfrm>
            <a:off x="6355080" y="1783080"/>
            <a:ext cx="5242255" cy="1371600"/>
          </a:xfrm>
          <a:prstGeom prst="roundRect">
            <a:avLst>
              <a:gd name="adj" fmla="val 8000"/>
            </a:avLst>
          </a:prstGeom>
          <a:solidFill>
            <a:schemeClr val="bg2"/>
          </a:solidFill>
          <a:ln/>
        </p:spPr>
      </p:sp>
      <p:sp>
        <p:nvSpPr>
          <p:cNvPr id="10" name="Pension Solvency Pressure badge"/>
          <p:cNvSpPr/>
          <p:nvPr/>
        </p:nvSpPr>
        <p:spPr>
          <a:xfrm>
            <a:off x="6629400" y="2148840"/>
            <a:ext cx="640080" cy="640080"/>
          </a:xfrm>
          <a:prstGeom prst="ellipse">
            <a:avLst/>
          </a:prstGeom>
          <a:solidFill>
            <a:schemeClr val="accent1"/>
          </a:solidFill>
          <a:ln/>
        </p:spPr>
      </p:sp>
      <p:pic>
        <p:nvPicPr>
          <p:cNvPr id="11" name="Pension Solvency Pressure icon" descr="/tmp/claude-0/-home-user-Arturo/8d4d3924-7078-5160-a89d-b2e82f900b72/scratchpad/work/build/assets/icons/piggy_FFFFFF.png">    </p:cNvPr>
          <p:cNvPicPr>
            <a:picLocks noChangeAspect="1"/>
          </p:cNvPicPr>
          <p:nvPr/>
        </p:nvPicPr>
        <p:blipFill>
          <a:blip r:embed="rId1"/>
          <a:stretch>
            <a:fillRect/>
          </a:stretch>
        </p:blipFill>
        <p:spPr>
          <a:xfrm>
            <a:off x="6789420" y="2308860"/>
            <a:ext cx="320040" cy="320040"/>
          </a:xfrm>
          <a:prstGeom prst="rect">
            <a:avLst/>
          </a:prstGeom>
        </p:spPr>
      </p:pic>
      <p:sp>
        <p:nvSpPr>
          <p:cNvPr id="12" name="Heading"/>
          <p:cNvSpPr txBox="1"/>
          <p:nvPr/>
        </p:nvSpPr>
        <p:spPr>
          <a:xfrm>
            <a:off x="7452360" y="1984248"/>
            <a:ext cx="3916375" cy="310896"/>
          </a:xfrm>
          <a:prstGeom prst="rect">
            <a:avLst/>
          </a:prstGeom>
          <a:noFill/>
          <a:ln/>
        </p:spPr>
        <p:txBody>
          <a:bodyPr wrap="square" lIns="0" tIns="0" rIns="0" bIns="0" rtlCol="0" anchor="t"/>
          <a:lstStyle/>
          <a:p>
            <a:pPr algn="l" indent="0" marL="0">
              <a:buNone/>
            </a:pPr>
            <a:r>
              <a:rPr lang="en-US" sz="1800" b="1" dirty="0">
                <a:solidFill>
                  <a:schemeClr val="tx2"/>
                </a:solidFill>
              </a:rPr>
              <a:t>Pension Solvency Pressure</a:t>
            </a:r>
            <a:endParaRPr lang="en-US" sz="1800" dirty="0"/>
          </a:p>
        </p:txBody>
      </p:sp>
      <p:sp>
        <p:nvSpPr>
          <p:cNvPr id="13" name="Text 10"/>
          <p:cNvSpPr txBox="1"/>
          <p:nvPr/>
        </p:nvSpPr>
        <p:spPr>
          <a:xfrm>
            <a:off x="7452360" y="2331720"/>
            <a:ext cx="3916375" cy="731520"/>
          </a:xfrm>
          <a:prstGeom prst="rect">
            <a:avLst/>
          </a:prstGeom>
          <a:noFill/>
          <a:ln/>
        </p:spPr>
        <p:txBody>
          <a:bodyPr wrap="square" lIns="0" tIns="0" rIns="0" bIns="0" rtlCol="0" anchor="t"/>
          <a:lstStyle/>
          <a:p>
            <a:pPr algn="l" indent="0" marL="0">
              <a:buNone/>
            </a:pPr>
            <a:r>
              <a:rPr lang="en-US" sz="1500" dirty="0">
                <a:solidFill>
                  <a:srgbClr val="34475C"/>
                </a:solidFill>
              </a:rPr>
              <a:t>Fewer working-age contributors funding national insurance schemes.</a:t>
            </a:r>
            <a:endParaRPr lang="en-US" sz="1500" dirty="0"/>
          </a:p>
        </p:txBody>
      </p:sp>
      <p:sp>
        <p:nvSpPr>
          <p:cNvPr id="14" name="Card – NCD Care Burden"/>
          <p:cNvSpPr/>
          <p:nvPr/>
        </p:nvSpPr>
        <p:spPr>
          <a:xfrm>
            <a:off x="6355080" y="3268980"/>
            <a:ext cx="5242255" cy="1371600"/>
          </a:xfrm>
          <a:prstGeom prst="roundRect">
            <a:avLst>
              <a:gd name="adj" fmla="val 8000"/>
            </a:avLst>
          </a:prstGeom>
          <a:solidFill>
            <a:schemeClr val="bg2"/>
          </a:solidFill>
          <a:ln/>
        </p:spPr>
      </p:sp>
      <p:sp>
        <p:nvSpPr>
          <p:cNvPr id="15" name="NCD Care Burden badge"/>
          <p:cNvSpPr/>
          <p:nvPr/>
        </p:nvSpPr>
        <p:spPr>
          <a:xfrm>
            <a:off x="6629400" y="3634740"/>
            <a:ext cx="640080" cy="640080"/>
          </a:xfrm>
          <a:prstGeom prst="ellipse">
            <a:avLst/>
          </a:prstGeom>
          <a:solidFill>
            <a:schemeClr val="accent1"/>
          </a:solidFill>
          <a:ln/>
        </p:spPr>
      </p:sp>
      <p:pic>
        <p:nvPicPr>
          <p:cNvPr id="16" name="NCD Care Burden icon" descr="/tmp/claude-0/-home-user-Arturo/8d4d3924-7078-5160-a89d-b2e82f900b72/scratchpad/work/build/assets/icons/heartbeat_FFFFFF.png">    </p:cNvPr>
          <p:cNvPicPr>
            <a:picLocks noChangeAspect="1"/>
          </p:cNvPicPr>
          <p:nvPr/>
        </p:nvPicPr>
        <p:blipFill>
          <a:blip r:embed="rId2"/>
          <a:stretch>
            <a:fillRect/>
          </a:stretch>
        </p:blipFill>
        <p:spPr>
          <a:xfrm>
            <a:off x="6789420" y="3794760"/>
            <a:ext cx="320040" cy="320040"/>
          </a:xfrm>
          <a:prstGeom prst="rect">
            <a:avLst/>
          </a:prstGeom>
        </p:spPr>
      </p:pic>
      <p:sp>
        <p:nvSpPr>
          <p:cNvPr id="17" name="Heading"/>
          <p:cNvSpPr txBox="1"/>
          <p:nvPr/>
        </p:nvSpPr>
        <p:spPr>
          <a:xfrm>
            <a:off x="7452360" y="3470148"/>
            <a:ext cx="3916375" cy="310896"/>
          </a:xfrm>
          <a:prstGeom prst="rect">
            <a:avLst/>
          </a:prstGeom>
          <a:noFill/>
          <a:ln/>
        </p:spPr>
        <p:txBody>
          <a:bodyPr wrap="square" lIns="0" tIns="0" rIns="0" bIns="0" rtlCol="0" anchor="t"/>
          <a:lstStyle/>
          <a:p>
            <a:pPr algn="l" indent="0" marL="0">
              <a:buNone/>
            </a:pPr>
            <a:r>
              <a:rPr lang="en-US" sz="1800" b="1" dirty="0">
                <a:solidFill>
                  <a:schemeClr val="tx2"/>
                </a:solidFill>
              </a:rPr>
              <a:t>NCD Care Burden</a:t>
            </a:r>
            <a:endParaRPr lang="en-US" sz="1800" dirty="0"/>
          </a:p>
        </p:txBody>
      </p:sp>
      <p:sp>
        <p:nvSpPr>
          <p:cNvPr id="18" name="Text 14"/>
          <p:cNvSpPr txBox="1"/>
          <p:nvPr/>
        </p:nvSpPr>
        <p:spPr>
          <a:xfrm>
            <a:off x="7452360" y="3817620"/>
            <a:ext cx="3916375" cy="731520"/>
          </a:xfrm>
          <a:prstGeom prst="rect">
            <a:avLst/>
          </a:prstGeom>
          <a:noFill/>
          <a:ln/>
        </p:spPr>
        <p:txBody>
          <a:bodyPr wrap="square" lIns="0" tIns="0" rIns="0" bIns="0" rtlCol="0" anchor="t"/>
          <a:lstStyle/>
          <a:p>
            <a:pPr algn="l" indent="0" marL="0">
              <a:buNone/>
            </a:pPr>
            <a:r>
              <a:rPr lang="en-US" sz="1500" dirty="0">
                <a:solidFill>
                  <a:srgbClr val="34475C"/>
                </a:solidFill>
              </a:rPr>
              <a:t>High prevalence of hypertension and diabetes requiring long-term care.</a:t>
            </a:r>
            <a:endParaRPr lang="en-US" sz="1500" dirty="0"/>
          </a:p>
        </p:txBody>
      </p:sp>
      <p:sp>
        <p:nvSpPr>
          <p:cNvPr id="19" name="Card – Sandwich Generation"/>
          <p:cNvSpPr/>
          <p:nvPr/>
        </p:nvSpPr>
        <p:spPr>
          <a:xfrm>
            <a:off x="6355080" y="4754880"/>
            <a:ext cx="5242255" cy="1371600"/>
          </a:xfrm>
          <a:prstGeom prst="roundRect">
            <a:avLst>
              <a:gd name="adj" fmla="val 8000"/>
            </a:avLst>
          </a:prstGeom>
          <a:solidFill>
            <a:schemeClr val="bg2"/>
          </a:solidFill>
          <a:ln/>
        </p:spPr>
      </p:sp>
      <p:sp>
        <p:nvSpPr>
          <p:cNvPr id="20" name="Sandwich Generation badge"/>
          <p:cNvSpPr/>
          <p:nvPr/>
        </p:nvSpPr>
        <p:spPr>
          <a:xfrm>
            <a:off x="6629400" y="5120640"/>
            <a:ext cx="640080" cy="640080"/>
          </a:xfrm>
          <a:prstGeom prst="ellipse">
            <a:avLst/>
          </a:prstGeom>
          <a:solidFill>
            <a:schemeClr val="accent1"/>
          </a:solidFill>
          <a:ln/>
        </p:spPr>
      </p:sp>
      <p:pic>
        <p:nvPicPr>
          <p:cNvPr id="21" name="Sandwich Generation icon" descr="/tmp/claude-0/-home-user-Arturo/8d4d3924-7078-5160-a89d-b2e82f900b72/scratchpad/work/build/assets/icons/family_FFFFFF.png">    </p:cNvPr>
          <p:cNvPicPr>
            <a:picLocks noChangeAspect="1"/>
          </p:cNvPicPr>
          <p:nvPr/>
        </p:nvPicPr>
        <p:blipFill>
          <a:blip r:embed="rId3"/>
          <a:stretch>
            <a:fillRect/>
          </a:stretch>
        </p:blipFill>
        <p:spPr>
          <a:xfrm>
            <a:off x="6789420" y="5280660"/>
            <a:ext cx="320040" cy="320040"/>
          </a:xfrm>
          <a:prstGeom prst="rect">
            <a:avLst/>
          </a:prstGeom>
        </p:spPr>
      </p:pic>
      <p:sp>
        <p:nvSpPr>
          <p:cNvPr id="22" name="Heading"/>
          <p:cNvSpPr txBox="1"/>
          <p:nvPr/>
        </p:nvSpPr>
        <p:spPr>
          <a:xfrm>
            <a:off x="7452360" y="4956048"/>
            <a:ext cx="3916375" cy="310896"/>
          </a:xfrm>
          <a:prstGeom prst="rect">
            <a:avLst/>
          </a:prstGeom>
          <a:noFill/>
          <a:ln/>
        </p:spPr>
        <p:txBody>
          <a:bodyPr wrap="square" lIns="0" tIns="0" rIns="0" bIns="0" rtlCol="0" anchor="t"/>
          <a:lstStyle/>
          <a:p>
            <a:pPr algn="l" indent="0" marL="0">
              <a:buNone/>
            </a:pPr>
            <a:r>
              <a:rPr lang="en-US" sz="1800" b="1" dirty="0">
                <a:solidFill>
                  <a:schemeClr val="tx2"/>
                </a:solidFill>
              </a:rPr>
              <a:t>Sandwich Generation</a:t>
            </a:r>
            <a:endParaRPr lang="en-US" sz="1800" dirty="0"/>
          </a:p>
        </p:txBody>
      </p:sp>
      <p:sp>
        <p:nvSpPr>
          <p:cNvPr id="23" name="Text 18"/>
          <p:cNvSpPr txBox="1"/>
          <p:nvPr/>
        </p:nvSpPr>
        <p:spPr>
          <a:xfrm>
            <a:off x="7452360" y="5303520"/>
            <a:ext cx="3916375" cy="731520"/>
          </a:xfrm>
          <a:prstGeom prst="rect">
            <a:avLst/>
          </a:prstGeom>
          <a:noFill/>
          <a:ln/>
        </p:spPr>
        <p:txBody>
          <a:bodyPr wrap="square" lIns="0" tIns="0" rIns="0" bIns="0" rtlCol="0" anchor="t"/>
          <a:lstStyle/>
          <a:p>
            <a:pPr algn="l" indent="0" marL="0">
              <a:buNone/>
            </a:pPr>
            <a:r>
              <a:rPr lang="en-US" sz="1500" dirty="0">
                <a:solidFill>
                  <a:srgbClr val="34475C"/>
                </a:solidFill>
              </a:rPr>
              <a:t>Single mothers balancing elderly parent care and child support.</a:t>
            </a:r>
            <a:endParaRPr lang="en-US" sz="1500" dirty="0"/>
          </a:p>
        </p:txBody>
      </p:sp>
      <p:sp>
        <p:nvSpPr>
          <p:cNvPr id="24" name="Text 0"/>
          <p:cNvSpPr/>
          <p:nvPr>
            <p:ph idx="102" type="body" hasCustomPrompt="1"/>
          </p:nvPr>
        </p:nvSpPr>
        <p:spPr>
          <a:xfrm>
            <a:off x="594360" y="1371600"/>
            <a:ext cx="11002975" cy="36576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94360" y="457200"/>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ECONOMIC IMPACT</a:t>
            </a:r>
            <a:endParaRPr lang="en-US" sz="1200" dirty="0"/>
          </a:p>
        </p:txBody>
      </p:sp>
      <p:sp>
        <p:nvSpPr>
          <p:cNvPr id="3" name="Text 0"/>
          <p:cNvSpPr/>
          <p:nvPr>
            <p:ph idx="101" type="title" hasCustomPrompt="1"/>
          </p:nvPr>
        </p:nvSpPr>
        <p:spPr>
          <a:xfrm>
            <a:off x="594360" y="731520"/>
            <a:ext cx="11002975" cy="1005840"/>
          </a:xfrm>
          <a:prstGeom prst="rect">
            <a:avLst/>
          </a:prstGeom>
          <a:noFill/>
          <a:ln/>
        </p:spPr>
        <p:txBody>
          <a:bodyPr wrap="square" lIns="0" tIns="0" rIns="0" bIns="0" rtlCol="0" anchor="t"/>
          <a:lstStyle/>
          <a:p>
            <a:pPr algn="l" indent="0" marL="0">
              <a:buNone/>
            </a:pPr>
            <a:r>
              <a:rPr lang="en-US" sz="3200" b="1" dirty="0">
                <a:solidFill>
                  <a:schemeClr val="tx2"/>
                </a:solidFill>
              </a:rPr>
              <a:t>Old-Age Dependency Ratio Pressure</a:t>
            </a:r>
            <a:endParaRPr lang="en-US" sz="3200" dirty="0"/>
          </a:p>
        </p:txBody>
      </p:sp>
      <p:sp>
        <p:nvSpPr>
          <p:cNvPr id="4" name="Text 0"/>
          <p:cNvSpPr/>
          <p:nvPr>
            <p:ph idx="102" type="body" hasCustomPrompt="1"/>
          </p:nvPr>
        </p:nvSpPr>
        <p:spPr>
          <a:xfrm>
            <a:off x="594360" y="1371600"/>
            <a:ext cx="11002975" cy="365760"/>
          </a:xfrm>
          <a:prstGeom prst="rect">
            <a:avLst/>
          </a:prstGeom>
          <a:noFill/>
          <a:ln/>
        </p:spPr>
        <p:txBody>
          <a:bodyPr wrap="square" lIns="0" tIns="0" rIns="0" bIns="0" rtlCol="0" anchor="t"/>
          <a:lstStyle/>
          <a:p>
            <a:pPr algn="l" indent="0" marL="0">
              <a:buNone/>
            </a:pPr>
            <a:r>
              <a:rPr lang="en-US" sz="1600" dirty="0">
                <a:solidFill>
                  <a:srgbClr val="5B6B7D"/>
                </a:solidFill>
              </a:rPr>
              <a:t>Dependents per 100 working-age adults (15-64). Rising sharply in older islands.</a:t>
            </a:r>
            <a:endParaRPr lang="en-US" sz="1600" dirty="0"/>
          </a:p>
        </p:txBody>
      </p:sp>
      <p:graphicFrame>
        <p:nvGraphicFramePr>
          <p:cNvPr id="5" name="Chart 0" descr="Bar chart of old-age dependency ratio for four countries"/>
          <p:cNvGraphicFramePr/>
          <p:nvPr/>
        </p:nvGraphicFramePr>
        <p:xfrm>
          <a:off x="594360" y="2194560"/>
          <a:ext cx="11002975" cy="35661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94360" y="457200"/>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CAUSAL ANALYSIS</a:t>
            </a:r>
            <a:endParaRPr lang="en-US" sz="1200" dirty="0"/>
          </a:p>
        </p:txBody>
      </p:sp>
      <p:sp>
        <p:nvSpPr>
          <p:cNvPr id="3" name="Text 0"/>
          <p:cNvSpPr/>
          <p:nvPr>
            <p:ph idx="101" type="title" hasCustomPrompt="1"/>
          </p:nvPr>
        </p:nvSpPr>
        <p:spPr>
          <a:xfrm>
            <a:off x="594360" y="731520"/>
            <a:ext cx="11002975" cy="1005840"/>
          </a:xfrm>
          <a:prstGeom prst="rect">
            <a:avLst/>
          </a:prstGeom>
          <a:noFill/>
          <a:ln/>
        </p:spPr>
        <p:txBody>
          <a:bodyPr wrap="square" lIns="0" tIns="0" rIns="0" bIns="0" rtlCol="0" anchor="t"/>
          <a:lstStyle/>
          <a:p>
            <a:pPr algn="l" indent="0" marL="0">
              <a:buNone/>
            </a:pPr>
            <a:r>
              <a:rPr lang="en-US" sz="3200" b="1" dirty="0">
                <a:solidFill>
                  <a:schemeClr val="tx2"/>
                </a:solidFill>
              </a:rPr>
              <a:t>Drivers of Declining Marriage &amp; Lower Fertility</a:t>
            </a:r>
            <a:endParaRPr lang="en-US" sz="3200" dirty="0"/>
          </a:p>
        </p:txBody>
      </p:sp>
      <p:sp>
        <p:nvSpPr>
          <p:cNvPr id="4" name="Card – Female Autonomy"/>
          <p:cNvSpPr/>
          <p:nvPr/>
        </p:nvSpPr>
        <p:spPr>
          <a:xfrm>
            <a:off x="594360" y="1874520"/>
            <a:ext cx="5341468" cy="1965960"/>
          </a:xfrm>
          <a:prstGeom prst="roundRect">
            <a:avLst>
              <a:gd name="adj" fmla="val 5581"/>
            </a:avLst>
          </a:prstGeom>
          <a:solidFill>
            <a:schemeClr val="bg2"/>
          </a:solidFill>
          <a:ln/>
        </p:spPr>
      </p:sp>
      <p:sp>
        <p:nvSpPr>
          <p:cNvPr id="5" name="Number 1"/>
          <p:cNvSpPr txBox="1"/>
          <p:nvPr/>
        </p:nvSpPr>
        <p:spPr>
          <a:xfrm>
            <a:off x="914400" y="2240280"/>
            <a:ext cx="868680" cy="868680"/>
          </a:xfrm>
          <a:prstGeom prst="ellipse">
            <a:avLst/>
          </a:prstGeom>
          <a:solidFill>
            <a:schemeClr val="tx2"/>
          </a:solidFill>
          <a:ln/>
        </p:spPr>
        <p:txBody>
          <a:bodyPr wrap="square" lIns="0" tIns="0" rIns="0" bIns="0" rtlCol="0" anchor="ctr"/>
          <a:lstStyle/>
          <a:p>
            <a:pPr algn="ctr" indent="0" marL="0">
              <a:buNone/>
            </a:pPr>
            <a:r>
              <a:rPr lang="en-US" sz="3400" b="1" dirty="0">
                <a:solidFill>
                  <a:schemeClr val="bg1"/>
                </a:solidFill>
                <a:latin typeface="+mj-lt" pitchFamily="34" charset="0"/>
                <a:ea typeface="+mj-lt" pitchFamily="34" charset="-122"/>
                <a:cs typeface="+mj-lt" pitchFamily="34" charset="-120"/>
              </a:rPr>
              <a:t>1</a:t>
            </a:r>
            <a:endParaRPr lang="en-US" sz="3400" dirty="0"/>
          </a:p>
        </p:txBody>
      </p:sp>
      <p:sp>
        <p:nvSpPr>
          <p:cNvPr id="6" name="Heading"/>
          <p:cNvSpPr txBox="1"/>
          <p:nvPr/>
        </p:nvSpPr>
        <p:spPr>
          <a:xfrm>
            <a:off x="2103120" y="2221992"/>
            <a:ext cx="3558388" cy="365760"/>
          </a:xfrm>
          <a:prstGeom prst="rect">
            <a:avLst/>
          </a:prstGeom>
          <a:noFill/>
          <a:ln/>
        </p:spPr>
        <p:txBody>
          <a:bodyPr wrap="square" lIns="0" tIns="0" rIns="0" bIns="0" rtlCol="0" anchor="t"/>
          <a:lstStyle/>
          <a:p>
            <a:pPr algn="l" indent="0" marL="0">
              <a:buNone/>
            </a:pPr>
            <a:r>
              <a:rPr lang="en-US" sz="2200" b="1" dirty="0">
                <a:solidFill>
                  <a:schemeClr val="tx2"/>
                </a:solidFill>
              </a:rPr>
              <a:t>Female Autonomy</a:t>
            </a:r>
            <a:endParaRPr lang="en-US" sz="2200" dirty="0"/>
          </a:p>
        </p:txBody>
      </p:sp>
      <p:sp>
        <p:nvSpPr>
          <p:cNvPr id="7" name="Text 5"/>
          <p:cNvSpPr txBox="1"/>
          <p:nvPr/>
        </p:nvSpPr>
        <p:spPr>
          <a:xfrm>
            <a:off x="2103120" y="2697480"/>
            <a:ext cx="3558388" cy="914400"/>
          </a:xfrm>
          <a:prstGeom prst="rect">
            <a:avLst/>
          </a:prstGeom>
          <a:noFill/>
          <a:ln/>
        </p:spPr>
        <p:txBody>
          <a:bodyPr wrap="square" lIns="0" tIns="0" rIns="0" bIns="0" rtlCol="0" anchor="t"/>
          <a:lstStyle/>
          <a:p>
            <a:pPr algn="l" indent="0" marL="0">
              <a:buNone/>
            </a:pPr>
            <a:r>
              <a:rPr lang="en-US" sz="1700" dirty="0">
                <a:solidFill>
                  <a:srgbClr val="34475C"/>
                </a:solidFill>
              </a:rPr>
              <a:t>Higher tertiary enrollment among women leading to delayed childbearing.</a:t>
            </a:r>
            <a:endParaRPr lang="en-US" sz="1700" dirty="0"/>
          </a:p>
        </p:txBody>
      </p:sp>
      <p:sp>
        <p:nvSpPr>
          <p:cNvPr id="8" name="Card – Out-Migration"/>
          <p:cNvSpPr/>
          <p:nvPr/>
        </p:nvSpPr>
        <p:spPr>
          <a:xfrm>
            <a:off x="6255868" y="1874520"/>
            <a:ext cx="5341468" cy="1965960"/>
          </a:xfrm>
          <a:prstGeom prst="roundRect">
            <a:avLst>
              <a:gd name="adj" fmla="val 5581"/>
            </a:avLst>
          </a:prstGeom>
          <a:solidFill>
            <a:schemeClr val="bg2"/>
          </a:solidFill>
          <a:ln/>
        </p:spPr>
      </p:sp>
      <p:sp>
        <p:nvSpPr>
          <p:cNvPr id="9" name="Number 2"/>
          <p:cNvSpPr txBox="1"/>
          <p:nvPr/>
        </p:nvSpPr>
        <p:spPr>
          <a:xfrm>
            <a:off x="6575908" y="2240280"/>
            <a:ext cx="868680" cy="868680"/>
          </a:xfrm>
          <a:prstGeom prst="ellipse">
            <a:avLst/>
          </a:prstGeom>
          <a:solidFill>
            <a:schemeClr val="tx2"/>
          </a:solidFill>
          <a:ln/>
        </p:spPr>
        <p:txBody>
          <a:bodyPr wrap="square" lIns="0" tIns="0" rIns="0" bIns="0" rtlCol="0" anchor="ctr"/>
          <a:lstStyle/>
          <a:p>
            <a:pPr algn="ctr" indent="0" marL="0">
              <a:buNone/>
            </a:pPr>
            <a:r>
              <a:rPr lang="en-US" sz="3400" b="1" dirty="0">
                <a:solidFill>
                  <a:schemeClr val="bg1"/>
                </a:solidFill>
                <a:latin typeface="+mj-lt" pitchFamily="34" charset="0"/>
                <a:ea typeface="+mj-lt" pitchFamily="34" charset="-122"/>
                <a:cs typeface="+mj-lt" pitchFamily="34" charset="-120"/>
              </a:rPr>
              <a:t>2</a:t>
            </a:r>
            <a:endParaRPr lang="en-US" sz="3400" dirty="0"/>
          </a:p>
        </p:txBody>
      </p:sp>
      <p:sp>
        <p:nvSpPr>
          <p:cNvPr id="10" name="Heading"/>
          <p:cNvSpPr txBox="1"/>
          <p:nvPr/>
        </p:nvSpPr>
        <p:spPr>
          <a:xfrm>
            <a:off x="7764628" y="2221992"/>
            <a:ext cx="3558388" cy="365760"/>
          </a:xfrm>
          <a:prstGeom prst="rect">
            <a:avLst/>
          </a:prstGeom>
          <a:noFill/>
          <a:ln/>
        </p:spPr>
        <p:txBody>
          <a:bodyPr wrap="square" lIns="0" tIns="0" rIns="0" bIns="0" rtlCol="0" anchor="t"/>
          <a:lstStyle/>
          <a:p>
            <a:pPr algn="l" indent="0" marL="0">
              <a:buNone/>
            </a:pPr>
            <a:r>
              <a:rPr lang="en-US" sz="2200" b="1" dirty="0">
                <a:solidFill>
                  <a:schemeClr val="tx2"/>
                </a:solidFill>
              </a:rPr>
              <a:t>Out-Migration</a:t>
            </a:r>
            <a:endParaRPr lang="en-US" sz="2200" dirty="0"/>
          </a:p>
        </p:txBody>
      </p:sp>
      <p:sp>
        <p:nvSpPr>
          <p:cNvPr id="11" name="Text 9"/>
          <p:cNvSpPr txBox="1"/>
          <p:nvPr/>
        </p:nvSpPr>
        <p:spPr>
          <a:xfrm>
            <a:off x="7764628" y="2697480"/>
            <a:ext cx="3558388" cy="914400"/>
          </a:xfrm>
          <a:prstGeom prst="rect">
            <a:avLst/>
          </a:prstGeom>
          <a:noFill/>
          <a:ln/>
        </p:spPr>
        <p:txBody>
          <a:bodyPr wrap="square" lIns="0" tIns="0" rIns="0" bIns="0" rtlCol="0" anchor="t"/>
          <a:lstStyle/>
          <a:p>
            <a:pPr algn="l" indent="0" marL="0">
              <a:buNone/>
            </a:pPr>
            <a:r>
              <a:rPr lang="en-US" sz="1700" dirty="0">
                <a:solidFill>
                  <a:srgbClr val="34475C"/>
                </a:solidFill>
              </a:rPr>
              <a:t>Youth brain drain disrupts local partner pools and union stability.</a:t>
            </a:r>
            <a:endParaRPr lang="en-US" sz="1700" dirty="0"/>
          </a:p>
        </p:txBody>
      </p:sp>
      <p:sp>
        <p:nvSpPr>
          <p:cNvPr id="12" name="Card – Cost of Living"/>
          <p:cNvSpPr/>
          <p:nvPr/>
        </p:nvSpPr>
        <p:spPr>
          <a:xfrm>
            <a:off x="594360" y="4069080"/>
            <a:ext cx="5341468" cy="1965960"/>
          </a:xfrm>
          <a:prstGeom prst="roundRect">
            <a:avLst>
              <a:gd name="adj" fmla="val 5581"/>
            </a:avLst>
          </a:prstGeom>
          <a:solidFill>
            <a:schemeClr val="bg2"/>
          </a:solidFill>
          <a:ln/>
        </p:spPr>
      </p:sp>
      <p:sp>
        <p:nvSpPr>
          <p:cNvPr id="13" name="Number 3"/>
          <p:cNvSpPr txBox="1"/>
          <p:nvPr/>
        </p:nvSpPr>
        <p:spPr>
          <a:xfrm>
            <a:off x="914400" y="4434840"/>
            <a:ext cx="868680" cy="868680"/>
          </a:xfrm>
          <a:prstGeom prst="ellipse">
            <a:avLst/>
          </a:prstGeom>
          <a:solidFill>
            <a:schemeClr val="tx2"/>
          </a:solidFill>
          <a:ln/>
        </p:spPr>
        <p:txBody>
          <a:bodyPr wrap="square" lIns="0" tIns="0" rIns="0" bIns="0" rtlCol="0" anchor="ctr"/>
          <a:lstStyle/>
          <a:p>
            <a:pPr algn="ctr" indent="0" marL="0">
              <a:buNone/>
            </a:pPr>
            <a:r>
              <a:rPr lang="en-US" sz="3400" b="1" dirty="0">
                <a:solidFill>
                  <a:schemeClr val="bg1"/>
                </a:solidFill>
                <a:latin typeface="+mj-lt" pitchFamily="34" charset="0"/>
                <a:ea typeface="+mj-lt" pitchFamily="34" charset="-122"/>
                <a:cs typeface="+mj-lt" pitchFamily="34" charset="-120"/>
              </a:rPr>
              <a:t>3</a:t>
            </a:r>
            <a:endParaRPr lang="en-US" sz="3400" dirty="0"/>
          </a:p>
        </p:txBody>
      </p:sp>
      <p:sp>
        <p:nvSpPr>
          <p:cNvPr id="14" name="Heading"/>
          <p:cNvSpPr txBox="1"/>
          <p:nvPr/>
        </p:nvSpPr>
        <p:spPr>
          <a:xfrm>
            <a:off x="2103120" y="4416552"/>
            <a:ext cx="3558388" cy="365760"/>
          </a:xfrm>
          <a:prstGeom prst="rect">
            <a:avLst/>
          </a:prstGeom>
          <a:noFill/>
          <a:ln/>
        </p:spPr>
        <p:txBody>
          <a:bodyPr wrap="square" lIns="0" tIns="0" rIns="0" bIns="0" rtlCol="0" anchor="t"/>
          <a:lstStyle/>
          <a:p>
            <a:pPr algn="l" indent="0" marL="0">
              <a:buNone/>
            </a:pPr>
            <a:r>
              <a:rPr lang="en-US" sz="2200" b="1" dirty="0">
                <a:solidFill>
                  <a:schemeClr val="tx2"/>
                </a:solidFill>
              </a:rPr>
              <a:t>Cost of Living</a:t>
            </a:r>
            <a:endParaRPr lang="en-US" sz="2200" dirty="0"/>
          </a:p>
        </p:txBody>
      </p:sp>
      <p:sp>
        <p:nvSpPr>
          <p:cNvPr id="15" name="Text 13"/>
          <p:cNvSpPr txBox="1"/>
          <p:nvPr/>
        </p:nvSpPr>
        <p:spPr>
          <a:xfrm>
            <a:off x="2103120" y="4892040"/>
            <a:ext cx="3558388" cy="914400"/>
          </a:xfrm>
          <a:prstGeom prst="rect">
            <a:avLst/>
          </a:prstGeom>
          <a:noFill/>
          <a:ln/>
        </p:spPr>
        <p:txBody>
          <a:bodyPr wrap="square" lIns="0" tIns="0" rIns="0" bIns="0" rtlCol="0" anchor="t"/>
          <a:lstStyle/>
          <a:p>
            <a:pPr algn="l" indent="0" marL="0">
              <a:buNone/>
            </a:pPr>
            <a:r>
              <a:rPr lang="en-US" sz="1700" dirty="0">
                <a:solidFill>
                  <a:srgbClr val="34475C"/>
                </a:solidFill>
              </a:rPr>
              <a:t>Housing expenses lead couples to postpone formal marriage.</a:t>
            </a:r>
            <a:endParaRPr lang="en-US" sz="1700" dirty="0"/>
          </a:p>
        </p:txBody>
      </p:sp>
      <p:sp>
        <p:nvSpPr>
          <p:cNvPr id="16" name="Card – Cultural Norms"/>
          <p:cNvSpPr/>
          <p:nvPr/>
        </p:nvSpPr>
        <p:spPr>
          <a:xfrm>
            <a:off x="6255868" y="4069080"/>
            <a:ext cx="5341468" cy="1965960"/>
          </a:xfrm>
          <a:prstGeom prst="roundRect">
            <a:avLst>
              <a:gd name="adj" fmla="val 5581"/>
            </a:avLst>
          </a:prstGeom>
          <a:solidFill>
            <a:schemeClr val="bg2"/>
          </a:solidFill>
          <a:ln/>
        </p:spPr>
      </p:sp>
      <p:sp>
        <p:nvSpPr>
          <p:cNvPr id="17" name="Number 4"/>
          <p:cNvSpPr txBox="1"/>
          <p:nvPr/>
        </p:nvSpPr>
        <p:spPr>
          <a:xfrm>
            <a:off x="6575908" y="4434840"/>
            <a:ext cx="868680" cy="868680"/>
          </a:xfrm>
          <a:prstGeom prst="ellipse">
            <a:avLst/>
          </a:prstGeom>
          <a:solidFill>
            <a:schemeClr val="tx2"/>
          </a:solidFill>
          <a:ln/>
        </p:spPr>
        <p:txBody>
          <a:bodyPr wrap="square" lIns="0" tIns="0" rIns="0" bIns="0" rtlCol="0" anchor="ctr"/>
          <a:lstStyle/>
          <a:p>
            <a:pPr algn="ctr" indent="0" marL="0">
              <a:buNone/>
            </a:pPr>
            <a:r>
              <a:rPr lang="en-US" sz="3400" b="1" dirty="0">
                <a:solidFill>
                  <a:schemeClr val="bg1"/>
                </a:solidFill>
                <a:latin typeface="+mj-lt" pitchFamily="34" charset="0"/>
                <a:ea typeface="+mj-lt" pitchFamily="34" charset="-122"/>
                <a:cs typeface="+mj-lt" pitchFamily="34" charset="-120"/>
              </a:rPr>
              <a:t>4</a:t>
            </a:r>
            <a:endParaRPr lang="en-US" sz="3400" dirty="0"/>
          </a:p>
        </p:txBody>
      </p:sp>
      <p:sp>
        <p:nvSpPr>
          <p:cNvPr id="18" name="Heading"/>
          <p:cNvSpPr txBox="1"/>
          <p:nvPr/>
        </p:nvSpPr>
        <p:spPr>
          <a:xfrm>
            <a:off x="7764628" y="4416552"/>
            <a:ext cx="3558388" cy="365760"/>
          </a:xfrm>
          <a:prstGeom prst="rect">
            <a:avLst/>
          </a:prstGeom>
          <a:noFill/>
          <a:ln/>
        </p:spPr>
        <p:txBody>
          <a:bodyPr wrap="square" lIns="0" tIns="0" rIns="0" bIns="0" rtlCol="0" anchor="t"/>
          <a:lstStyle/>
          <a:p>
            <a:pPr algn="l" indent="0" marL="0">
              <a:buNone/>
            </a:pPr>
            <a:r>
              <a:rPr lang="en-US" sz="2200" b="1" dirty="0">
                <a:solidFill>
                  <a:schemeClr val="tx2"/>
                </a:solidFill>
              </a:rPr>
              <a:t>Cultural Norms</a:t>
            </a:r>
            <a:endParaRPr lang="en-US" sz="2200" dirty="0"/>
          </a:p>
        </p:txBody>
      </p:sp>
      <p:sp>
        <p:nvSpPr>
          <p:cNvPr id="19" name="Text 17"/>
          <p:cNvSpPr txBox="1"/>
          <p:nvPr/>
        </p:nvSpPr>
        <p:spPr>
          <a:xfrm>
            <a:off x="7764628" y="4892040"/>
            <a:ext cx="3558388" cy="914400"/>
          </a:xfrm>
          <a:prstGeom prst="rect">
            <a:avLst/>
          </a:prstGeom>
          <a:noFill/>
          <a:ln/>
        </p:spPr>
        <p:txBody>
          <a:bodyPr wrap="square" lIns="0" tIns="0" rIns="0" bIns="0" rtlCol="0" anchor="t"/>
          <a:lstStyle/>
          <a:p>
            <a:pPr algn="l" indent="0" marL="0">
              <a:buNone/>
            </a:pPr>
            <a:r>
              <a:rPr lang="en-US" sz="1700" dirty="0">
                <a:solidFill>
                  <a:srgbClr val="34475C"/>
                </a:solidFill>
              </a:rPr>
              <a:t>Historical acceptance of visiting unions as valid child-rearing units.</a:t>
            </a:r>
            <a:endParaRPr lang="en-US" sz="1700" dirty="0"/>
          </a:p>
        </p:txBody>
      </p:sp>
      <p:sp>
        <p:nvSpPr>
          <p:cNvPr id="20" name="Text 0"/>
          <p:cNvSpPr/>
          <p:nvPr>
            <p:ph idx="102" type="body" hasCustomPrompt="1"/>
          </p:nvPr>
        </p:nvSpPr>
        <p:spPr>
          <a:xfrm>
            <a:off x="594360" y="1371600"/>
            <a:ext cx="11002975" cy="36576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94360" y="457200"/>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MOBILITY &amp; DIASPORA</a:t>
            </a:r>
            <a:endParaRPr lang="en-US" sz="1200" dirty="0"/>
          </a:p>
        </p:txBody>
      </p:sp>
      <p:sp>
        <p:nvSpPr>
          <p:cNvPr id="3" name="Text 0"/>
          <p:cNvSpPr/>
          <p:nvPr>
            <p:ph idx="101" type="title" hasCustomPrompt="1"/>
          </p:nvPr>
        </p:nvSpPr>
        <p:spPr>
          <a:xfrm>
            <a:off x="594360" y="731520"/>
            <a:ext cx="11002975" cy="1005840"/>
          </a:xfrm>
          <a:prstGeom prst="rect">
            <a:avLst/>
          </a:prstGeom>
          <a:noFill/>
          <a:ln/>
        </p:spPr>
        <p:txBody>
          <a:bodyPr wrap="square" lIns="0" tIns="0" rIns="0" bIns="0" rtlCol="0" anchor="t"/>
          <a:lstStyle/>
          <a:p>
            <a:pPr algn="l" indent="0" marL="0">
              <a:buNone/>
            </a:pPr>
            <a:r>
              <a:rPr lang="en-US" sz="3200" b="1" dirty="0">
                <a:solidFill>
                  <a:schemeClr val="tx2"/>
                </a:solidFill>
              </a:rPr>
              <a:t>Migration Dynamics &amp; Remittance Patterns</a:t>
            </a:r>
            <a:endParaRPr lang="en-US" sz="3200" dirty="0"/>
          </a:p>
        </p:txBody>
      </p:sp>
      <p:sp>
        <p:nvSpPr>
          <p:cNvPr id="4" name="Card – Labor Outflow"/>
          <p:cNvSpPr/>
          <p:nvPr/>
        </p:nvSpPr>
        <p:spPr>
          <a:xfrm>
            <a:off x="594360" y="2011680"/>
            <a:ext cx="2579294" cy="3017520"/>
          </a:xfrm>
          <a:prstGeom prst="roundRect">
            <a:avLst>
              <a:gd name="adj" fmla="val 4254"/>
            </a:avLst>
          </a:prstGeom>
          <a:solidFill>
            <a:schemeClr val="bg2"/>
          </a:solidFill>
          <a:ln/>
        </p:spPr>
      </p:sp>
      <p:sp>
        <p:nvSpPr>
          <p:cNvPr id="5" name="Labor Outflow badge"/>
          <p:cNvSpPr/>
          <p:nvPr/>
        </p:nvSpPr>
        <p:spPr>
          <a:xfrm>
            <a:off x="868680" y="2331720"/>
            <a:ext cx="914400" cy="914400"/>
          </a:xfrm>
          <a:prstGeom prst="ellipse">
            <a:avLst/>
          </a:prstGeom>
          <a:solidFill>
            <a:schemeClr val="accent1"/>
          </a:solidFill>
          <a:ln/>
        </p:spPr>
      </p:sp>
      <p:pic>
        <p:nvPicPr>
          <p:cNvPr id="6" name="Labor Outflow icon" descr="/tmp/claude-0/-home-user-Arturo/8d4d3924-7078-5160-a89d-b2e82f900b72/scratchpad/work/build/assets/icons/plane_FFFFFF.png">    </p:cNvPr>
          <p:cNvPicPr>
            <a:picLocks noChangeAspect="1"/>
          </p:cNvPicPr>
          <p:nvPr/>
        </p:nvPicPr>
        <p:blipFill>
          <a:blip r:embed="rId1"/>
          <a:stretch>
            <a:fillRect/>
          </a:stretch>
        </p:blipFill>
        <p:spPr>
          <a:xfrm>
            <a:off x="1097280" y="2560320"/>
            <a:ext cx="457200" cy="457200"/>
          </a:xfrm>
          <a:prstGeom prst="rect">
            <a:avLst/>
          </a:prstGeom>
        </p:spPr>
      </p:pic>
      <p:sp>
        <p:nvSpPr>
          <p:cNvPr id="7" name="Heading"/>
          <p:cNvSpPr txBox="1"/>
          <p:nvPr/>
        </p:nvSpPr>
        <p:spPr>
          <a:xfrm>
            <a:off x="868680" y="3474720"/>
            <a:ext cx="2030654" cy="365760"/>
          </a:xfrm>
          <a:prstGeom prst="rect">
            <a:avLst/>
          </a:prstGeom>
          <a:noFill/>
          <a:ln/>
        </p:spPr>
        <p:txBody>
          <a:bodyPr wrap="square" lIns="0" tIns="0" rIns="0" bIns="0" rtlCol="0" anchor="t"/>
          <a:lstStyle/>
          <a:p>
            <a:pPr algn="l" indent="0" marL="0">
              <a:buNone/>
            </a:pPr>
            <a:r>
              <a:rPr lang="en-US" sz="2000" b="1" dirty="0">
                <a:solidFill>
                  <a:schemeClr val="tx2"/>
                </a:solidFill>
              </a:rPr>
              <a:t>Labor Outflow</a:t>
            </a:r>
            <a:endParaRPr lang="en-US" sz="2000" dirty="0"/>
          </a:p>
        </p:txBody>
      </p:sp>
      <p:sp>
        <p:nvSpPr>
          <p:cNvPr id="8" name="Text 5"/>
          <p:cNvSpPr txBox="1"/>
          <p:nvPr/>
        </p:nvSpPr>
        <p:spPr>
          <a:xfrm>
            <a:off x="868680" y="3931920"/>
            <a:ext cx="2030654" cy="1554480"/>
          </a:xfrm>
          <a:prstGeom prst="rect">
            <a:avLst/>
          </a:prstGeom>
          <a:noFill/>
          <a:ln/>
        </p:spPr>
        <p:txBody>
          <a:bodyPr wrap="square" lIns="0" tIns="0" rIns="0" bIns="0" rtlCol="0" anchor="t"/>
          <a:lstStyle/>
          <a:p>
            <a:pPr algn="l" indent="0" marL="0">
              <a:buNone/>
            </a:pPr>
            <a:r>
              <a:rPr lang="en-US" sz="1700" dirty="0">
                <a:solidFill>
                  <a:srgbClr val="34475C"/>
                </a:solidFill>
              </a:rPr>
              <a:t>High emigration rates toward US, Canada, and Europe.</a:t>
            </a:r>
            <a:endParaRPr lang="en-US" sz="1700" dirty="0"/>
          </a:p>
        </p:txBody>
      </p:sp>
      <p:sp>
        <p:nvSpPr>
          <p:cNvPr id="9" name="Card – Brain Drain"/>
          <p:cNvSpPr/>
          <p:nvPr/>
        </p:nvSpPr>
        <p:spPr>
          <a:xfrm>
            <a:off x="3402254" y="2011680"/>
            <a:ext cx="2579294" cy="3017520"/>
          </a:xfrm>
          <a:prstGeom prst="roundRect">
            <a:avLst>
              <a:gd name="adj" fmla="val 4254"/>
            </a:avLst>
          </a:prstGeom>
          <a:solidFill>
            <a:schemeClr val="bg2"/>
          </a:solidFill>
          <a:ln/>
        </p:spPr>
      </p:sp>
      <p:sp>
        <p:nvSpPr>
          <p:cNvPr id="10" name="Brain Drain badge"/>
          <p:cNvSpPr/>
          <p:nvPr/>
        </p:nvSpPr>
        <p:spPr>
          <a:xfrm>
            <a:off x="3676574" y="2331720"/>
            <a:ext cx="914400" cy="914400"/>
          </a:xfrm>
          <a:prstGeom prst="ellipse">
            <a:avLst/>
          </a:prstGeom>
          <a:solidFill>
            <a:schemeClr val="accent1"/>
          </a:solidFill>
          <a:ln/>
        </p:spPr>
      </p:sp>
      <p:pic>
        <p:nvPicPr>
          <p:cNvPr id="11" name="Brain Drain icon" descr="/tmp/claude-0/-home-user-Arturo/8d4d3924-7078-5160-a89d-b2e82f900b72/scratchpad/work/build/assets/icons/grad_FFFFFF.png">    </p:cNvPr>
          <p:cNvPicPr>
            <a:picLocks noChangeAspect="1"/>
          </p:cNvPicPr>
          <p:nvPr/>
        </p:nvPicPr>
        <p:blipFill>
          <a:blip r:embed="rId2"/>
          <a:stretch>
            <a:fillRect/>
          </a:stretch>
        </p:blipFill>
        <p:spPr>
          <a:xfrm>
            <a:off x="3905174" y="2560320"/>
            <a:ext cx="457200" cy="457200"/>
          </a:xfrm>
          <a:prstGeom prst="rect">
            <a:avLst/>
          </a:prstGeom>
        </p:spPr>
      </p:pic>
      <p:sp>
        <p:nvSpPr>
          <p:cNvPr id="12" name="Heading"/>
          <p:cNvSpPr txBox="1"/>
          <p:nvPr/>
        </p:nvSpPr>
        <p:spPr>
          <a:xfrm>
            <a:off x="3676574" y="3474720"/>
            <a:ext cx="2030654" cy="365760"/>
          </a:xfrm>
          <a:prstGeom prst="rect">
            <a:avLst/>
          </a:prstGeom>
          <a:noFill/>
          <a:ln/>
        </p:spPr>
        <p:txBody>
          <a:bodyPr wrap="square" lIns="0" tIns="0" rIns="0" bIns="0" rtlCol="0" anchor="t"/>
          <a:lstStyle/>
          <a:p>
            <a:pPr algn="l" indent="0" marL="0">
              <a:buNone/>
            </a:pPr>
            <a:r>
              <a:rPr lang="en-US" sz="2000" b="1" dirty="0">
                <a:solidFill>
                  <a:schemeClr val="tx2"/>
                </a:solidFill>
              </a:rPr>
              <a:t>Brain Drain</a:t>
            </a:r>
            <a:endParaRPr lang="en-US" sz="2000" dirty="0"/>
          </a:p>
        </p:txBody>
      </p:sp>
      <p:sp>
        <p:nvSpPr>
          <p:cNvPr id="13" name="Text 9"/>
          <p:cNvSpPr txBox="1"/>
          <p:nvPr/>
        </p:nvSpPr>
        <p:spPr>
          <a:xfrm>
            <a:off x="3676574" y="3931920"/>
            <a:ext cx="2030654" cy="1554480"/>
          </a:xfrm>
          <a:prstGeom prst="rect">
            <a:avLst/>
          </a:prstGeom>
          <a:noFill/>
          <a:ln/>
        </p:spPr>
        <p:txBody>
          <a:bodyPr wrap="square" lIns="0" tIns="0" rIns="0" bIns="0" rtlCol="0" anchor="t"/>
          <a:lstStyle/>
          <a:p>
            <a:pPr algn="l" indent="0" marL="0">
              <a:buNone/>
            </a:pPr>
            <a:r>
              <a:rPr lang="en-US" sz="1700" dirty="0">
                <a:solidFill>
                  <a:srgbClr val="34475C"/>
                </a:solidFill>
              </a:rPr>
              <a:t>Over 60% of tertiary-educated citizens move abroad.</a:t>
            </a:r>
            <a:endParaRPr lang="en-US" sz="1700" dirty="0"/>
          </a:p>
        </p:txBody>
      </p:sp>
      <p:sp>
        <p:nvSpPr>
          <p:cNvPr id="14" name="Card – Remittance Inflow"/>
          <p:cNvSpPr/>
          <p:nvPr/>
        </p:nvSpPr>
        <p:spPr>
          <a:xfrm>
            <a:off x="6210148" y="2011680"/>
            <a:ext cx="2579294" cy="3017520"/>
          </a:xfrm>
          <a:prstGeom prst="roundRect">
            <a:avLst>
              <a:gd name="adj" fmla="val 4254"/>
            </a:avLst>
          </a:prstGeom>
          <a:solidFill>
            <a:schemeClr val="bg2"/>
          </a:solidFill>
          <a:ln/>
        </p:spPr>
      </p:sp>
      <p:sp>
        <p:nvSpPr>
          <p:cNvPr id="15" name="Remittance Inflow badge"/>
          <p:cNvSpPr/>
          <p:nvPr/>
        </p:nvSpPr>
        <p:spPr>
          <a:xfrm>
            <a:off x="6484468" y="2331720"/>
            <a:ext cx="914400" cy="914400"/>
          </a:xfrm>
          <a:prstGeom prst="ellipse">
            <a:avLst/>
          </a:prstGeom>
          <a:solidFill>
            <a:schemeClr val="accent1"/>
          </a:solidFill>
          <a:ln/>
        </p:spPr>
      </p:sp>
      <p:pic>
        <p:nvPicPr>
          <p:cNvPr id="16" name="Remittance Inflow icon" descr="/tmp/claude-0/-home-user-Arturo/8d4d3924-7078-5160-a89d-b2e82f900b72/scratchpad/work/build/assets/icons/money_FFFFFF.png">    </p:cNvPr>
          <p:cNvPicPr>
            <a:picLocks noChangeAspect="1"/>
          </p:cNvPicPr>
          <p:nvPr/>
        </p:nvPicPr>
        <p:blipFill>
          <a:blip r:embed="rId3"/>
          <a:stretch>
            <a:fillRect/>
          </a:stretch>
        </p:blipFill>
        <p:spPr>
          <a:xfrm>
            <a:off x="6713068" y="2560320"/>
            <a:ext cx="457200" cy="457200"/>
          </a:xfrm>
          <a:prstGeom prst="rect">
            <a:avLst/>
          </a:prstGeom>
        </p:spPr>
      </p:pic>
      <p:sp>
        <p:nvSpPr>
          <p:cNvPr id="17" name="Heading"/>
          <p:cNvSpPr txBox="1"/>
          <p:nvPr/>
        </p:nvSpPr>
        <p:spPr>
          <a:xfrm>
            <a:off x="6484468" y="3474720"/>
            <a:ext cx="2030654" cy="365760"/>
          </a:xfrm>
          <a:prstGeom prst="rect">
            <a:avLst/>
          </a:prstGeom>
          <a:noFill/>
          <a:ln/>
        </p:spPr>
        <p:txBody>
          <a:bodyPr wrap="square" lIns="0" tIns="0" rIns="0" bIns="0" rtlCol="0" anchor="t"/>
          <a:lstStyle/>
          <a:p>
            <a:pPr algn="l" indent="0" marL="0">
              <a:buNone/>
            </a:pPr>
            <a:r>
              <a:rPr lang="en-US" sz="2000" b="1" dirty="0">
                <a:solidFill>
                  <a:schemeClr val="tx2"/>
                </a:solidFill>
              </a:rPr>
              <a:t>Remittance Inflow</a:t>
            </a:r>
            <a:endParaRPr lang="en-US" sz="2000" dirty="0"/>
          </a:p>
        </p:txBody>
      </p:sp>
      <p:sp>
        <p:nvSpPr>
          <p:cNvPr id="18" name="Text 13"/>
          <p:cNvSpPr txBox="1"/>
          <p:nvPr/>
        </p:nvSpPr>
        <p:spPr>
          <a:xfrm>
            <a:off x="6484468" y="3931920"/>
            <a:ext cx="2030654" cy="1554480"/>
          </a:xfrm>
          <a:prstGeom prst="rect">
            <a:avLst/>
          </a:prstGeom>
          <a:noFill/>
          <a:ln/>
        </p:spPr>
        <p:txBody>
          <a:bodyPr wrap="square" lIns="0" tIns="0" rIns="0" bIns="0" rtlCol="0" anchor="t"/>
          <a:lstStyle/>
          <a:p>
            <a:pPr algn="l" indent="0" marL="0">
              <a:buNone/>
            </a:pPr>
            <a:r>
              <a:rPr lang="en-US" sz="1700" dirty="0">
                <a:solidFill>
                  <a:srgbClr val="34475C"/>
                </a:solidFill>
              </a:rPr>
              <a:t>Remittances account for over 20% of GDP in Haiti and Jamaica.</a:t>
            </a:r>
            <a:endParaRPr lang="en-US" sz="1700" dirty="0"/>
          </a:p>
        </p:txBody>
      </p:sp>
      <p:sp>
        <p:nvSpPr>
          <p:cNvPr id="19" name="Card – Intra-Regional"/>
          <p:cNvSpPr/>
          <p:nvPr/>
        </p:nvSpPr>
        <p:spPr>
          <a:xfrm>
            <a:off x="9018041" y="2011680"/>
            <a:ext cx="2579294" cy="3017520"/>
          </a:xfrm>
          <a:prstGeom prst="roundRect">
            <a:avLst>
              <a:gd name="adj" fmla="val 4254"/>
            </a:avLst>
          </a:prstGeom>
          <a:solidFill>
            <a:schemeClr val="bg2"/>
          </a:solidFill>
          <a:ln/>
        </p:spPr>
      </p:sp>
      <p:sp>
        <p:nvSpPr>
          <p:cNvPr id="20" name="Intra-Regional badge"/>
          <p:cNvSpPr/>
          <p:nvPr/>
        </p:nvSpPr>
        <p:spPr>
          <a:xfrm>
            <a:off x="9292361" y="2331720"/>
            <a:ext cx="914400" cy="914400"/>
          </a:xfrm>
          <a:prstGeom prst="ellipse">
            <a:avLst/>
          </a:prstGeom>
          <a:solidFill>
            <a:schemeClr val="accent1"/>
          </a:solidFill>
          <a:ln/>
        </p:spPr>
      </p:sp>
      <p:pic>
        <p:nvPicPr>
          <p:cNvPr id="21" name="Intra-Regional icon" descr="/tmp/claude-0/-home-user-Arturo/8d4d3924-7078-5160-a89d-b2e82f900b72/scratchpad/work/build/assets/icons/exchange_FFFFFF.png">    </p:cNvPr>
          <p:cNvPicPr>
            <a:picLocks noChangeAspect="1"/>
          </p:cNvPicPr>
          <p:nvPr/>
        </p:nvPicPr>
        <p:blipFill>
          <a:blip r:embed="rId4"/>
          <a:stretch>
            <a:fillRect/>
          </a:stretch>
        </p:blipFill>
        <p:spPr>
          <a:xfrm>
            <a:off x="9520961" y="2560320"/>
            <a:ext cx="457200" cy="457200"/>
          </a:xfrm>
          <a:prstGeom prst="rect">
            <a:avLst/>
          </a:prstGeom>
        </p:spPr>
      </p:pic>
      <p:sp>
        <p:nvSpPr>
          <p:cNvPr id="22" name="Heading"/>
          <p:cNvSpPr txBox="1"/>
          <p:nvPr/>
        </p:nvSpPr>
        <p:spPr>
          <a:xfrm>
            <a:off x="9292361" y="3474720"/>
            <a:ext cx="2030654" cy="365760"/>
          </a:xfrm>
          <a:prstGeom prst="rect">
            <a:avLst/>
          </a:prstGeom>
          <a:noFill/>
          <a:ln/>
        </p:spPr>
        <p:txBody>
          <a:bodyPr wrap="square" lIns="0" tIns="0" rIns="0" bIns="0" rtlCol="0" anchor="t"/>
          <a:lstStyle/>
          <a:p>
            <a:pPr algn="l" indent="0" marL="0">
              <a:buNone/>
            </a:pPr>
            <a:r>
              <a:rPr lang="en-US" sz="2000" b="1" dirty="0">
                <a:solidFill>
                  <a:schemeClr val="tx2"/>
                </a:solidFill>
              </a:rPr>
              <a:t>Intra-Regional</a:t>
            </a:r>
            <a:endParaRPr lang="en-US" sz="2000" dirty="0"/>
          </a:p>
        </p:txBody>
      </p:sp>
      <p:sp>
        <p:nvSpPr>
          <p:cNvPr id="23" name="Text 17"/>
          <p:cNvSpPr txBox="1"/>
          <p:nvPr/>
        </p:nvSpPr>
        <p:spPr>
          <a:xfrm>
            <a:off x="9292361" y="3931920"/>
            <a:ext cx="2030654" cy="1554480"/>
          </a:xfrm>
          <a:prstGeom prst="rect">
            <a:avLst/>
          </a:prstGeom>
          <a:noFill/>
          <a:ln/>
        </p:spPr>
        <p:txBody>
          <a:bodyPr wrap="square" lIns="0" tIns="0" rIns="0" bIns="0" rtlCol="0" anchor="t"/>
          <a:lstStyle/>
          <a:p>
            <a:pPr algn="l" indent="0" marL="0">
              <a:buNone/>
            </a:pPr>
            <a:r>
              <a:rPr lang="en-US" sz="1700" dirty="0">
                <a:solidFill>
                  <a:srgbClr val="34475C"/>
                </a:solidFill>
              </a:rPr>
              <a:t>Haitian movement into Dominican Republic and Bahamas.</a:t>
            </a:r>
            <a:endParaRPr lang="en-US" sz="1700" dirty="0"/>
          </a:p>
        </p:txBody>
      </p:sp>
      <p:sp>
        <p:nvSpPr>
          <p:cNvPr id="24" name="Text 0"/>
          <p:cNvSpPr/>
          <p:nvPr>
            <p:ph idx="102" type="body" hasCustomPrompt="1"/>
          </p:nvPr>
        </p:nvSpPr>
        <p:spPr>
          <a:xfrm>
            <a:off x="594360" y="1371600"/>
            <a:ext cx="11002975" cy="36576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94360" y="457200"/>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COUNTRY PROFILE</a:t>
            </a:r>
            <a:endParaRPr lang="en-US" sz="1200" dirty="0"/>
          </a:p>
        </p:txBody>
      </p:sp>
      <p:sp>
        <p:nvSpPr>
          <p:cNvPr id="3" name="Text 0"/>
          <p:cNvSpPr/>
          <p:nvPr>
            <p:ph idx="101" type="title" hasCustomPrompt="1"/>
          </p:nvPr>
        </p:nvSpPr>
        <p:spPr>
          <a:xfrm>
            <a:off x="594360" y="731520"/>
            <a:ext cx="11002975" cy="1005840"/>
          </a:xfrm>
          <a:prstGeom prst="rect">
            <a:avLst/>
          </a:prstGeom>
          <a:noFill/>
          <a:ln/>
        </p:spPr>
        <p:txBody>
          <a:bodyPr wrap="square" lIns="0" tIns="0" rIns="0" bIns="0" rtlCol="0" anchor="t"/>
          <a:lstStyle/>
          <a:p>
            <a:pPr algn="l" indent="0" marL="0">
              <a:buNone/>
            </a:pPr>
            <a:r>
              <a:rPr lang="en-US" sz="3200" b="1" dirty="0">
                <a:solidFill>
                  <a:schemeClr val="tx2"/>
                </a:solidFill>
              </a:rPr>
              <a:t>Cuba: Demographic Crisis &amp; Aging Population</a:t>
            </a:r>
            <a:endParaRPr lang="en-US" sz="3200" dirty="0"/>
          </a:p>
        </p:txBody>
      </p:sp>
      <p:pic>
        <p:nvPicPr>
          <p:cNvPr id="4" name="Photo – Cuba" descr="Colorful colonial buildings and a vintage blue car on a street in Cuba">    </p:cNvPr>
          <p:cNvPicPr>
            <a:picLocks noChangeAspect="1"/>
          </p:cNvPicPr>
          <p:nvPr/>
        </p:nvPicPr>
        <p:blipFill>
          <a:blip r:embed="rId1"/>
          <a:stretch>
            <a:fillRect/>
          </a:stretch>
        </p:blipFill>
        <p:spPr>
          <a:xfrm>
            <a:off x="594360" y="1828800"/>
            <a:ext cx="5440680" cy="3886200"/>
          </a:xfrm>
          <a:prstGeom prst="rect">
            <a:avLst/>
          </a:prstGeom>
          <a:effectLst>
            <a:outerShdw sx="100000" sy="100000" kx="0" ky="0" algn="bl" rotWithShape="0" blurRad="101600" dist="25400" dir="5400000">
              <a:srgbClr val="000000">
                <a:alpha val="25000"/>
              </a:srgbClr>
            </a:outerShdw>
          </a:effectLst>
        </p:spPr>
      </p:pic>
      <p:sp>
        <p:nvSpPr>
          <p:cNvPr id="5" name="Stat card – Population"/>
          <p:cNvSpPr/>
          <p:nvPr/>
        </p:nvSpPr>
        <p:spPr>
          <a:xfrm>
            <a:off x="6446520" y="1828800"/>
            <a:ext cx="5150815" cy="2148840"/>
          </a:xfrm>
          <a:prstGeom prst="roundRect">
            <a:avLst>
              <a:gd name="adj" fmla="val 5106"/>
            </a:avLst>
          </a:prstGeom>
          <a:solidFill>
            <a:schemeClr val="tx2"/>
          </a:solidFill>
          <a:ln/>
        </p:spPr>
      </p:sp>
      <p:sp>
        <p:nvSpPr>
          <p:cNvPr id="6" name="Text 3"/>
          <p:cNvSpPr txBox="1"/>
          <p:nvPr/>
        </p:nvSpPr>
        <p:spPr>
          <a:xfrm>
            <a:off x="6812280" y="2057400"/>
            <a:ext cx="4419295" cy="274320"/>
          </a:xfrm>
          <a:prstGeom prst="rect">
            <a:avLst/>
          </a:prstGeom>
          <a:noFill/>
          <a:ln/>
        </p:spPr>
        <p:txBody>
          <a:bodyPr wrap="square" lIns="0" tIns="0" rIns="0" bIns="0" rtlCol="0" anchor="t"/>
          <a:lstStyle/>
          <a:p>
            <a:pPr algn="l" indent="0" marL="0">
              <a:buNone/>
            </a:pPr>
            <a:r>
              <a:rPr lang="en-US" sz="1300" b="1" spc="150" kern="0" dirty="0">
                <a:solidFill>
                  <a:schemeClr val="accent4"/>
                </a:solidFill>
              </a:rPr>
              <a:t>POPULATION</a:t>
            </a:r>
            <a:endParaRPr lang="en-US" sz="1300" dirty="0"/>
          </a:p>
        </p:txBody>
      </p:sp>
      <p:sp>
        <p:nvSpPr>
          <p:cNvPr id="7" name="Stat population"/>
          <p:cNvSpPr txBox="1"/>
          <p:nvPr/>
        </p:nvSpPr>
        <p:spPr>
          <a:xfrm>
            <a:off x="6812280" y="2377440"/>
            <a:ext cx="4419295" cy="868680"/>
          </a:xfrm>
          <a:prstGeom prst="rect">
            <a:avLst/>
          </a:prstGeom>
          <a:noFill/>
          <a:ln/>
        </p:spPr>
        <p:txBody>
          <a:bodyPr wrap="square" lIns="0" tIns="0" rIns="0" bIns="0" rtlCol="0" anchor="ctr"/>
          <a:lstStyle/>
          <a:p>
            <a:pPr indent="0" marL="0">
              <a:buNone/>
            </a:pPr>
            <a:r>
              <a:rPr lang="en-US" sz="5400" b="1" dirty="0">
                <a:solidFill>
                  <a:schemeClr val="bg1"/>
                </a:solidFill>
                <a:latin typeface="+mj-lt" pitchFamily="34" charset="0"/>
                <a:ea typeface="+mj-lt" pitchFamily="34" charset="-122"/>
                <a:cs typeface="+mj-lt" pitchFamily="34" charset="-120"/>
              </a:rPr>
              <a:t>11.02 M</a:t>
            </a:r>
            <a:endParaRPr lang="en-US" sz="5400" dirty="0"/>
          </a:p>
        </p:txBody>
      </p:sp>
      <p:sp>
        <p:nvSpPr>
          <p:cNvPr id="8" name="Text 5"/>
          <p:cNvSpPr txBox="1"/>
          <p:nvPr/>
        </p:nvSpPr>
        <p:spPr>
          <a:xfrm>
            <a:off x="6812280" y="3337560"/>
            <a:ext cx="4419295" cy="365760"/>
          </a:xfrm>
          <a:prstGeom prst="rect">
            <a:avLst/>
          </a:prstGeom>
          <a:noFill/>
          <a:ln/>
        </p:spPr>
        <p:txBody>
          <a:bodyPr wrap="square" lIns="0" tIns="0" rIns="0" bIns="0" rtlCol="0" anchor="t"/>
          <a:lstStyle/>
          <a:p>
            <a:pPr algn="l" indent="0" marL="0">
              <a:buNone/>
            </a:pPr>
            <a:r>
              <a:rPr lang="en-US" sz="1700" dirty="0">
                <a:solidFill>
                  <a:srgbClr val="D5E1EA"/>
                </a:solidFill>
              </a:rPr>
              <a:t>Annual shrinking rate of -0.35%</a:t>
            </a:r>
            <a:endParaRPr lang="en-US" sz="1700" dirty="0"/>
          </a:p>
        </p:txBody>
      </p:sp>
      <p:sp>
        <p:nvSpPr>
          <p:cNvPr id="9" name="Stat card – FERTILITY"/>
          <p:cNvSpPr/>
          <p:nvPr/>
        </p:nvSpPr>
        <p:spPr>
          <a:xfrm>
            <a:off x="6446520" y="4160520"/>
            <a:ext cx="2438248" cy="1554480"/>
          </a:xfrm>
          <a:prstGeom prst="roundRect">
            <a:avLst>
              <a:gd name="adj" fmla="val 7059"/>
            </a:avLst>
          </a:prstGeom>
          <a:solidFill>
            <a:schemeClr val="bg2"/>
          </a:solidFill>
          <a:ln/>
        </p:spPr>
      </p:sp>
      <p:sp>
        <p:nvSpPr>
          <p:cNvPr id="10" name="Text 7"/>
          <p:cNvSpPr txBox="1"/>
          <p:nvPr/>
        </p:nvSpPr>
        <p:spPr>
          <a:xfrm>
            <a:off x="6720840" y="4389120"/>
            <a:ext cx="1889608" cy="274320"/>
          </a:xfrm>
          <a:prstGeom prst="rect">
            <a:avLst/>
          </a:prstGeom>
          <a:noFill/>
          <a:ln/>
        </p:spPr>
        <p:txBody>
          <a:bodyPr wrap="square" lIns="0" tIns="0" rIns="0" bIns="0" rtlCol="0" anchor="t"/>
          <a:lstStyle/>
          <a:p>
            <a:pPr algn="l" indent="0" marL="0">
              <a:buNone/>
            </a:pPr>
            <a:r>
              <a:rPr lang="en-US" sz="1200" b="1" spc="150" kern="0" dirty="0">
                <a:solidFill>
                  <a:srgbClr val="5B6B7D"/>
                </a:solidFill>
              </a:rPr>
              <a:t>FERTILITY</a:t>
            </a:r>
            <a:endParaRPr lang="en-US" sz="1200" dirty="0"/>
          </a:p>
        </p:txBody>
      </p:sp>
      <p:sp>
        <p:nvSpPr>
          <p:cNvPr id="11" name="Stat FERTILITY"/>
          <p:cNvSpPr txBox="1"/>
          <p:nvPr/>
        </p:nvSpPr>
        <p:spPr>
          <a:xfrm>
            <a:off x="6720840" y="4754880"/>
            <a:ext cx="1889608" cy="731520"/>
          </a:xfrm>
          <a:prstGeom prst="rect">
            <a:avLst/>
          </a:prstGeom>
          <a:noFill/>
          <a:ln/>
        </p:spPr>
        <p:txBody>
          <a:bodyPr wrap="square" lIns="0" tIns="0" rIns="0" bIns="0" rtlCol="0" anchor="ctr"/>
          <a:lstStyle/>
          <a:p>
            <a:pPr indent="0" marL="0">
              <a:buNone/>
            </a:pPr>
            <a:r>
              <a:rPr lang="en-US" sz="3400" b="1" dirty="0">
                <a:solidFill>
                  <a:schemeClr val="tx2"/>
                </a:solidFill>
                <a:latin typeface="+mj-lt" pitchFamily="34" charset="0"/>
                <a:ea typeface="+mj-lt" pitchFamily="34" charset="-122"/>
                <a:cs typeface="+mj-lt" pitchFamily="34" charset="-120"/>
              </a:rPr>
              <a:t>1.4 TFR</a:t>
            </a:r>
            <a:endParaRPr lang="en-US" sz="3400" dirty="0"/>
          </a:p>
        </p:txBody>
      </p:sp>
      <p:sp>
        <p:nvSpPr>
          <p:cNvPr id="12" name="Stat card – OVER 65 YRS"/>
          <p:cNvSpPr/>
          <p:nvPr/>
        </p:nvSpPr>
        <p:spPr>
          <a:xfrm>
            <a:off x="9159088" y="4160520"/>
            <a:ext cx="2438248" cy="1554480"/>
          </a:xfrm>
          <a:prstGeom prst="roundRect">
            <a:avLst>
              <a:gd name="adj" fmla="val 7059"/>
            </a:avLst>
          </a:prstGeom>
          <a:solidFill>
            <a:schemeClr val="bg2"/>
          </a:solidFill>
          <a:ln/>
        </p:spPr>
      </p:sp>
      <p:sp>
        <p:nvSpPr>
          <p:cNvPr id="13" name="Text 10"/>
          <p:cNvSpPr txBox="1"/>
          <p:nvPr/>
        </p:nvSpPr>
        <p:spPr>
          <a:xfrm>
            <a:off x="9433408" y="4389120"/>
            <a:ext cx="1889608" cy="274320"/>
          </a:xfrm>
          <a:prstGeom prst="rect">
            <a:avLst/>
          </a:prstGeom>
          <a:noFill/>
          <a:ln/>
        </p:spPr>
        <p:txBody>
          <a:bodyPr wrap="square" lIns="0" tIns="0" rIns="0" bIns="0" rtlCol="0" anchor="t"/>
          <a:lstStyle/>
          <a:p>
            <a:pPr algn="l" indent="0" marL="0">
              <a:buNone/>
            </a:pPr>
            <a:r>
              <a:rPr lang="en-US" sz="1200" b="1" spc="150" kern="0" dirty="0">
                <a:solidFill>
                  <a:srgbClr val="5B6B7D"/>
                </a:solidFill>
              </a:rPr>
              <a:t>OVER 65 YRS</a:t>
            </a:r>
            <a:endParaRPr lang="en-US" sz="1200" dirty="0"/>
          </a:p>
        </p:txBody>
      </p:sp>
      <p:sp>
        <p:nvSpPr>
          <p:cNvPr id="14" name="Stat OVER 65 YRS"/>
          <p:cNvSpPr txBox="1"/>
          <p:nvPr/>
        </p:nvSpPr>
        <p:spPr>
          <a:xfrm>
            <a:off x="9433408" y="4754880"/>
            <a:ext cx="1889608" cy="731520"/>
          </a:xfrm>
          <a:prstGeom prst="rect">
            <a:avLst/>
          </a:prstGeom>
          <a:noFill/>
          <a:ln/>
        </p:spPr>
        <p:txBody>
          <a:bodyPr wrap="square" lIns="0" tIns="0" rIns="0" bIns="0" rtlCol="0" anchor="ctr"/>
          <a:lstStyle/>
          <a:p>
            <a:pPr indent="0" marL="0">
              <a:buNone/>
            </a:pPr>
            <a:r>
              <a:rPr lang="en-US" sz="3400" b="1" dirty="0">
                <a:solidFill>
                  <a:schemeClr val="accent2"/>
                </a:solidFill>
                <a:latin typeface="+mj-lt" pitchFamily="34" charset="0"/>
                <a:ea typeface="+mj-lt" pitchFamily="34" charset="-122"/>
                <a:cs typeface="+mj-lt" pitchFamily="34" charset="-120"/>
              </a:rPr>
              <a:t>21.6%</a:t>
            </a:r>
            <a:endParaRPr lang="en-US" sz="3400" dirty="0"/>
          </a:p>
        </p:txBody>
      </p:sp>
      <p:sp>
        <p:nvSpPr>
          <p:cNvPr id="15" name="Text 0"/>
          <p:cNvSpPr/>
          <p:nvPr>
            <p:ph idx="102" type="body" hasCustomPrompt="1"/>
          </p:nvPr>
        </p:nvSpPr>
        <p:spPr>
          <a:xfrm>
            <a:off x="594360" y="1371600"/>
            <a:ext cx="11002975" cy="36576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94360" y="457200"/>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TERRITORIAL PROFILE</a:t>
            </a:r>
            <a:endParaRPr lang="en-US" sz="1200" dirty="0"/>
          </a:p>
        </p:txBody>
      </p:sp>
      <p:sp>
        <p:nvSpPr>
          <p:cNvPr id="3" name="Text 0"/>
          <p:cNvSpPr/>
          <p:nvPr>
            <p:ph idx="101" type="title" hasCustomPrompt="1"/>
          </p:nvPr>
        </p:nvSpPr>
        <p:spPr>
          <a:xfrm>
            <a:off x="594360" y="731520"/>
            <a:ext cx="11002975" cy="1005840"/>
          </a:xfrm>
          <a:prstGeom prst="rect">
            <a:avLst/>
          </a:prstGeom>
          <a:noFill/>
          <a:ln/>
        </p:spPr>
        <p:txBody>
          <a:bodyPr wrap="square" lIns="0" tIns="0" rIns="0" bIns="0" rtlCol="0" anchor="t"/>
          <a:lstStyle/>
          <a:p>
            <a:pPr algn="l" indent="0" marL="0">
              <a:buNone/>
            </a:pPr>
            <a:r>
              <a:rPr lang="en-US" sz="3200" b="1" dirty="0">
                <a:solidFill>
                  <a:schemeClr val="tx2"/>
                </a:solidFill>
              </a:rPr>
              <a:t>Puerto Rico: Rapid Population Decline</a:t>
            </a:r>
            <a:endParaRPr lang="en-US" sz="3200" dirty="0"/>
          </a:p>
        </p:txBody>
      </p:sp>
      <p:sp>
        <p:nvSpPr>
          <p:cNvPr id="4" name="Stat panel"/>
          <p:cNvSpPr/>
          <p:nvPr/>
        </p:nvSpPr>
        <p:spPr>
          <a:xfrm>
            <a:off x="594360" y="1828800"/>
            <a:ext cx="11002975" cy="4114800"/>
          </a:xfrm>
          <a:prstGeom prst="roundRect">
            <a:avLst>
              <a:gd name="adj" fmla="val 2667"/>
            </a:avLst>
          </a:prstGeom>
          <a:solidFill>
            <a:schemeClr val="tx2"/>
          </a:solidFill>
          <a:ln/>
        </p:spPr>
      </p:sp>
      <p:sp>
        <p:nvSpPr>
          <p:cNvPr id="5" name="Decline badge"/>
          <p:cNvSpPr/>
          <p:nvPr/>
        </p:nvSpPr>
        <p:spPr>
          <a:xfrm>
            <a:off x="1234440" y="2468880"/>
            <a:ext cx="1005840" cy="1005840"/>
          </a:xfrm>
          <a:prstGeom prst="ellipse">
            <a:avLst/>
          </a:prstGeom>
          <a:solidFill>
            <a:schemeClr val="accent4"/>
          </a:solidFill>
          <a:ln/>
        </p:spPr>
      </p:sp>
      <p:pic>
        <p:nvPicPr>
          <p:cNvPr id="6" name="Decline icon" descr="/tmp/claude-0/-home-user-Arturo/8d4d3924-7078-5160-a89d-b2e82f900b72/scratchpad/work/build/assets/icons/trendDown_FFFFFF.png">    </p:cNvPr>
          <p:cNvPicPr>
            <a:picLocks noChangeAspect="1"/>
          </p:cNvPicPr>
          <p:nvPr/>
        </p:nvPicPr>
        <p:blipFill>
          <a:blip r:embed="rId1"/>
          <a:stretch>
            <a:fillRect/>
          </a:stretch>
        </p:blipFill>
        <p:spPr>
          <a:xfrm>
            <a:off x="1485900" y="2720340"/>
            <a:ext cx="502920" cy="502920"/>
          </a:xfrm>
          <a:prstGeom prst="rect">
            <a:avLst/>
          </a:prstGeom>
        </p:spPr>
      </p:pic>
      <p:sp>
        <p:nvSpPr>
          <p:cNvPr id="7" name="Stat -14.2%"/>
          <p:cNvSpPr txBox="1"/>
          <p:nvPr/>
        </p:nvSpPr>
        <p:spPr>
          <a:xfrm>
            <a:off x="2606040" y="2331720"/>
            <a:ext cx="5120640" cy="1828800"/>
          </a:xfrm>
          <a:prstGeom prst="rect">
            <a:avLst/>
          </a:prstGeom>
          <a:noFill/>
          <a:ln/>
        </p:spPr>
        <p:txBody>
          <a:bodyPr wrap="square" lIns="0" tIns="0" rIns="0" bIns="0" rtlCol="0" anchor="ctr"/>
          <a:lstStyle/>
          <a:p>
            <a:pPr indent="0" marL="0">
              <a:buNone/>
            </a:pPr>
            <a:r>
              <a:rPr lang="en-US" sz="12000" b="1" dirty="0">
                <a:solidFill>
                  <a:schemeClr val="bg1"/>
                </a:solidFill>
                <a:latin typeface="+mj-lt" pitchFamily="34" charset="0"/>
                <a:ea typeface="+mj-lt" pitchFamily="34" charset="-122"/>
                <a:cs typeface="+mj-lt" pitchFamily="34" charset="-120"/>
              </a:rPr>
              <a:t>-14.2%</a:t>
            </a:r>
            <a:endParaRPr lang="en-US" sz="12000" dirty="0"/>
          </a:p>
        </p:txBody>
      </p:sp>
      <p:sp>
        <p:nvSpPr>
          <p:cNvPr id="8" name="Text 5"/>
          <p:cNvSpPr txBox="1"/>
          <p:nvPr/>
        </p:nvSpPr>
        <p:spPr>
          <a:xfrm>
            <a:off x="7772400" y="2560320"/>
            <a:ext cx="3474720" cy="2926080"/>
          </a:xfrm>
          <a:prstGeom prst="rect">
            <a:avLst/>
          </a:prstGeom>
          <a:noFill/>
          <a:ln/>
        </p:spPr>
        <p:txBody>
          <a:bodyPr wrap="square" lIns="0" tIns="0" rIns="0" bIns="0" rtlCol="0" anchor="ctr"/>
          <a:lstStyle/>
          <a:p>
            <a:pPr algn="l" indent="0" marL="0">
              <a:buNone/>
            </a:pPr>
            <a:r>
              <a:rPr lang="en-US" sz="2200" dirty="0">
                <a:solidFill>
                  <a:srgbClr val="E6EEF6"/>
                </a:solidFill>
              </a:rPr>
              <a:t>Population drop since 2010 due to economic exodus to US mainland and ultra-low births (0.9 TFR).</a:t>
            </a:r>
            <a:endParaRPr lang="en-US" sz="2200" dirty="0"/>
          </a:p>
        </p:txBody>
      </p:sp>
      <p:sp>
        <p:nvSpPr>
          <p:cNvPr id="9" name="Text 0"/>
          <p:cNvSpPr/>
          <p:nvPr>
            <p:ph idx="102" type="body" hasCustomPrompt="1"/>
          </p:nvPr>
        </p:nvSpPr>
        <p:spPr>
          <a:xfrm>
            <a:off x="594360" y="1371600"/>
            <a:ext cx="11002975" cy="36576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94360" y="457200"/>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ISLAND PROFILE</a:t>
            </a:r>
            <a:endParaRPr lang="en-US" sz="1200" dirty="0"/>
          </a:p>
        </p:txBody>
      </p:sp>
      <p:sp>
        <p:nvSpPr>
          <p:cNvPr id="3" name="Text 0"/>
          <p:cNvSpPr/>
          <p:nvPr>
            <p:ph idx="101" type="title" hasCustomPrompt="1"/>
          </p:nvPr>
        </p:nvSpPr>
        <p:spPr>
          <a:xfrm>
            <a:off x="594360" y="731520"/>
            <a:ext cx="11002975" cy="1005840"/>
          </a:xfrm>
          <a:prstGeom prst="rect">
            <a:avLst/>
          </a:prstGeom>
          <a:noFill/>
          <a:ln/>
        </p:spPr>
        <p:txBody>
          <a:bodyPr wrap="square" lIns="0" tIns="0" rIns="0" bIns="0" rtlCol="0" anchor="t"/>
          <a:lstStyle/>
          <a:p>
            <a:pPr algn="l" indent="0" marL="0">
              <a:buNone/>
            </a:pPr>
            <a:r>
              <a:rPr lang="en-US" sz="3200" b="1" dirty="0">
                <a:solidFill>
                  <a:schemeClr val="tx2"/>
                </a:solidFill>
              </a:rPr>
              <a:t>Jamaica: Stagnation &amp; Youth Outflow</a:t>
            </a:r>
            <a:endParaRPr lang="en-US" sz="3200" dirty="0"/>
          </a:p>
        </p:txBody>
      </p:sp>
      <p:sp>
        <p:nvSpPr>
          <p:cNvPr id="4" name="Card – Informal economy"/>
          <p:cNvSpPr/>
          <p:nvPr/>
        </p:nvSpPr>
        <p:spPr>
          <a:xfrm>
            <a:off x="594360" y="1783080"/>
            <a:ext cx="5364328" cy="1600200"/>
          </a:xfrm>
          <a:prstGeom prst="roundRect">
            <a:avLst>
              <a:gd name="adj" fmla="val 6857"/>
            </a:avLst>
          </a:prstGeom>
          <a:solidFill>
            <a:schemeClr val="bg2"/>
          </a:solidFill>
          <a:ln/>
        </p:spPr>
      </p:sp>
      <p:sp>
        <p:nvSpPr>
          <p:cNvPr id="5" name="Informal economy badge"/>
          <p:cNvSpPr/>
          <p:nvPr/>
        </p:nvSpPr>
        <p:spPr>
          <a:xfrm>
            <a:off x="868680" y="2217420"/>
            <a:ext cx="731520" cy="731520"/>
          </a:xfrm>
          <a:prstGeom prst="ellipse">
            <a:avLst/>
          </a:prstGeom>
          <a:solidFill>
            <a:schemeClr val="accent1"/>
          </a:solidFill>
          <a:ln/>
        </p:spPr>
      </p:sp>
      <p:pic>
        <p:nvPicPr>
          <p:cNvPr id="6" name="Informal economy icon" descr="/tmp/claude-0/-home-user-Arturo/8d4d3924-7078-5160-a89d-b2e82f900b72/scratchpad/work/build/assets/icons/store_FFFFFF.png">    </p:cNvPr>
          <p:cNvPicPr>
            <a:picLocks noChangeAspect="1"/>
          </p:cNvPicPr>
          <p:nvPr/>
        </p:nvPicPr>
        <p:blipFill>
          <a:blip r:embed="rId1"/>
          <a:stretch>
            <a:fillRect/>
          </a:stretch>
        </p:blipFill>
        <p:spPr>
          <a:xfrm>
            <a:off x="1051560" y="2400300"/>
            <a:ext cx="365760" cy="365760"/>
          </a:xfrm>
          <a:prstGeom prst="rect">
            <a:avLst/>
          </a:prstGeom>
        </p:spPr>
      </p:pic>
      <p:sp>
        <p:nvSpPr>
          <p:cNvPr id="7" name="Heading"/>
          <p:cNvSpPr txBox="1"/>
          <p:nvPr/>
        </p:nvSpPr>
        <p:spPr>
          <a:xfrm>
            <a:off x="1828800" y="2039112"/>
            <a:ext cx="3855568" cy="310896"/>
          </a:xfrm>
          <a:prstGeom prst="rect">
            <a:avLst/>
          </a:prstGeom>
          <a:noFill/>
          <a:ln/>
        </p:spPr>
        <p:txBody>
          <a:bodyPr wrap="square" lIns="0" tIns="0" rIns="0" bIns="0" rtlCol="0" anchor="t"/>
          <a:lstStyle/>
          <a:p>
            <a:pPr algn="l" indent="0" marL="0">
              <a:buNone/>
            </a:pPr>
            <a:r>
              <a:rPr lang="en-US" sz="1900" b="1" dirty="0">
                <a:solidFill>
                  <a:schemeClr val="tx2"/>
                </a:solidFill>
              </a:rPr>
              <a:t>Informal economy</a:t>
            </a:r>
            <a:endParaRPr lang="en-US" sz="1900" dirty="0"/>
          </a:p>
        </p:txBody>
      </p:sp>
      <p:sp>
        <p:nvSpPr>
          <p:cNvPr id="8" name="Text 5"/>
          <p:cNvSpPr txBox="1"/>
          <p:nvPr/>
        </p:nvSpPr>
        <p:spPr>
          <a:xfrm>
            <a:off x="1828800" y="2423160"/>
            <a:ext cx="3855568" cy="822960"/>
          </a:xfrm>
          <a:prstGeom prst="rect">
            <a:avLst/>
          </a:prstGeom>
          <a:noFill/>
          <a:ln/>
        </p:spPr>
        <p:txBody>
          <a:bodyPr wrap="square" lIns="0" tIns="0" rIns="0" bIns="0" rtlCol="0" anchor="t"/>
          <a:lstStyle/>
          <a:p>
            <a:pPr algn="l" indent="0" marL="0">
              <a:buNone/>
            </a:pPr>
            <a:r>
              <a:rPr lang="en-US" sz="1500" dirty="0">
                <a:solidFill>
                  <a:srgbClr val="34475C"/>
                </a:solidFill>
              </a:rPr>
              <a:t>Large infromal economy, low coverage, large number of elderly with no pension</a:t>
            </a:r>
            <a:endParaRPr lang="en-US" sz="1500" dirty="0"/>
          </a:p>
        </p:txBody>
      </p:sp>
      <p:sp>
        <p:nvSpPr>
          <p:cNvPr id="9" name="Card – Non-contributory pensions"/>
          <p:cNvSpPr/>
          <p:nvPr/>
        </p:nvSpPr>
        <p:spPr>
          <a:xfrm>
            <a:off x="6233008" y="1783080"/>
            <a:ext cx="5364328" cy="1600200"/>
          </a:xfrm>
          <a:prstGeom prst="roundRect">
            <a:avLst>
              <a:gd name="adj" fmla="val 6857"/>
            </a:avLst>
          </a:prstGeom>
          <a:solidFill>
            <a:schemeClr val="bg2"/>
          </a:solidFill>
          <a:ln/>
        </p:spPr>
      </p:sp>
      <p:sp>
        <p:nvSpPr>
          <p:cNvPr id="10" name="Non-contributory pensions badge"/>
          <p:cNvSpPr/>
          <p:nvPr/>
        </p:nvSpPr>
        <p:spPr>
          <a:xfrm>
            <a:off x="6507328" y="2217420"/>
            <a:ext cx="731520" cy="731520"/>
          </a:xfrm>
          <a:prstGeom prst="ellipse">
            <a:avLst/>
          </a:prstGeom>
          <a:solidFill>
            <a:schemeClr val="accent1"/>
          </a:solidFill>
          <a:ln/>
        </p:spPr>
      </p:sp>
      <p:pic>
        <p:nvPicPr>
          <p:cNvPr id="11" name="Non-contributory pensions icon" descr="/tmp/claude-0/-home-user-Arturo/8d4d3924-7078-5160-a89d-b2e82f900b72/scratchpad/work/build/assets/icons/handUsd_FFFFFF.png">    </p:cNvPr>
          <p:cNvPicPr>
            <a:picLocks noChangeAspect="1"/>
          </p:cNvPicPr>
          <p:nvPr/>
        </p:nvPicPr>
        <p:blipFill>
          <a:blip r:embed="rId2"/>
          <a:stretch>
            <a:fillRect/>
          </a:stretch>
        </p:blipFill>
        <p:spPr>
          <a:xfrm>
            <a:off x="6690208" y="2400300"/>
            <a:ext cx="365760" cy="365760"/>
          </a:xfrm>
          <a:prstGeom prst="rect">
            <a:avLst/>
          </a:prstGeom>
        </p:spPr>
      </p:pic>
      <p:sp>
        <p:nvSpPr>
          <p:cNvPr id="12" name="Heading"/>
          <p:cNvSpPr txBox="1"/>
          <p:nvPr/>
        </p:nvSpPr>
        <p:spPr>
          <a:xfrm>
            <a:off x="7467448" y="2039112"/>
            <a:ext cx="3855568" cy="310896"/>
          </a:xfrm>
          <a:prstGeom prst="rect">
            <a:avLst/>
          </a:prstGeom>
          <a:noFill/>
          <a:ln/>
        </p:spPr>
        <p:txBody>
          <a:bodyPr wrap="square" lIns="0" tIns="0" rIns="0" bIns="0" rtlCol="0" anchor="t"/>
          <a:lstStyle/>
          <a:p>
            <a:pPr algn="l" indent="0" marL="0">
              <a:buNone/>
            </a:pPr>
            <a:r>
              <a:rPr lang="en-US" sz="1900" b="1" dirty="0">
                <a:solidFill>
                  <a:schemeClr val="tx2"/>
                </a:solidFill>
              </a:rPr>
              <a:t>Non-contributory pensions</a:t>
            </a:r>
            <a:endParaRPr lang="en-US" sz="1900" dirty="0"/>
          </a:p>
        </p:txBody>
      </p:sp>
      <p:sp>
        <p:nvSpPr>
          <p:cNvPr id="13" name="Text 9"/>
          <p:cNvSpPr txBox="1"/>
          <p:nvPr/>
        </p:nvSpPr>
        <p:spPr>
          <a:xfrm>
            <a:off x="7467448" y="2423160"/>
            <a:ext cx="3855568" cy="822960"/>
          </a:xfrm>
          <a:prstGeom prst="rect">
            <a:avLst/>
          </a:prstGeom>
          <a:noFill/>
          <a:ln/>
        </p:spPr>
        <p:txBody>
          <a:bodyPr wrap="square" lIns="0" tIns="0" rIns="0" bIns="0" rtlCol="0" anchor="t"/>
          <a:lstStyle/>
          <a:p>
            <a:pPr algn="l" indent="0" marL="0">
              <a:buNone/>
            </a:pPr>
            <a:r>
              <a:rPr lang="en-US" sz="1500" dirty="0">
                <a:solidFill>
                  <a:srgbClr val="34475C"/>
                </a:solidFill>
              </a:rPr>
              <a:t>Relatively recent programs to support elderly with no pension</a:t>
            </a:r>
            <a:endParaRPr lang="en-US" sz="1500" dirty="0"/>
          </a:p>
        </p:txBody>
      </p:sp>
      <p:sp>
        <p:nvSpPr>
          <p:cNvPr id="14" name="Card – Zero Growth"/>
          <p:cNvSpPr/>
          <p:nvPr/>
        </p:nvSpPr>
        <p:spPr>
          <a:xfrm>
            <a:off x="594360" y="3611880"/>
            <a:ext cx="3484778" cy="2286000"/>
          </a:xfrm>
          <a:prstGeom prst="roundRect">
            <a:avLst>
              <a:gd name="adj" fmla="val 4800"/>
            </a:avLst>
          </a:prstGeom>
          <a:solidFill>
            <a:schemeClr val="bg2"/>
          </a:solidFill>
          <a:ln/>
        </p:spPr>
      </p:sp>
      <p:sp>
        <p:nvSpPr>
          <p:cNvPr id="15" name="Zero Growth badge"/>
          <p:cNvSpPr/>
          <p:nvPr/>
        </p:nvSpPr>
        <p:spPr>
          <a:xfrm>
            <a:off x="868680" y="3867912"/>
            <a:ext cx="566928" cy="566928"/>
          </a:xfrm>
          <a:prstGeom prst="ellipse">
            <a:avLst/>
          </a:prstGeom>
          <a:solidFill>
            <a:schemeClr val="accent1"/>
          </a:solidFill>
          <a:ln/>
        </p:spPr>
      </p:sp>
      <p:pic>
        <p:nvPicPr>
          <p:cNvPr id="16" name="Zero Growth icon" descr="/tmp/claude-0/-home-user-Arturo/8d4d3924-7078-5160-a89d-b2e82f900b72/scratchpad/work/build/assets/icons/chartLine_FFFFFF.png">    </p:cNvPr>
          <p:cNvPicPr>
            <a:picLocks noChangeAspect="1"/>
          </p:cNvPicPr>
          <p:nvPr/>
        </p:nvPicPr>
        <p:blipFill>
          <a:blip r:embed="rId3"/>
          <a:stretch>
            <a:fillRect/>
          </a:stretch>
        </p:blipFill>
        <p:spPr>
          <a:xfrm>
            <a:off x="1010412" y="4009644"/>
            <a:ext cx="283464" cy="283464"/>
          </a:xfrm>
          <a:prstGeom prst="rect">
            <a:avLst/>
          </a:prstGeom>
        </p:spPr>
      </p:pic>
      <p:sp>
        <p:nvSpPr>
          <p:cNvPr id="17" name="Heading"/>
          <p:cNvSpPr txBox="1"/>
          <p:nvPr/>
        </p:nvSpPr>
        <p:spPr>
          <a:xfrm>
            <a:off x="868680" y="4617720"/>
            <a:ext cx="2936138" cy="292608"/>
          </a:xfrm>
          <a:prstGeom prst="rect">
            <a:avLst/>
          </a:prstGeom>
          <a:noFill/>
          <a:ln/>
        </p:spPr>
        <p:txBody>
          <a:bodyPr wrap="square" lIns="0" tIns="0" rIns="0" bIns="0" rtlCol="0" anchor="t"/>
          <a:lstStyle/>
          <a:p>
            <a:pPr algn="l" indent="0" marL="0">
              <a:buNone/>
            </a:pPr>
            <a:r>
              <a:rPr lang="en-US" sz="1600" b="1" dirty="0">
                <a:solidFill>
                  <a:schemeClr val="tx2"/>
                </a:solidFill>
              </a:rPr>
              <a:t>Zero Growth</a:t>
            </a:r>
            <a:endParaRPr lang="en-US" sz="1600" dirty="0"/>
          </a:p>
        </p:txBody>
      </p:sp>
      <p:sp>
        <p:nvSpPr>
          <p:cNvPr id="18" name="Text 13"/>
          <p:cNvSpPr txBox="1"/>
          <p:nvPr/>
        </p:nvSpPr>
        <p:spPr>
          <a:xfrm>
            <a:off x="868680" y="4946904"/>
            <a:ext cx="2936138" cy="859536"/>
          </a:xfrm>
          <a:prstGeom prst="rect">
            <a:avLst/>
          </a:prstGeom>
          <a:noFill/>
          <a:ln/>
        </p:spPr>
        <p:txBody>
          <a:bodyPr wrap="square" lIns="0" tIns="0" rIns="0" bIns="0" rtlCol="0" anchor="t"/>
          <a:lstStyle/>
          <a:p>
            <a:pPr algn="l" indent="0" marL="0">
              <a:buNone/>
            </a:pPr>
            <a:r>
              <a:rPr lang="en-US" sz="1400" dirty="0">
                <a:solidFill>
                  <a:srgbClr val="34475C"/>
                </a:solidFill>
              </a:rPr>
              <a:t>Population stable at 2.83M due to high outward migration balancing natural increase.</a:t>
            </a:r>
            <a:endParaRPr lang="en-US" sz="1400" dirty="0"/>
          </a:p>
        </p:txBody>
      </p:sp>
      <p:sp>
        <p:nvSpPr>
          <p:cNvPr id="19" name="Card – Skilled Labor Deficit"/>
          <p:cNvSpPr/>
          <p:nvPr/>
        </p:nvSpPr>
        <p:spPr>
          <a:xfrm>
            <a:off x="4353458" y="3611880"/>
            <a:ext cx="3484778" cy="2286000"/>
          </a:xfrm>
          <a:prstGeom prst="roundRect">
            <a:avLst>
              <a:gd name="adj" fmla="val 4800"/>
            </a:avLst>
          </a:prstGeom>
          <a:solidFill>
            <a:schemeClr val="bg2"/>
          </a:solidFill>
          <a:ln/>
        </p:spPr>
      </p:sp>
      <p:sp>
        <p:nvSpPr>
          <p:cNvPr id="20" name="Skilled Labor Deficit badge"/>
          <p:cNvSpPr/>
          <p:nvPr/>
        </p:nvSpPr>
        <p:spPr>
          <a:xfrm>
            <a:off x="4627778" y="3867912"/>
            <a:ext cx="566928" cy="566928"/>
          </a:xfrm>
          <a:prstGeom prst="ellipse">
            <a:avLst/>
          </a:prstGeom>
          <a:solidFill>
            <a:schemeClr val="accent1"/>
          </a:solidFill>
          <a:ln/>
        </p:spPr>
      </p:sp>
      <p:pic>
        <p:nvPicPr>
          <p:cNvPr id="21" name="Skilled Labor Deficit icon" descr="/tmp/claude-0/-home-user-Arturo/8d4d3924-7078-5160-a89d-b2e82f900b72/scratchpad/work/build/assets/icons/teacher_FFFFFF.png">    </p:cNvPr>
          <p:cNvPicPr>
            <a:picLocks noChangeAspect="1"/>
          </p:cNvPicPr>
          <p:nvPr/>
        </p:nvPicPr>
        <p:blipFill>
          <a:blip r:embed="rId4"/>
          <a:stretch>
            <a:fillRect/>
          </a:stretch>
        </p:blipFill>
        <p:spPr>
          <a:xfrm>
            <a:off x="4769510" y="4009644"/>
            <a:ext cx="283464" cy="283464"/>
          </a:xfrm>
          <a:prstGeom prst="rect">
            <a:avLst/>
          </a:prstGeom>
        </p:spPr>
      </p:pic>
      <p:sp>
        <p:nvSpPr>
          <p:cNvPr id="22" name="Heading"/>
          <p:cNvSpPr txBox="1"/>
          <p:nvPr/>
        </p:nvSpPr>
        <p:spPr>
          <a:xfrm>
            <a:off x="4627778" y="4617720"/>
            <a:ext cx="2936138" cy="292608"/>
          </a:xfrm>
          <a:prstGeom prst="rect">
            <a:avLst/>
          </a:prstGeom>
          <a:noFill/>
          <a:ln/>
        </p:spPr>
        <p:txBody>
          <a:bodyPr wrap="square" lIns="0" tIns="0" rIns="0" bIns="0" rtlCol="0" anchor="t"/>
          <a:lstStyle/>
          <a:p>
            <a:pPr algn="l" indent="0" marL="0">
              <a:buNone/>
            </a:pPr>
            <a:r>
              <a:rPr lang="en-US" sz="1600" b="1" dirty="0">
                <a:solidFill>
                  <a:schemeClr val="tx2"/>
                </a:solidFill>
              </a:rPr>
              <a:t>Skilled Labor Deficit</a:t>
            </a:r>
            <a:endParaRPr lang="en-US" sz="1600" dirty="0"/>
          </a:p>
        </p:txBody>
      </p:sp>
      <p:sp>
        <p:nvSpPr>
          <p:cNvPr id="23" name="Text 17"/>
          <p:cNvSpPr txBox="1"/>
          <p:nvPr/>
        </p:nvSpPr>
        <p:spPr>
          <a:xfrm>
            <a:off x="4627778" y="4946904"/>
            <a:ext cx="2936138" cy="859536"/>
          </a:xfrm>
          <a:prstGeom prst="rect">
            <a:avLst/>
          </a:prstGeom>
          <a:noFill/>
          <a:ln/>
        </p:spPr>
        <p:txBody>
          <a:bodyPr wrap="square" lIns="0" tIns="0" rIns="0" bIns="0" rtlCol="0" anchor="t"/>
          <a:lstStyle/>
          <a:p>
            <a:pPr algn="l" indent="0" marL="0">
              <a:buNone/>
            </a:pPr>
            <a:r>
              <a:rPr lang="en-US" sz="1400" dirty="0">
                <a:solidFill>
                  <a:srgbClr val="34475C"/>
                </a:solidFill>
              </a:rPr>
              <a:t>Teachers and healthcare workers actively recruited by US and UK institutions.</a:t>
            </a:r>
            <a:endParaRPr lang="en-US" sz="1400" dirty="0"/>
          </a:p>
        </p:txBody>
      </p:sp>
      <p:sp>
        <p:nvSpPr>
          <p:cNvPr id="24" name="Card – Urban Shift"/>
          <p:cNvSpPr/>
          <p:nvPr/>
        </p:nvSpPr>
        <p:spPr>
          <a:xfrm>
            <a:off x="8112557" y="3611880"/>
            <a:ext cx="3484778" cy="2286000"/>
          </a:xfrm>
          <a:prstGeom prst="roundRect">
            <a:avLst>
              <a:gd name="adj" fmla="val 4800"/>
            </a:avLst>
          </a:prstGeom>
          <a:solidFill>
            <a:schemeClr val="bg2"/>
          </a:solidFill>
          <a:ln/>
        </p:spPr>
      </p:sp>
      <p:sp>
        <p:nvSpPr>
          <p:cNvPr id="25" name="Urban Shift badge"/>
          <p:cNvSpPr/>
          <p:nvPr/>
        </p:nvSpPr>
        <p:spPr>
          <a:xfrm>
            <a:off x="8386877" y="3867912"/>
            <a:ext cx="566928" cy="566928"/>
          </a:xfrm>
          <a:prstGeom prst="ellipse">
            <a:avLst/>
          </a:prstGeom>
          <a:solidFill>
            <a:schemeClr val="accent1"/>
          </a:solidFill>
          <a:ln/>
        </p:spPr>
      </p:sp>
      <p:pic>
        <p:nvPicPr>
          <p:cNvPr id="26" name="Urban Shift icon" descr="/tmp/claude-0/-home-user-Arturo/8d4d3924-7078-5160-a89d-b2e82f900b72/scratchpad/work/build/assets/icons/city_FFFFFF.png">    </p:cNvPr>
          <p:cNvPicPr>
            <a:picLocks noChangeAspect="1"/>
          </p:cNvPicPr>
          <p:nvPr/>
        </p:nvPicPr>
        <p:blipFill>
          <a:blip r:embed="rId5"/>
          <a:stretch>
            <a:fillRect/>
          </a:stretch>
        </p:blipFill>
        <p:spPr>
          <a:xfrm>
            <a:off x="8528609" y="4009644"/>
            <a:ext cx="283464" cy="283464"/>
          </a:xfrm>
          <a:prstGeom prst="rect">
            <a:avLst/>
          </a:prstGeom>
        </p:spPr>
      </p:pic>
      <p:sp>
        <p:nvSpPr>
          <p:cNvPr id="27" name="Heading"/>
          <p:cNvSpPr txBox="1"/>
          <p:nvPr/>
        </p:nvSpPr>
        <p:spPr>
          <a:xfrm>
            <a:off x="8386877" y="4617720"/>
            <a:ext cx="2936138" cy="292608"/>
          </a:xfrm>
          <a:prstGeom prst="rect">
            <a:avLst/>
          </a:prstGeom>
          <a:noFill/>
          <a:ln/>
        </p:spPr>
        <p:txBody>
          <a:bodyPr wrap="square" lIns="0" tIns="0" rIns="0" bIns="0" rtlCol="0" anchor="t"/>
          <a:lstStyle/>
          <a:p>
            <a:pPr algn="l" indent="0" marL="0">
              <a:buNone/>
            </a:pPr>
            <a:r>
              <a:rPr lang="en-US" sz="1600" b="1" dirty="0">
                <a:solidFill>
                  <a:schemeClr val="tx2"/>
                </a:solidFill>
              </a:rPr>
              <a:t>Urban Shift</a:t>
            </a:r>
            <a:endParaRPr lang="en-US" sz="1600" dirty="0"/>
          </a:p>
        </p:txBody>
      </p:sp>
      <p:sp>
        <p:nvSpPr>
          <p:cNvPr id="28" name="Text 21"/>
          <p:cNvSpPr txBox="1"/>
          <p:nvPr/>
        </p:nvSpPr>
        <p:spPr>
          <a:xfrm>
            <a:off x="8386877" y="4946904"/>
            <a:ext cx="2936138" cy="859536"/>
          </a:xfrm>
          <a:prstGeom prst="rect">
            <a:avLst/>
          </a:prstGeom>
          <a:noFill/>
          <a:ln/>
        </p:spPr>
        <p:txBody>
          <a:bodyPr wrap="square" lIns="0" tIns="0" rIns="0" bIns="0" rtlCol="0" anchor="t"/>
          <a:lstStyle/>
          <a:p>
            <a:pPr algn="l" indent="0" marL="0">
              <a:buNone/>
            </a:pPr>
            <a:r>
              <a:rPr lang="en-US" sz="1400" dirty="0">
                <a:solidFill>
                  <a:srgbClr val="34475C"/>
                </a:solidFill>
              </a:rPr>
              <a:t>56.7% urbanized with heavy focus in Kingston Metropolitan Area.</a:t>
            </a:r>
            <a:endParaRPr lang="en-US" sz="1400" dirty="0"/>
          </a:p>
        </p:txBody>
      </p:sp>
      <p:sp>
        <p:nvSpPr>
          <p:cNvPr id="29" name="Text 0"/>
          <p:cNvSpPr/>
          <p:nvPr>
            <p:ph idx="102" type="body" hasCustomPrompt="1"/>
          </p:nvPr>
        </p:nvSpPr>
        <p:spPr>
          <a:xfrm>
            <a:off x="594360" y="1371600"/>
            <a:ext cx="11002975" cy="36576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94360" y="457200"/>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SOUTHERN CARIBBEAN PROFILE</a:t>
            </a:r>
            <a:endParaRPr lang="en-US" sz="1200" dirty="0"/>
          </a:p>
        </p:txBody>
      </p:sp>
      <p:sp>
        <p:nvSpPr>
          <p:cNvPr id="3" name="Text 0"/>
          <p:cNvSpPr/>
          <p:nvPr>
            <p:ph idx="101" type="title" hasCustomPrompt="1"/>
          </p:nvPr>
        </p:nvSpPr>
        <p:spPr>
          <a:xfrm>
            <a:off x="594360" y="731520"/>
            <a:ext cx="11002975" cy="1005840"/>
          </a:xfrm>
          <a:prstGeom prst="rect">
            <a:avLst/>
          </a:prstGeom>
          <a:noFill/>
          <a:ln/>
        </p:spPr>
        <p:txBody>
          <a:bodyPr wrap="square" lIns="0" tIns="0" rIns="0" bIns="0" rtlCol="0" anchor="t"/>
          <a:lstStyle/>
          <a:p>
            <a:pPr algn="l" indent="0" marL="0">
              <a:buNone/>
            </a:pPr>
            <a:r>
              <a:rPr lang="en-US" sz="3200" b="1" dirty="0">
                <a:solidFill>
                  <a:schemeClr val="tx2"/>
                </a:solidFill>
              </a:rPr>
              <a:t>Trinidad &amp; Tobago: Demographics</a:t>
            </a:r>
            <a:endParaRPr lang="en-US" sz="3200" dirty="0"/>
          </a:p>
        </p:txBody>
      </p:sp>
      <p:sp>
        <p:nvSpPr>
          <p:cNvPr id="4" name="Card – Fast aging (39 year median age)"/>
          <p:cNvSpPr/>
          <p:nvPr/>
        </p:nvSpPr>
        <p:spPr>
          <a:xfrm>
            <a:off x="594360" y="1828800"/>
            <a:ext cx="5364328" cy="914400"/>
          </a:xfrm>
          <a:prstGeom prst="roundRect">
            <a:avLst>
              <a:gd name="adj" fmla="val 12000"/>
            </a:avLst>
          </a:prstGeom>
          <a:solidFill>
            <a:schemeClr val="bg2"/>
          </a:solidFill>
          <a:ln/>
        </p:spPr>
      </p:sp>
      <p:sp>
        <p:nvSpPr>
          <p:cNvPr id="5" name="Fast aging (39 year median age) badge"/>
          <p:cNvSpPr/>
          <p:nvPr/>
        </p:nvSpPr>
        <p:spPr>
          <a:xfrm>
            <a:off x="868680" y="1984248"/>
            <a:ext cx="603504" cy="603504"/>
          </a:xfrm>
          <a:prstGeom prst="ellipse">
            <a:avLst/>
          </a:prstGeom>
          <a:solidFill>
            <a:schemeClr val="accent1"/>
          </a:solidFill>
          <a:ln/>
        </p:spPr>
      </p:sp>
      <p:pic>
        <p:nvPicPr>
          <p:cNvPr id="6" name="Fast aging (39 year median age) icon" descr="/tmp/claude-0/-home-user-Arturo/8d4d3924-7078-5160-a89d-b2e82f900b72/scratchpad/work/build/assets/icons/hourglass_FFFFFF.png">    </p:cNvPr>
          <p:cNvPicPr>
            <a:picLocks noChangeAspect="1"/>
          </p:cNvPicPr>
          <p:nvPr/>
        </p:nvPicPr>
        <p:blipFill>
          <a:blip r:embed="rId1"/>
          <a:stretch>
            <a:fillRect/>
          </a:stretch>
        </p:blipFill>
        <p:spPr>
          <a:xfrm>
            <a:off x="1019556" y="2135124"/>
            <a:ext cx="301752" cy="301752"/>
          </a:xfrm>
          <a:prstGeom prst="rect">
            <a:avLst/>
          </a:prstGeom>
        </p:spPr>
      </p:pic>
      <p:sp>
        <p:nvSpPr>
          <p:cNvPr id="7" name="Text 4"/>
          <p:cNvSpPr txBox="1"/>
          <p:nvPr/>
        </p:nvSpPr>
        <p:spPr>
          <a:xfrm>
            <a:off x="1691640" y="1828800"/>
            <a:ext cx="4038448" cy="914400"/>
          </a:xfrm>
          <a:prstGeom prst="rect">
            <a:avLst/>
          </a:prstGeom>
          <a:noFill/>
          <a:ln/>
        </p:spPr>
        <p:txBody>
          <a:bodyPr wrap="square" lIns="0" tIns="0" rIns="0" bIns="0" rtlCol="0" anchor="ctr"/>
          <a:lstStyle/>
          <a:p>
            <a:pPr algn="l" indent="0" marL="0">
              <a:buNone/>
            </a:pPr>
            <a:r>
              <a:rPr lang="en-US" sz="1900" b="1" dirty="0">
                <a:solidFill>
                  <a:schemeClr val="tx2"/>
                </a:solidFill>
              </a:rPr>
              <a:t>Fast aging (39 year median age)</a:t>
            </a:r>
            <a:endParaRPr lang="en-US" sz="1900" dirty="0"/>
          </a:p>
        </p:txBody>
      </p:sp>
      <p:sp>
        <p:nvSpPr>
          <p:cNvPr id="8" name="Card – Fertility rate: 1.6 children"/>
          <p:cNvSpPr/>
          <p:nvPr/>
        </p:nvSpPr>
        <p:spPr>
          <a:xfrm>
            <a:off x="594360" y="2926080"/>
            <a:ext cx="5364328" cy="914400"/>
          </a:xfrm>
          <a:prstGeom prst="roundRect">
            <a:avLst>
              <a:gd name="adj" fmla="val 12000"/>
            </a:avLst>
          </a:prstGeom>
          <a:solidFill>
            <a:schemeClr val="bg2"/>
          </a:solidFill>
          <a:ln/>
        </p:spPr>
      </p:sp>
      <p:sp>
        <p:nvSpPr>
          <p:cNvPr id="9" name="Fertility rate: 1.6 children badge"/>
          <p:cNvSpPr/>
          <p:nvPr/>
        </p:nvSpPr>
        <p:spPr>
          <a:xfrm>
            <a:off x="868680" y="3081528"/>
            <a:ext cx="603504" cy="603504"/>
          </a:xfrm>
          <a:prstGeom prst="ellipse">
            <a:avLst/>
          </a:prstGeom>
          <a:solidFill>
            <a:schemeClr val="accent1"/>
          </a:solidFill>
          <a:ln/>
        </p:spPr>
      </p:sp>
      <p:pic>
        <p:nvPicPr>
          <p:cNvPr id="10" name="Fertility rate: 1.6 children icon" descr="/tmp/claude-0/-home-user-Arturo/8d4d3924-7078-5160-a89d-b2e82f900b72/scratchpad/work/build/assets/icons/baby_FFFFFF.png">    </p:cNvPr>
          <p:cNvPicPr>
            <a:picLocks noChangeAspect="1"/>
          </p:cNvPicPr>
          <p:nvPr/>
        </p:nvPicPr>
        <p:blipFill>
          <a:blip r:embed="rId2"/>
          <a:stretch>
            <a:fillRect/>
          </a:stretch>
        </p:blipFill>
        <p:spPr>
          <a:xfrm>
            <a:off x="1019556" y="3232404"/>
            <a:ext cx="301752" cy="301752"/>
          </a:xfrm>
          <a:prstGeom prst="rect">
            <a:avLst/>
          </a:prstGeom>
        </p:spPr>
      </p:pic>
      <p:sp>
        <p:nvSpPr>
          <p:cNvPr id="11" name="Text 7"/>
          <p:cNvSpPr txBox="1"/>
          <p:nvPr/>
        </p:nvSpPr>
        <p:spPr>
          <a:xfrm>
            <a:off x="1691640" y="2926080"/>
            <a:ext cx="4038448" cy="914400"/>
          </a:xfrm>
          <a:prstGeom prst="rect">
            <a:avLst/>
          </a:prstGeom>
          <a:noFill/>
          <a:ln/>
        </p:spPr>
        <p:txBody>
          <a:bodyPr wrap="square" lIns="0" tIns="0" rIns="0" bIns="0" rtlCol="0" anchor="ctr"/>
          <a:lstStyle/>
          <a:p>
            <a:pPr algn="l" indent="0" marL="0">
              <a:buNone/>
            </a:pPr>
            <a:r>
              <a:rPr lang="en-US" sz="1900" b="1" dirty="0">
                <a:solidFill>
                  <a:schemeClr val="tx2"/>
                </a:solidFill>
              </a:rPr>
              <a:t>Fertility rate: 1.6 children</a:t>
            </a:r>
            <a:endParaRPr lang="en-US" sz="1900" dirty="0"/>
          </a:p>
        </p:txBody>
      </p:sp>
      <p:sp>
        <p:nvSpPr>
          <p:cNvPr id="12" name="Card – The labor forcé is contracting"/>
          <p:cNvSpPr/>
          <p:nvPr/>
        </p:nvSpPr>
        <p:spPr>
          <a:xfrm>
            <a:off x="594360" y="4023360"/>
            <a:ext cx="5364328" cy="914400"/>
          </a:xfrm>
          <a:prstGeom prst="roundRect">
            <a:avLst>
              <a:gd name="adj" fmla="val 12000"/>
            </a:avLst>
          </a:prstGeom>
          <a:solidFill>
            <a:schemeClr val="bg2"/>
          </a:solidFill>
          <a:ln/>
        </p:spPr>
      </p:sp>
      <p:sp>
        <p:nvSpPr>
          <p:cNvPr id="13" name="The labor forcé is contracting badge"/>
          <p:cNvSpPr/>
          <p:nvPr/>
        </p:nvSpPr>
        <p:spPr>
          <a:xfrm>
            <a:off x="868680" y="4178808"/>
            <a:ext cx="603504" cy="603504"/>
          </a:xfrm>
          <a:prstGeom prst="ellipse">
            <a:avLst/>
          </a:prstGeom>
          <a:solidFill>
            <a:schemeClr val="accent1"/>
          </a:solidFill>
          <a:ln/>
        </p:spPr>
      </p:sp>
      <p:pic>
        <p:nvPicPr>
          <p:cNvPr id="14" name="The labor forcé is contracting icon" descr="/tmp/claude-0/-home-user-Arturo/8d4d3924-7078-5160-a89d-b2e82f900b72/scratchpad/work/build/assets/icons/users_FFFFFF.png">    </p:cNvPr>
          <p:cNvPicPr>
            <a:picLocks noChangeAspect="1"/>
          </p:cNvPicPr>
          <p:nvPr/>
        </p:nvPicPr>
        <p:blipFill>
          <a:blip r:embed="rId3"/>
          <a:stretch>
            <a:fillRect/>
          </a:stretch>
        </p:blipFill>
        <p:spPr>
          <a:xfrm>
            <a:off x="1019556" y="4329684"/>
            <a:ext cx="301752" cy="301752"/>
          </a:xfrm>
          <a:prstGeom prst="rect">
            <a:avLst/>
          </a:prstGeom>
        </p:spPr>
      </p:pic>
      <p:sp>
        <p:nvSpPr>
          <p:cNvPr id="15" name="Text 10"/>
          <p:cNvSpPr txBox="1"/>
          <p:nvPr/>
        </p:nvSpPr>
        <p:spPr>
          <a:xfrm>
            <a:off x="1691640" y="4023360"/>
            <a:ext cx="4038448" cy="914400"/>
          </a:xfrm>
          <a:prstGeom prst="rect">
            <a:avLst/>
          </a:prstGeom>
          <a:noFill/>
          <a:ln/>
        </p:spPr>
        <p:txBody>
          <a:bodyPr wrap="square" lIns="0" tIns="0" rIns="0" bIns="0" rtlCol="0" anchor="ctr"/>
          <a:lstStyle/>
          <a:p>
            <a:pPr algn="l" indent="0" marL="0">
              <a:buNone/>
            </a:pPr>
            <a:r>
              <a:rPr lang="en-US" sz="1900" b="1" dirty="0">
                <a:solidFill>
                  <a:schemeClr val="tx2"/>
                </a:solidFill>
              </a:rPr>
              <a:t>The labor forcé is contracting</a:t>
            </a:r>
            <a:endParaRPr lang="en-US" sz="1900" dirty="0"/>
          </a:p>
        </p:txBody>
      </p:sp>
      <p:sp>
        <p:nvSpPr>
          <p:cNvPr id="16" name="Card – High levels of out-migration by college-educated"/>
          <p:cNvSpPr/>
          <p:nvPr/>
        </p:nvSpPr>
        <p:spPr>
          <a:xfrm>
            <a:off x="594360" y="5120640"/>
            <a:ext cx="5364328" cy="914400"/>
          </a:xfrm>
          <a:prstGeom prst="roundRect">
            <a:avLst>
              <a:gd name="adj" fmla="val 12000"/>
            </a:avLst>
          </a:prstGeom>
          <a:solidFill>
            <a:schemeClr val="bg2"/>
          </a:solidFill>
          <a:ln/>
        </p:spPr>
      </p:sp>
      <p:sp>
        <p:nvSpPr>
          <p:cNvPr id="17" name="High levels of out-migration by college-educated badge"/>
          <p:cNvSpPr/>
          <p:nvPr/>
        </p:nvSpPr>
        <p:spPr>
          <a:xfrm>
            <a:off x="868680" y="5276088"/>
            <a:ext cx="603504" cy="603504"/>
          </a:xfrm>
          <a:prstGeom prst="ellipse">
            <a:avLst/>
          </a:prstGeom>
          <a:solidFill>
            <a:schemeClr val="accent1"/>
          </a:solidFill>
          <a:ln/>
        </p:spPr>
      </p:sp>
      <p:pic>
        <p:nvPicPr>
          <p:cNvPr id="18" name="High levels of out-migration by college-educated icon" descr="/tmp/claude-0/-home-user-Arturo/8d4d3924-7078-5160-a89d-b2e82f900b72/scratchpad/work/build/assets/icons/grad_FFFFFF.png">    </p:cNvPr>
          <p:cNvPicPr>
            <a:picLocks noChangeAspect="1"/>
          </p:cNvPicPr>
          <p:nvPr/>
        </p:nvPicPr>
        <p:blipFill>
          <a:blip r:embed="rId4"/>
          <a:stretch>
            <a:fillRect/>
          </a:stretch>
        </p:blipFill>
        <p:spPr>
          <a:xfrm>
            <a:off x="1019556" y="5426964"/>
            <a:ext cx="301752" cy="301752"/>
          </a:xfrm>
          <a:prstGeom prst="rect">
            <a:avLst/>
          </a:prstGeom>
        </p:spPr>
      </p:pic>
      <p:sp>
        <p:nvSpPr>
          <p:cNvPr id="19" name="Text 13"/>
          <p:cNvSpPr txBox="1"/>
          <p:nvPr/>
        </p:nvSpPr>
        <p:spPr>
          <a:xfrm>
            <a:off x="1691640" y="5120640"/>
            <a:ext cx="4038448" cy="914400"/>
          </a:xfrm>
          <a:prstGeom prst="rect">
            <a:avLst/>
          </a:prstGeom>
          <a:noFill/>
          <a:ln/>
        </p:spPr>
        <p:txBody>
          <a:bodyPr wrap="square" lIns="0" tIns="0" rIns="0" bIns="0" rtlCol="0" anchor="ctr"/>
          <a:lstStyle/>
          <a:p>
            <a:pPr algn="l" indent="0" marL="0">
              <a:buNone/>
            </a:pPr>
            <a:r>
              <a:rPr lang="en-US" sz="1900" b="1" dirty="0">
                <a:solidFill>
                  <a:schemeClr val="tx2"/>
                </a:solidFill>
              </a:rPr>
              <a:t>High levels of out-migration by college-educated</a:t>
            </a:r>
            <a:endParaRPr lang="en-US" sz="1900" dirty="0"/>
          </a:p>
        </p:txBody>
      </p:sp>
      <p:sp>
        <p:nvSpPr>
          <p:cNvPr id="20" name="Card – Large immigration rom Venezuela in recent years."/>
          <p:cNvSpPr/>
          <p:nvPr/>
        </p:nvSpPr>
        <p:spPr>
          <a:xfrm>
            <a:off x="6233008" y="1828800"/>
            <a:ext cx="5364328" cy="914400"/>
          </a:xfrm>
          <a:prstGeom prst="roundRect">
            <a:avLst>
              <a:gd name="adj" fmla="val 12000"/>
            </a:avLst>
          </a:prstGeom>
          <a:solidFill>
            <a:schemeClr val="bg2"/>
          </a:solidFill>
          <a:ln/>
        </p:spPr>
      </p:sp>
      <p:sp>
        <p:nvSpPr>
          <p:cNvPr id="21" name="Large immigration rom Venezuela in recent years. badge"/>
          <p:cNvSpPr/>
          <p:nvPr/>
        </p:nvSpPr>
        <p:spPr>
          <a:xfrm>
            <a:off x="6507328" y="1984248"/>
            <a:ext cx="603504" cy="603504"/>
          </a:xfrm>
          <a:prstGeom prst="ellipse">
            <a:avLst/>
          </a:prstGeom>
          <a:solidFill>
            <a:schemeClr val="accent1"/>
          </a:solidFill>
          <a:ln/>
        </p:spPr>
      </p:sp>
      <p:pic>
        <p:nvPicPr>
          <p:cNvPr id="22" name="Large immigration rom Venezuela in recent years. icon" descr="/tmp/claude-0/-home-user-Arturo/8d4d3924-7078-5160-a89d-b2e82f900b72/scratchpad/work/build/assets/icons/globe_FFFFFF.png">    </p:cNvPr>
          <p:cNvPicPr>
            <a:picLocks noChangeAspect="1"/>
          </p:cNvPicPr>
          <p:nvPr/>
        </p:nvPicPr>
        <p:blipFill>
          <a:blip r:embed="rId5"/>
          <a:stretch>
            <a:fillRect/>
          </a:stretch>
        </p:blipFill>
        <p:spPr>
          <a:xfrm>
            <a:off x="6658204" y="2135124"/>
            <a:ext cx="301752" cy="301752"/>
          </a:xfrm>
          <a:prstGeom prst="rect">
            <a:avLst/>
          </a:prstGeom>
        </p:spPr>
      </p:pic>
      <p:sp>
        <p:nvSpPr>
          <p:cNvPr id="23" name="Text 16"/>
          <p:cNvSpPr txBox="1"/>
          <p:nvPr/>
        </p:nvSpPr>
        <p:spPr>
          <a:xfrm>
            <a:off x="7330288" y="1828800"/>
            <a:ext cx="4038448" cy="914400"/>
          </a:xfrm>
          <a:prstGeom prst="rect">
            <a:avLst/>
          </a:prstGeom>
          <a:noFill/>
          <a:ln/>
        </p:spPr>
        <p:txBody>
          <a:bodyPr wrap="square" lIns="0" tIns="0" rIns="0" bIns="0" rtlCol="0" anchor="ctr"/>
          <a:lstStyle/>
          <a:p>
            <a:pPr algn="l" indent="0" marL="0">
              <a:buNone/>
            </a:pPr>
            <a:r>
              <a:rPr lang="en-US" sz="1900" b="1" dirty="0">
                <a:solidFill>
                  <a:schemeClr val="tx2"/>
                </a:solidFill>
              </a:rPr>
              <a:t>Large immigration rom Venezuela in recent years.</a:t>
            </a:r>
            <a:endParaRPr lang="en-US" sz="1900" dirty="0"/>
          </a:p>
        </p:txBody>
      </p:sp>
      <p:sp>
        <p:nvSpPr>
          <p:cNvPr id="24" name="Card – Significant fiscal support"/>
          <p:cNvSpPr/>
          <p:nvPr/>
        </p:nvSpPr>
        <p:spPr>
          <a:xfrm>
            <a:off x="6233008" y="2926080"/>
            <a:ext cx="5364328" cy="914400"/>
          </a:xfrm>
          <a:prstGeom prst="roundRect">
            <a:avLst>
              <a:gd name="adj" fmla="val 12000"/>
            </a:avLst>
          </a:prstGeom>
          <a:solidFill>
            <a:schemeClr val="bg2"/>
          </a:solidFill>
          <a:ln/>
        </p:spPr>
      </p:sp>
      <p:sp>
        <p:nvSpPr>
          <p:cNvPr id="25" name="Significant fiscal support badge"/>
          <p:cNvSpPr/>
          <p:nvPr/>
        </p:nvSpPr>
        <p:spPr>
          <a:xfrm>
            <a:off x="6507328" y="3081528"/>
            <a:ext cx="603504" cy="603504"/>
          </a:xfrm>
          <a:prstGeom prst="ellipse">
            <a:avLst/>
          </a:prstGeom>
          <a:solidFill>
            <a:schemeClr val="accent1"/>
          </a:solidFill>
          <a:ln/>
        </p:spPr>
      </p:sp>
      <p:pic>
        <p:nvPicPr>
          <p:cNvPr id="26" name="Significant fiscal support icon" descr="/tmp/claude-0/-home-user-Arturo/8d4d3924-7078-5160-a89d-b2e82f900b72/scratchpad/work/build/assets/icons/landmark_FFFFFF.png">    </p:cNvPr>
          <p:cNvPicPr>
            <a:picLocks noChangeAspect="1"/>
          </p:cNvPicPr>
          <p:nvPr/>
        </p:nvPicPr>
        <p:blipFill>
          <a:blip r:embed="rId6"/>
          <a:stretch>
            <a:fillRect/>
          </a:stretch>
        </p:blipFill>
        <p:spPr>
          <a:xfrm>
            <a:off x="6658204" y="3232404"/>
            <a:ext cx="301752" cy="301752"/>
          </a:xfrm>
          <a:prstGeom prst="rect">
            <a:avLst/>
          </a:prstGeom>
        </p:spPr>
      </p:pic>
      <p:sp>
        <p:nvSpPr>
          <p:cNvPr id="27" name="Text 19"/>
          <p:cNvSpPr txBox="1"/>
          <p:nvPr/>
        </p:nvSpPr>
        <p:spPr>
          <a:xfrm>
            <a:off x="7330288" y="2926080"/>
            <a:ext cx="4038448" cy="914400"/>
          </a:xfrm>
          <a:prstGeom prst="rect">
            <a:avLst/>
          </a:prstGeom>
          <a:noFill/>
          <a:ln/>
        </p:spPr>
        <p:txBody>
          <a:bodyPr wrap="square" lIns="0" tIns="0" rIns="0" bIns="0" rtlCol="0" anchor="ctr"/>
          <a:lstStyle/>
          <a:p>
            <a:pPr algn="l" indent="0" marL="0">
              <a:buNone/>
            </a:pPr>
            <a:r>
              <a:rPr lang="en-US" sz="1900" b="1" dirty="0">
                <a:solidFill>
                  <a:schemeClr val="tx2"/>
                </a:solidFill>
              </a:rPr>
              <a:t>Significant fiscal support</a:t>
            </a:r>
            <a:endParaRPr lang="en-US" sz="1900" dirty="0"/>
          </a:p>
        </p:txBody>
      </p:sp>
      <p:sp>
        <p:nvSpPr>
          <p:cNvPr id="28" name="Card – Significant informal economy"/>
          <p:cNvSpPr/>
          <p:nvPr/>
        </p:nvSpPr>
        <p:spPr>
          <a:xfrm>
            <a:off x="6233008" y="4023360"/>
            <a:ext cx="5364328" cy="914400"/>
          </a:xfrm>
          <a:prstGeom prst="roundRect">
            <a:avLst>
              <a:gd name="adj" fmla="val 12000"/>
            </a:avLst>
          </a:prstGeom>
          <a:solidFill>
            <a:schemeClr val="bg2"/>
          </a:solidFill>
          <a:ln/>
        </p:spPr>
      </p:sp>
      <p:sp>
        <p:nvSpPr>
          <p:cNvPr id="29" name="Significant informal economy badge"/>
          <p:cNvSpPr/>
          <p:nvPr/>
        </p:nvSpPr>
        <p:spPr>
          <a:xfrm>
            <a:off x="6507328" y="4178808"/>
            <a:ext cx="603504" cy="603504"/>
          </a:xfrm>
          <a:prstGeom prst="ellipse">
            <a:avLst/>
          </a:prstGeom>
          <a:solidFill>
            <a:schemeClr val="accent1"/>
          </a:solidFill>
          <a:ln/>
        </p:spPr>
      </p:sp>
      <p:pic>
        <p:nvPicPr>
          <p:cNvPr id="30" name="Significant informal economy icon" descr="/tmp/claude-0/-home-user-Arturo/8d4d3924-7078-5160-a89d-b2e82f900b72/scratchpad/work/build/assets/icons/store_FFFFFF.png">    </p:cNvPr>
          <p:cNvPicPr>
            <a:picLocks noChangeAspect="1"/>
          </p:cNvPicPr>
          <p:nvPr/>
        </p:nvPicPr>
        <p:blipFill>
          <a:blip r:embed="rId7"/>
          <a:stretch>
            <a:fillRect/>
          </a:stretch>
        </p:blipFill>
        <p:spPr>
          <a:xfrm>
            <a:off x="6658204" y="4329684"/>
            <a:ext cx="301752" cy="301752"/>
          </a:xfrm>
          <a:prstGeom prst="rect">
            <a:avLst/>
          </a:prstGeom>
        </p:spPr>
      </p:pic>
      <p:sp>
        <p:nvSpPr>
          <p:cNvPr id="31" name="Text 22"/>
          <p:cNvSpPr txBox="1"/>
          <p:nvPr/>
        </p:nvSpPr>
        <p:spPr>
          <a:xfrm>
            <a:off x="7330288" y="4023360"/>
            <a:ext cx="4038448" cy="914400"/>
          </a:xfrm>
          <a:prstGeom prst="rect">
            <a:avLst/>
          </a:prstGeom>
          <a:noFill/>
          <a:ln/>
        </p:spPr>
        <p:txBody>
          <a:bodyPr wrap="square" lIns="0" tIns="0" rIns="0" bIns="0" rtlCol="0" anchor="ctr"/>
          <a:lstStyle/>
          <a:p>
            <a:pPr algn="l" indent="0" marL="0">
              <a:buNone/>
            </a:pPr>
            <a:r>
              <a:rPr lang="en-US" sz="1900" b="1" dirty="0">
                <a:solidFill>
                  <a:schemeClr val="tx2"/>
                </a:solidFill>
              </a:rPr>
              <a:t>Significant informal economy</a:t>
            </a:r>
            <a:endParaRPr lang="en-US" sz="1900" dirty="0"/>
          </a:p>
        </p:txBody>
      </p:sp>
      <p:sp>
        <p:nvSpPr>
          <p:cNvPr id="32" name="Card – Most retirees receive the mínimum NIS pension"/>
          <p:cNvSpPr/>
          <p:nvPr/>
        </p:nvSpPr>
        <p:spPr>
          <a:xfrm>
            <a:off x="6233008" y="5120640"/>
            <a:ext cx="5364328" cy="914400"/>
          </a:xfrm>
          <a:prstGeom prst="roundRect">
            <a:avLst>
              <a:gd name="adj" fmla="val 12000"/>
            </a:avLst>
          </a:prstGeom>
          <a:solidFill>
            <a:schemeClr val="bg2"/>
          </a:solidFill>
          <a:ln/>
        </p:spPr>
      </p:sp>
      <p:sp>
        <p:nvSpPr>
          <p:cNvPr id="33" name="Most retirees receive the mínimum NIS pension badge"/>
          <p:cNvSpPr/>
          <p:nvPr/>
        </p:nvSpPr>
        <p:spPr>
          <a:xfrm>
            <a:off x="6507328" y="5276088"/>
            <a:ext cx="603504" cy="603504"/>
          </a:xfrm>
          <a:prstGeom prst="ellipse">
            <a:avLst/>
          </a:prstGeom>
          <a:solidFill>
            <a:schemeClr val="accent1"/>
          </a:solidFill>
          <a:ln/>
        </p:spPr>
      </p:sp>
      <p:pic>
        <p:nvPicPr>
          <p:cNvPr id="34" name="Most retirees receive the mínimum NIS pension icon" descr="/tmp/claude-0/-home-user-Arturo/8d4d3924-7078-5160-a89d-b2e82f900b72/scratchpad/work/build/assets/icons/piggy_FFFFFF.png">    </p:cNvPr>
          <p:cNvPicPr>
            <a:picLocks noChangeAspect="1"/>
          </p:cNvPicPr>
          <p:nvPr/>
        </p:nvPicPr>
        <p:blipFill>
          <a:blip r:embed="rId8"/>
          <a:stretch>
            <a:fillRect/>
          </a:stretch>
        </p:blipFill>
        <p:spPr>
          <a:xfrm>
            <a:off x="6658204" y="5426964"/>
            <a:ext cx="301752" cy="301752"/>
          </a:xfrm>
          <a:prstGeom prst="rect">
            <a:avLst/>
          </a:prstGeom>
        </p:spPr>
      </p:pic>
      <p:sp>
        <p:nvSpPr>
          <p:cNvPr id="35" name="Text 25"/>
          <p:cNvSpPr txBox="1"/>
          <p:nvPr/>
        </p:nvSpPr>
        <p:spPr>
          <a:xfrm>
            <a:off x="7330288" y="5120640"/>
            <a:ext cx="4038448" cy="914400"/>
          </a:xfrm>
          <a:prstGeom prst="rect">
            <a:avLst/>
          </a:prstGeom>
          <a:noFill/>
          <a:ln/>
        </p:spPr>
        <p:txBody>
          <a:bodyPr wrap="square" lIns="0" tIns="0" rIns="0" bIns="0" rtlCol="0" anchor="ctr"/>
          <a:lstStyle/>
          <a:p>
            <a:pPr algn="l" indent="0" marL="0">
              <a:buNone/>
            </a:pPr>
            <a:r>
              <a:rPr lang="en-US" sz="1900" b="1" dirty="0">
                <a:solidFill>
                  <a:schemeClr val="tx2"/>
                </a:solidFill>
              </a:rPr>
              <a:t>Most retirees receive the mínimum NIS pension</a:t>
            </a:r>
            <a:endParaRPr lang="en-US" sz="1900" dirty="0"/>
          </a:p>
        </p:txBody>
      </p:sp>
      <p:sp>
        <p:nvSpPr>
          <p:cNvPr id="36" name="Text 0"/>
          <p:cNvSpPr/>
          <p:nvPr>
            <p:ph idx="102" type="body" hasCustomPrompt="1"/>
          </p:nvPr>
        </p:nvSpPr>
        <p:spPr>
          <a:xfrm>
            <a:off x="594360" y="1371600"/>
            <a:ext cx="11002975" cy="36576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94360" y="457200"/>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SMALL ISLAND STATES</a:t>
            </a:r>
            <a:endParaRPr lang="en-US" sz="1200" dirty="0"/>
          </a:p>
        </p:txBody>
      </p:sp>
      <p:sp>
        <p:nvSpPr>
          <p:cNvPr id="3" name="Text 0"/>
          <p:cNvSpPr/>
          <p:nvPr>
            <p:ph idx="101" type="title" hasCustomPrompt="1"/>
          </p:nvPr>
        </p:nvSpPr>
        <p:spPr>
          <a:xfrm>
            <a:off x="594360" y="731520"/>
            <a:ext cx="11002975" cy="1005840"/>
          </a:xfrm>
          <a:prstGeom prst="rect">
            <a:avLst/>
          </a:prstGeom>
          <a:noFill/>
          <a:ln/>
        </p:spPr>
        <p:txBody>
          <a:bodyPr wrap="square" lIns="0" tIns="0" rIns="0" bIns="0" rtlCol="0" anchor="t"/>
          <a:lstStyle/>
          <a:p>
            <a:pPr algn="l" indent="0" marL="0">
              <a:buNone/>
            </a:pPr>
            <a:r>
              <a:rPr lang="en-US" sz="3200" b="1" dirty="0">
                <a:solidFill>
                  <a:schemeClr val="tx2"/>
                </a:solidFill>
              </a:rPr>
              <a:t>Eastern Caribbean States (OECS Demographics)</a:t>
            </a:r>
            <a:endParaRPr lang="en-US" sz="3200" dirty="0"/>
          </a:p>
        </p:txBody>
      </p:sp>
      <p:sp>
        <p:nvSpPr>
          <p:cNvPr id="4" name="Card – Barbados"/>
          <p:cNvSpPr/>
          <p:nvPr/>
        </p:nvSpPr>
        <p:spPr>
          <a:xfrm>
            <a:off x="594360" y="2011680"/>
            <a:ext cx="2579294" cy="3017520"/>
          </a:xfrm>
          <a:prstGeom prst="roundRect">
            <a:avLst>
              <a:gd name="adj" fmla="val 4254"/>
            </a:avLst>
          </a:prstGeom>
          <a:solidFill>
            <a:schemeClr val="bg2"/>
          </a:solidFill>
          <a:ln/>
        </p:spPr>
      </p:sp>
      <p:sp>
        <p:nvSpPr>
          <p:cNvPr id="5" name="Heading"/>
          <p:cNvSpPr txBox="1"/>
          <p:nvPr/>
        </p:nvSpPr>
        <p:spPr>
          <a:xfrm>
            <a:off x="868680" y="2286000"/>
            <a:ext cx="2030654" cy="365760"/>
          </a:xfrm>
          <a:prstGeom prst="rect">
            <a:avLst/>
          </a:prstGeom>
          <a:noFill/>
          <a:ln/>
        </p:spPr>
        <p:txBody>
          <a:bodyPr wrap="square" lIns="0" tIns="0" rIns="0" bIns="0" rtlCol="0" anchor="t"/>
          <a:lstStyle/>
          <a:p>
            <a:pPr algn="l" indent="0" marL="0">
              <a:buNone/>
            </a:pPr>
            <a:r>
              <a:rPr lang="en-US" sz="2000" b="1" dirty="0">
                <a:solidFill>
                  <a:schemeClr val="tx2"/>
                </a:solidFill>
              </a:rPr>
              <a:t>Barbados</a:t>
            </a:r>
            <a:endParaRPr lang="en-US" sz="2000" dirty="0"/>
          </a:p>
        </p:txBody>
      </p:sp>
      <p:sp>
        <p:nvSpPr>
          <p:cNvPr id="6" name="Population Barbados"/>
          <p:cNvSpPr txBox="1"/>
          <p:nvPr/>
        </p:nvSpPr>
        <p:spPr>
          <a:xfrm>
            <a:off x="868680" y="2788920"/>
            <a:ext cx="2030654" cy="685800"/>
          </a:xfrm>
          <a:prstGeom prst="rect">
            <a:avLst/>
          </a:prstGeom>
          <a:noFill/>
          <a:ln/>
        </p:spPr>
        <p:txBody>
          <a:bodyPr wrap="square" lIns="0" tIns="0" rIns="0" bIns="0" rtlCol="0" anchor="ctr"/>
          <a:lstStyle/>
          <a:p>
            <a:pPr indent="0" marL="0">
              <a:buNone/>
            </a:pPr>
            <a:r>
              <a:rPr lang="en-US" sz="3600" b="1" dirty="0">
                <a:solidFill>
                  <a:schemeClr val="accent1"/>
                </a:solidFill>
                <a:latin typeface="+mj-lt" pitchFamily="34" charset="0"/>
                <a:ea typeface="+mj-lt" pitchFamily="34" charset="-122"/>
                <a:cs typeface="+mj-lt" pitchFamily="34" charset="-120"/>
              </a:rPr>
              <a:t>282k pop.</a:t>
            </a:r>
            <a:endParaRPr lang="en-US" sz="3600" dirty="0"/>
          </a:p>
        </p:txBody>
      </p:sp>
      <p:sp>
        <p:nvSpPr>
          <p:cNvPr id="7" name="Text 5"/>
          <p:cNvSpPr txBox="1"/>
          <p:nvPr/>
        </p:nvSpPr>
        <p:spPr>
          <a:xfrm>
            <a:off x="868680" y="3703320"/>
            <a:ext cx="2030654" cy="1645920"/>
          </a:xfrm>
          <a:prstGeom prst="rect">
            <a:avLst/>
          </a:prstGeom>
          <a:noFill/>
          <a:ln/>
        </p:spPr>
        <p:txBody>
          <a:bodyPr wrap="square" lIns="0" tIns="0" rIns="0" bIns="0" rtlCol="0" anchor="t"/>
          <a:lstStyle/>
          <a:p>
            <a:pPr algn="l" indent="0" marL="0">
              <a:buNone/>
            </a:pPr>
            <a:r>
              <a:rPr lang="en-US" sz="1700" dirty="0">
                <a:solidFill>
                  <a:srgbClr val="34475C"/>
                </a:solidFill>
              </a:rPr>
              <a:t>Advanced aging, high life expectancy (77.8 yrs).</a:t>
            </a:r>
            <a:endParaRPr lang="en-US" sz="1700" dirty="0"/>
          </a:p>
        </p:txBody>
      </p:sp>
      <p:sp>
        <p:nvSpPr>
          <p:cNvPr id="8" name="Card – Saint Lucia"/>
          <p:cNvSpPr/>
          <p:nvPr/>
        </p:nvSpPr>
        <p:spPr>
          <a:xfrm>
            <a:off x="3402254" y="2011680"/>
            <a:ext cx="2579294" cy="3017520"/>
          </a:xfrm>
          <a:prstGeom prst="roundRect">
            <a:avLst>
              <a:gd name="adj" fmla="val 4254"/>
            </a:avLst>
          </a:prstGeom>
          <a:solidFill>
            <a:schemeClr val="bg2"/>
          </a:solidFill>
          <a:ln/>
        </p:spPr>
      </p:sp>
      <p:sp>
        <p:nvSpPr>
          <p:cNvPr id="9" name="Heading"/>
          <p:cNvSpPr txBox="1"/>
          <p:nvPr/>
        </p:nvSpPr>
        <p:spPr>
          <a:xfrm>
            <a:off x="3676574" y="2286000"/>
            <a:ext cx="2030654" cy="365760"/>
          </a:xfrm>
          <a:prstGeom prst="rect">
            <a:avLst/>
          </a:prstGeom>
          <a:noFill/>
          <a:ln/>
        </p:spPr>
        <p:txBody>
          <a:bodyPr wrap="square" lIns="0" tIns="0" rIns="0" bIns="0" rtlCol="0" anchor="t"/>
          <a:lstStyle/>
          <a:p>
            <a:pPr algn="l" indent="0" marL="0">
              <a:buNone/>
            </a:pPr>
            <a:r>
              <a:rPr lang="en-US" sz="2000" b="1" dirty="0">
                <a:solidFill>
                  <a:schemeClr val="tx2"/>
                </a:solidFill>
              </a:rPr>
              <a:t>Saint Lucia</a:t>
            </a:r>
            <a:endParaRPr lang="en-US" sz="2000" dirty="0"/>
          </a:p>
        </p:txBody>
      </p:sp>
      <p:sp>
        <p:nvSpPr>
          <p:cNvPr id="10" name="Population Saint Lucia"/>
          <p:cNvSpPr txBox="1"/>
          <p:nvPr/>
        </p:nvSpPr>
        <p:spPr>
          <a:xfrm>
            <a:off x="3676574" y="2788920"/>
            <a:ext cx="2030654" cy="685800"/>
          </a:xfrm>
          <a:prstGeom prst="rect">
            <a:avLst/>
          </a:prstGeom>
          <a:noFill/>
          <a:ln/>
        </p:spPr>
        <p:txBody>
          <a:bodyPr wrap="square" lIns="0" tIns="0" rIns="0" bIns="0" rtlCol="0" anchor="ctr"/>
          <a:lstStyle/>
          <a:p>
            <a:pPr indent="0" marL="0">
              <a:buNone/>
            </a:pPr>
            <a:r>
              <a:rPr lang="en-US" sz="3600" b="1" dirty="0">
                <a:solidFill>
                  <a:schemeClr val="accent1"/>
                </a:solidFill>
                <a:latin typeface="+mj-lt" pitchFamily="34" charset="0"/>
                <a:ea typeface="+mj-lt" pitchFamily="34" charset="-122"/>
                <a:cs typeface="+mj-lt" pitchFamily="34" charset="-120"/>
              </a:rPr>
              <a:t>180k pop.</a:t>
            </a:r>
            <a:endParaRPr lang="en-US" sz="3600" dirty="0"/>
          </a:p>
        </p:txBody>
      </p:sp>
      <p:sp>
        <p:nvSpPr>
          <p:cNvPr id="11" name="Text 9"/>
          <p:cNvSpPr txBox="1"/>
          <p:nvPr/>
        </p:nvSpPr>
        <p:spPr>
          <a:xfrm>
            <a:off x="3676574" y="3703320"/>
            <a:ext cx="2030654" cy="1645920"/>
          </a:xfrm>
          <a:prstGeom prst="rect">
            <a:avLst/>
          </a:prstGeom>
          <a:noFill/>
          <a:ln/>
        </p:spPr>
        <p:txBody>
          <a:bodyPr wrap="square" lIns="0" tIns="0" rIns="0" bIns="0" rtlCol="0" anchor="t"/>
          <a:lstStyle/>
          <a:p>
            <a:pPr algn="l" indent="0" marL="0">
              <a:buNone/>
            </a:pPr>
            <a:r>
              <a:rPr lang="en-US" sz="1700" dirty="0">
                <a:solidFill>
                  <a:srgbClr val="34475C"/>
                </a:solidFill>
              </a:rPr>
              <a:t>Moderate growth, tourism-driven urban drift.</a:t>
            </a:r>
            <a:endParaRPr lang="en-US" sz="1700" dirty="0"/>
          </a:p>
        </p:txBody>
      </p:sp>
      <p:sp>
        <p:nvSpPr>
          <p:cNvPr id="12" name="Card – Grenada"/>
          <p:cNvSpPr/>
          <p:nvPr/>
        </p:nvSpPr>
        <p:spPr>
          <a:xfrm>
            <a:off x="6210148" y="2011680"/>
            <a:ext cx="2579294" cy="3017520"/>
          </a:xfrm>
          <a:prstGeom prst="roundRect">
            <a:avLst>
              <a:gd name="adj" fmla="val 4254"/>
            </a:avLst>
          </a:prstGeom>
          <a:solidFill>
            <a:schemeClr val="bg2"/>
          </a:solidFill>
          <a:ln/>
        </p:spPr>
      </p:sp>
      <p:sp>
        <p:nvSpPr>
          <p:cNvPr id="13" name="Heading"/>
          <p:cNvSpPr txBox="1"/>
          <p:nvPr/>
        </p:nvSpPr>
        <p:spPr>
          <a:xfrm>
            <a:off x="6484468" y="2286000"/>
            <a:ext cx="2030654" cy="365760"/>
          </a:xfrm>
          <a:prstGeom prst="rect">
            <a:avLst/>
          </a:prstGeom>
          <a:noFill/>
          <a:ln/>
        </p:spPr>
        <p:txBody>
          <a:bodyPr wrap="square" lIns="0" tIns="0" rIns="0" bIns="0" rtlCol="0" anchor="t"/>
          <a:lstStyle/>
          <a:p>
            <a:pPr algn="l" indent="0" marL="0">
              <a:buNone/>
            </a:pPr>
            <a:r>
              <a:rPr lang="en-US" sz="2000" b="1" dirty="0">
                <a:solidFill>
                  <a:schemeClr val="tx2"/>
                </a:solidFill>
              </a:rPr>
              <a:t>Grenada</a:t>
            </a:r>
            <a:endParaRPr lang="en-US" sz="2000" dirty="0"/>
          </a:p>
        </p:txBody>
      </p:sp>
      <p:sp>
        <p:nvSpPr>
          <p:cNvPr id="14" name="Population Grenada"/>
          <p:cNvSpPr txBox="1"/>
          <p:nvPr/>
        </p:nvSpPr>
        <p:spPr>
          <a:xfrm>
            <a:off x="6484468" y="2788920"/>
            <a:ext cx="2030654" cy="685800"/>
          </a:xfrm>
          <a:prstGeom prst="rect">
            <a:avLst/>
          </a:prstGeom>
          <a:noFill/>
          <a:ln/>
        </p:spPr>
        <p:txBody>
          <a:bodyPr wrap="square" lIns="0" tIns="0" rIns="0" bIns="0" rtlCol="0" anchor="ctr"/>
          <a:lstStyle/>
          <a:p>
            <a:pPr indent="0" marL="0">
              <a:buNone/>
            </a:pPr>
            <a:r>
              <a:rPr lang="en-US" sz="3600" b="1" dirty="0">
                <a:solidFill>
                  <a:schemeClr val="accent1"/>
                </a:solidFill>
                <a:latin typeface="+mj-lt" pitchFamily="34" charset="0"/>
                <a:ea typeface="+mj-lt" pitchFamily="34" charset="-122"/>
                <a:cs typeface="+mj-lt" pitchFamily="34" charset="-120"/>
              </a:rPr>
              <a:t>125k pop.</a:t>
            </a:r>
            <a:endParaRPr lang="en-US" sz="3600" dirty="0"/>
          </a:p>
        </p:txBody>
      </p:sp>
      <p:sp>
        <p:nvSpPr>
          <p:cNvPr id="15" name="Text 13"/>
          <p:cNvSpPr txBox="1"/>
          <p:nvPr/>
        </p:nvSpPr>
        <p:spPr>
          <a:xfrm>
            <a:off x="6484468" y="3703320"/>
            <a:ext cx="2030654" cy="1645920"/>
          </a:xfrm>
          <a:prstGeom prst="rect">
            <a:avLst/>
          </a:prstGeom>
          <a:noFill/>
          <a:ln/>
        </p:spPr>
        <p:txBody>
          <a:bodyPr wrap="square" lIns="0" tIns="0" rIns="0" bIns="0" rtlCol="0" anchor="t"/>
          <a:lstStyle/>
          <a:p>
            <a:pPr algn="l" indent="0" marL="0">
              <a:buNone/>
            </a:pPr>
            <a:r>
              <a:rPr lang="en-US" sz="1700" dirty="0">
                <a:solidFill>
                  <a:srgbClr val="34475C"/>
                </a:solidFill>
              </a:rPr>
              <a:t>High diaspora population in North America.</a:t>
            </a:r>
            <a:endParaRPr lang="en-US" sz="1700" dirty="0"/>
          </a:p>
        </p:txBody>
      </p:sp>
      <p:sp>
        <p:nvSpPr>
          <p:cNvPr id="16" name="Card – Antigua &amp; Barbuda"/>
          <p:cNvSpPr/>
          <p:nvPr/>
        </p:nvSpPr>
        <p:spPr>
          <a:xfrm>
            <a:off x="9018041" y="2011680"/>
            <a:ext cx="2579294" cy="3017520"/>
          </a:xfrm>
          <a:prstGeom prst="roundRect">
            <a:avLst>
              <a:gd name="adj" fmla="val 4254"/>
            </a:avLst>
          </a:prstGeom>
          <a:solidFill>
            <a:schemeClr val="bg2"/>
          </a:solidFill>
          <a:ln/>
        </p:spPr>
      </p:sp>
      <p:sp>
        <p:nvSpPr>
          <p:cNvPr id="17" name="Heading"/>
          <p:cNvSpPr txBox="1"/>
          <p:nvPr/>
        </p:nvSpPr>
        <p:spPr>
          <a:xfrm>
            <a:off x="9292361" y="2286000"/>
            <a:ext cx="2030654" cy="365760"/>
          </a:xfrm>
          <a:prstGeom prst="rect">
            <a:avLst/>
          </a:prstGeom>
          <a:noFill/>
          <a:ln/>
        </p:spPr>
        <p:txBody>
          <a:bodyPr wrap="square" lIns="0" tIns="0" rIns="0" bIns="0" rtlCol="0" anchor="t"/>
          <a:lstStyle/>
          <a:p>
            <a:pPr algn="l" indent="0" marL="0">
              <a:buNone/>
            </a:pPr>
            <a:r>
              <a:rPr lang="en-US" sz="2000" b="1" dirty="0">
                <a:solidFill>
                  <a:schemeClr val="tx2"/>
                </a:solidFill>
              </a:rPr>
              <a:t>Antigua &amp; Barbuda</a:t>
            </a:r>
            <a:endParaRPr lang="en-US" sz="2000" dirty="0"/>
          </a:p>
        </p:txBody>
      </p:sp>
      <p:sp>
        <p:nvSpPr>
          <p:cNvPr id="18" name="Population Antigua &amp;amp; Barbuda"/>
          <p:cNvSpPr txBox="1"/>
          <p:nvPr/>
        </p:nvSpPr>
        <p:spPr>
          <a:xfrm>
            <a:off x="9292361" y="2788920"/>
            <a:ext cx="2030654" cy="685800"/>
          </a:xfrm>
          <a:prstGeom prst="rect">
            <a:avLst/>
          </a:prstGeom>
          <a:noFill/>
          <a:ln/>
        </p:spPr>
        <p:txBody>
          <a:bodyPr wrap="square" lIns="0" tIns="0" rIns="0" bIns="0" rtlCol="0" anchor="ctr"/>
          <a:lstStyle/>
          <a:p>
            <a:pPr indent="0" marL="0">
              <a:buNone/>
            </a:pPr>
            <a:r>
              <a:rPr lang="en-US" sz="3600" b="1" dirty="0">
                <a:solidFill>
                  <a:schemeClr val="accent1"/>
                </a:solidFill>
                <a:latin typeface="+mj-lt" pitchFamily="34" charset="0"/>
                <a:ea typeface="+mj-lt" pitchFamily="34" charset="-122"/>
                <a:cs typeface="+mj-lt" pitchFamily="34" charset="-120"/>
              </a:rPr>
              <a:t>100k pop.</a:t>
            </a:r>
            <a:endParaRPr lang="en-US" sz="3600" dirty="0"/>
          </a:p>
        </p:txBody>
      </p:sp>
      <p:sp>
        <p:nvSpPr>
          <p:cNvPr id="19" name="Text 17"/>
          <p:cNvSpPr txBox="1"/>
          <p:nvPr/>
        </p:nvSpPr>
        <p:spPr>
          <a:xfrm>
            <a:off x="9292361" y="3703320"/>
            <a:ext cx="2030654" cy="1645920"/>
          </a:xfrm>
          <a:prstGeom prst="rect">
            <a:avLst/>
          </a:prstGeom>
          <a:noFill/>
          <a:ln/>
        </p:spPr>
        <p:txBody>
          <a:bodyPr wrap="square" lIns="0" tIns="0" rIns="0" bIns="0" rtlCol="0" anchor="t"/>
          <a:lstStyle/>
          <a:p>
            <a:pPr algn="l" indent="0" marL="0">
              <a:buNone/>
            </a:pPr>
            <a:r>
              <a:rPr lang="en-US" sz="1700" dirty="0">
                <a:solidFill>
                  <a:srgbClr val="34475C"/>
                </a:solidFill>
              </a:rPr>
              <a:t>Immigration destination for regional workers.</a:t>
            </a:r>
            <a:endParaRPr lang="en-US" sz="1700" dirty="0"/>
          </a:p>
        </p:txBody>
      </p:sp>
      <p:sp>
        <p:nvSpPr>
          <p:cNvPr id="20" name="Text 0"/>
          <p:cNvSpPr/>
          <p:nvPr>
            <p:ph idx="102" type="body" hasCustomPrompt="1"/>
          </p:nvPr>
        </p:nvSpPr>
        <p:spPr>
          <a:xfrm>
            <a:off x="594360" y="1371600"/>
            <a:ext cx="11002975" cy="36576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94360" y="457200"/>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POLICY FRAMEWORK</a:t>
            </a:r>
            <a:endParaRPr lang="en-US" sz="1200" dirty="0"/>
          </a:p>
        </p:txBody>
      </p:sp>
      <p:sp>
        <p:nvSpPr>
          <p:cNvPr id="3" name="Text 0"/>
          <p:cNvSpPr/>
          <p:nvPr>
            <p:ph idx="101" type="title" hasCustomPrompt="1"/>
          </p:nvPr>
        </p:nvSpPr>
        <p:spPr>
          <a:xfrm>
            <a:off x="594360" y="731520"/>
            <a:ext cx="11002975" cy="1005840"/>
          </a:xfrm>
          <a:prstGeom prst="rect">
            <a:avLst/>
          </a:prstGeom>
          <a:noFill/>
          <a:ln/>
        </p:spPr>
        <p:txBody>
          <a:bodyPr wrap="square" lIns="0" tIns="0" rIns="0" bIns="0" rtlCol="0" anchor="t"/>
          <a:lstStyle/>
          <a:p>
            <a:pPr algn="l" indent="0" marL="0">
              <a:buNone/>
            </a:pPr>
            <a:r>
              <a:rPr lang="en-US" sz="3200" b="1" dirty="0">
                <a:solidFill>
                  <a:schemeClr val="tx2"/>
                </a:solidFill>
              </a:rPr>
              <a:t>Policy Interventions for Small States</a:t>
            </a:r>
            <a:endParaRPr lang="en-US" sz="3200" dirty="0"/>
          </a:p>
        </p:txBody>
      </p:sp>
      <p:sp>
        <p:nvSpPr>
          <p:cNvPr id="4" name="Row – Childcare Support"/>
          <p:cNvSpPr/>
          <p:nvPr/>
        </p:nvSpPr>
        <p:spPr>
          <a:xfrm>
            <a:off x="594360" y="1828800"/>
            <a:ext cx="11002975" cy="932688"/>
          </a:xfrm>
          <a:prstGeom prst="roundRect">
            <a:avLst>
              <a:gd name="adj" fmla="val 11765"/>
            </a:avLst>
          </a:prstGeom>
          <a:solidFill>
            <a:schemeClr val="bg2"/>
          </a:solidFill>
          <a:ln/>
        </p:spPr>
      </p:sp>
      <p:sp>
        <p:nvSpPr>
          <p:cNvPr id="5" name="Childcare Support badge"/>
          <p:cNvSpPr/>
          <p:nvPr/>
        </p:nvSpPr>
        <p:spPr>
          <a:xfrm>
            <a:off x="868680" y="1975104"/>
            <a:ext cx="640080" cy="640080"/>
          </a:xfrm>
          <a:prstGeom prst="ellipse">
            <a:avLst/>
          </a:prstGeom>
          <a:solidFill>
            <a:schemeClr val="accent1"/>
          </a:solidFill>
          <a:ln/>
        </p:spPr>
      </p:sp>
      <p:pic>
        <p:nvPicPr>
          <p:cNvPr id="6" name="Childcare Support icon" descr="/tmp/claude-0/-home-user-Arturo/8d4d3924-7078-5160-a89d-b2e82f900b72/scratchpad/work/build/assets/icons/child_FFFFFF.png">    </p:cNvPr>
          <p:cNvPicPr>
            <a:picLocks noChangeAspect="1"/>
          </p:cNvPicPr>
          <p:nvPr/>
        </p:nvPicPr>
        <p:blipFill>
          <a:blip r:embed="rId1"/>
          <a:stretch>
            <a:fillRect/>
          </a:stretch>
        </p:blipFill>
        <p:spPr>
          <a:xfrm>
            <a:off x="1028700" y="2135124"/>
            <a:ext cx="320040" cy="320040"/>
          </a:xfrm>
          <a:prstGeom prst="rect">
            <a:avLst/>
          </a:prstGeom>
        </p:spPr>
      </p:pic>
      <p:sp>
        <p:nvSpPr>
          <p:cNvPr id="7" name="Heading"/>
          <p:cNvSpPr txBox="1"/>
          <p:nvPr/>
        </p:nvSpPr>
        <p:spPr>
          <a:xfrm>
            <a:off x="1783080" y="1828800"/>
            <a:ext cx="3108960" cy="932688"/>
          </a:xfrm>
          <a:prstGeom prst="rect">
            <a:avLst/>
          </a:prstGeom>
          <a:noFill/>
          <a:ln/>
        </p:spPr>
        <p:txBody>
          <a:bodyPr wrap="square" lIns="0" tIns="0" rIns="0" bIns="0" rtlCol="0" anchor="ctr"/>
          <a:lstStyle/>
          <a:p>
            <a:pPr algn="l" indent="0" marL="0">
              <a:buNone/>
            </a:pPr>
            <a:r>
              <a:rPr lang="en-US" sz="2100" b="1" dirty="0">
                <a:solidFill>
                  <a:schemeClr val="tx2"/>
                </a:solidFill>
              </a:rPr>
              <a:t>Childcare Support</a:t>
            </a:r>
            <a:endParaRPr lang="en-US" sz="2100" dirty="0"/>
          </a:p>
        </p:txBody>
      </p:sp>
      <p:sp>
        <p:nvSpPr>
          <p:cNvPr id="8" name="Text 5"/>
          <p:cNvSpPr txBox="1"/>
          <p:nvPr/>
        </p:nvSpPr>
        <p:spPr>
          <a:xfrm>
            <a:off x="5074920" y="1828800"/>
            <a:ext cx="6248095" cy="932688"/>
          </a:xfrm>
          <a:prstGeom prst="rect">
            <a:avLst/>
          </a:prstGeom>
          <a:noFill/>
          <a:ln/>
        </p:spPr>
        <p:txBody>
          <a:bodyPr wrap="square" lIns="0" tIns="0" rIns="0" bIns="0" rtlCol="0" anchor="ctr"/>
          <a:lstStyle/>
          <a:p>
            <a:pPr algn="l" indent="0" marL="0">
              <a:buNone/>
            </a:pPr>
            <a:r>
              <a:rPr lang="en-US" sz="1800" dirty="0">
                <a:solidFill>
                  <a:srgbClr val="34475C"/>
                </a:solidFill>
              </a:rPr>
              <a:t>Subsidize early childhood centers to support working single mothers.</a:t>
            </a:r>
            <a:endParaRPr lang="en-US" sz="1800" dirty="0"/>
          </a:p>
        </p:txBody>
      </p:sp>
      <p:sp>
        <p:nvSpPr>
          <p:cNvPr id="9" name="Row – Pension Adjustments"/>
          <p:cNvSpPr/>
          <p:nvPr/>
        </p:nvSpPr>
        <p:spPr>
          <a:xfrm>
            <a:off x="594360" y="2907792"/>
            <a:ext cx="11002975" cy="932688"/>
          </a:xfrm>
          <a:prstGeom prst="roundRect">
            <a:avLst>
              <a:gd name="adj" fmla="val 11765"/>
            </a:avLst>
          </a:prstGeom>
          <a:solidFill>
            <a:schemeClr val="bg2"/>
          </a:solidFill>
          <a:ln/>
        </p:spPr>
      </p:sp>
      <p:sp>
        <p:nvSpPr>
          <p:cNvPr id="10" name="Pension Adjustments badge"/>
          <p:cNvSpPr/>
          <p:nvPr/>
        </p:nvSpPr>
        <p:spPr>
          <a:xfrm>
            <a:off x="868680" y="3054096"/>
            <a:ext cx="640080" cy="640080"/>
          </a:xfrm>
          <a:prstGeom prst="ellipse">
            <a:avLst/>
          </a:prstGeom>
          <a:solidFill>
            <a:schemeClr val="accent1"/>
          </a:solidFill>
          <a:ln/>
        </p:spPr>
      </p:sp>
      <p:pic>
        <p:nvPicPr>
          <p:cNvPr id="11" name="Pension Adjustments icon" descr="/tmp/claude-0/-home-user-Arturo/8d4d3924-7078-5160-a89d-b2e82f900b72/scratchpad/work/build/assets/icons/coins_FFFFFF.png">    </p:cNvPr>
          <p:cNvPicPr>
            <a:picLocks noChangeAspect="1"/>
          </p:cNvPicPr>
          <p:nvPr/>
        </p:nvPicPr>
        <p:blipFill>
          <a:blip r:embed="rId2"/>
          <a:stretch>
            <a:fillRect/>
          </a:stretch>
        </p:blipFill>
        <p:spPr>
          <a:xfrm>
            <a:off x="1028700" y="3214116"/>
            <a:ext cx="320040" cy="320040"/>
          </a:xfrm>
          <a:prstGeom prst="rect">
            <a:avLst/>
          </a:prstGeom>
        </p:spPr>
      </p:pic>
      <p:sp>
        <p:nvSpPr>
          <p:cNvPr id="12" name="Heading"/>
          <p:cNvSpPr txBox="1"/>
          <p:nvPr/>
        </p:nvSpPr>
        <p:spPr>
          <a:xfrm>
            <a:off x="1783080" y="2907792"/>
            <a:ext cx="3108960" cy="932688"/>
          </a:xfrm>
          <a:prstGeom prst="rect">
            <a:avLst/>
          </a:prstGeom>
          <a:noFill/>
          <a:ln/>
        </p:spPr>
        <p:txBody>
          <a:bodyPr wrap="square" lIns="0" tIns="0" rIns="0" bIns="0" rtlCol="0" anchor="ctr"/>
          <a:lstStyle/>
          <a:p>
            <a:pPr algn="l" indent="0" marL="0">
              <a:buNone/>
            </a:pPr>
            <a:r>
              <a:rPr lang="en-US" sz="2100" b="1" dirty="0">
                <a:solidFill>
                  <a:schemeClr val="tx2"/>
                </a:solidFill>
              </a:rPr>
              <a:t>Pension Adjustments</a:t>
            </a:r>
            <a:endParaRPr lang="en-US" sz="2100" dirty="0"/>
          </a:p>
        </p:txBody>
      </p:sp>
      <p:sp>
        <p:nvSpPr>
          <p:cNvPr id="13" name="Text 9"/>
          <p:cNvSpPr txBox="1"/>
          <p:nvPr/>
        </p:nvSpPr>
        <p:spPr>
          <a:xfrm>
            <a:off x="5074920" y="2907792"/>
            <a:ext cx="6248095" cy="932688"/>
          </a:xfrm>
          <a:prstGeom prst="rect">
            <a:avLst/>
          </a:prstGeom>
          <a:noFill/>
          <a:ln/>
        </p:spPr>
        <p:txBody>
          <a:bodyPr wrap="square" lIns="0" tIns="0" rIns="0" bIns="0" rtlCol="0" anchor="ctr"/>
          <a:lstStyle/>
          <a:p>
            <a:pPr algn="l" indent="0" marL="0">
              <a:buNone/>
            </a:pPr>
            <a:r>
              <a:rPr lang="en-US" sz="1800" dirty="0">
                <a:solidFill>
                  <a:srgbClr val="34475C"/>
                </a:solidFill>
              </a:rPr>
              <a:t>Gradually align retirement ages with expanding life expectancy.</a:t>
            </a:r>
            <a:endParaRPr lang="en-US" sz="1800" dirty="0"/>
          </a:p>
        </p:txBody>
      </p:sp>
      <p:sp>
        <p:nvSpPr>
          <p:cNvPr id="14" name="Row – Legal Equality"/>
          <p:cNvSpPr/>
          <p:nvPr/>
        </p:nvSpPr>
        <p:spPr>
          <a:xfrm>
            <a:off x="594360" y="3986784"/>
            <a:ext cx="11002975" cy="932688"/>
          </a:xfrm>
          <a:prstGeom prst="roundRect">
            <a:avLst>
              <a:gd name="adj" fmla="val 11765"/>
            </a:avLst>
          </a:prstGeom>
          <a:solidFill>
            <a:schemeClr val="bg2"/>
          </a:solidFill>
          <a:ln/>
        </p:spPr>
      </p:sp>
      <p:sp>
        <p:nvSpPr>
          <p:cNvPr id="15" name="Legal Equality badge"/>
          <p:cNvSpPr/>
          <p:nvPr/>
        </p:nvSpPr>
        <p:spPr>
          <a:xfrm>
            <a:off x="868680" y="4133088"/>
            <a:ext cx="640080" cy="640080"/>
          </a:xfrm>
          <a:prstGeom prst="ellipse">
            <a:avLst/>
          </a:prstGeom>
          <a:solidFill>
            <a:schemeClr val="accent1"/>
          </a:solidFill>
          <a:ln/>
        </p:spPr>
      </p:sp>
      <p:pic>
        <p:nvPicPr>
          <p:cNvPr id="16" name="Legal Equality icon" descr="/tmp/claude-0/-home-user-Arturo/8d4d3924-7078-5160-a89d-b2e82f900b72/scratchpad/work/build/assets/icons/scale_FFFFFF.png">    </p:cNvPr>
          <p:cNvPicPr>
            <a:picLocks noChangeAspect="1"/>
          </p:cNvPicPr>
          <p:nvPr/>
        </p:nvPicPr>
        <p:blipFill>
          <a:blip r:embed="rId3"/>
          <a:stretch>
            <a:fillRect/>
          </a:stretch>
        </p:blipFill>
        <p:spPr>
          <a:xfrm>
            <a:off x="1028700" y="4293108"/>
            <a:ext cx="320040" cy="320040"/>
          </a:xfrm>
          <a:prstGeom prst="rect">
            <a:avLst/>
          </a:prstGeom>
        </p:spPr>
      </p:pic>
      <p:sp>
        <p:nvSpPr>
          <p:cNvPr id="17" name="Heading"/>
          <p:cNvSpPr txBox="1"/>
          <p:nvPr/>
        </p:nvSpPr>
        <p:spPr>
          <a:xfrm>
            <a:off x="1783080" y="3986784"/>
            <a:ext cx="3108960" cy="932688"/>
          </a:xfrm>
          <a:prstGeom prst="rect">
            <a:avLst/>
          </a:prstGeom>
          <a:noFill/>
          <a:ln/>
        </p:spPr>
        <p:txBody>
          <a:bodyPr wrap="square" lIns="0" tIns="0" rIns="0" bIns="0" rtlCol="0" anchor="ctr"/>
          <a:lstStyle/>
          <a:p>
            <a:pPr algn="l" indent="0" marL="0">
              <a:buNone/>
            </a:pPr>
            <a:r>
              <a:rPr lang="en-US" sz="2100" b="1" dirty="0">
                <a:solidFill>
                  <a:schemeClr val="tx2"/>
                </a:solidFill>
              </a:rPr>
              <a:t>Legal Equality</a:t>
            </a:r>
            <a:endParaRPr lang="en-US" sz="2100" dirty="0"/>
          </a:p>
        </p:txBody>
      </p:sp>
      <p:sp>
        <p:nvSpPr>
          <p:cNvPr id="18" name="Text 13"/>
          <p:cNvSpPr txBox="1"/>
          <p:nvPr/>
        </p:nvSpPr>
        <p:spPr>
          <a:xfrm>
            <a:off x="5074920" y="3986784"/>
            <a:ext cx="6248095" cy="932688"/>
          </a:xfrm>
          <a:prstGeom prst="rect">
            <a:avLst/>
          </a:prstGeom>
          <a:noFill/>
          <a:ln/>
        </p:spPr>
        <p:txBody>
          <a:bodyPr wrap="square" lIns="0" tIns="0" rIns="0" bIns="0" rtlCol="0" anchor="ctr"/>
          <a:lstStyle/>
          <a:p>
            <a:pPr algn="l" indent="0" marL="0">
              <a:buNone/>
            </a:pPr>
            <a:r>
              <a:rPr lang="en-US" sz="1800" dirty="0">
                <a:solidFill>
                  <a:srgbClr val="34475C"/>
                </a:solidFill>
              </a:rPr>
              <a:t>Protect property and inheritance rights in common-law partnerships.</a:t>
            </a:r>
            <a:endParaRPr lang="en-US" sz="1800" dirty="0"/>
          </a:p>
        </p:txBody>
      </p:sp>
      <p:sp>
        <p:nvSpPr>
          <p:cNvPr id="19" name="Row – Youth Retention"/>
          <p:cNvSpPr/>
          <p:nvPr/>
        </p:nvSpPr>
        <p:spPr>
          <a:xfrm>
            <a:off x="594360" y="5065776"/>
            <a:ext cx="11002975" cy="932688"/>
          </a:xfrm>
          <a:prstGeom prst="roundRect">
            <a:avLst>
              <a:gd name="adj" fmla="val 11765"/>
            </a:avLst>
          </a:prstGeom>
          <a:solidFill>
            <a:schemeClr val="bg2"/>
          </a:solidFill>
          <a:ln/>
        </p:spPr>
      </p:sp>
      <p:sp>
        <p:nvSpPr>
          <p:cNvPr id="20" name="Youth Retention badge"/>
          <p:cNvSpPr/>
          <p:nvPr/>
        </p:nvSpPr>
        <p:spPr>
          <a:xfrm>
            <a:off x="868680" y="5212080"/>
            <a:ext cx="640080" cy="640080"/>
          </a:xfrm>
          <a:prstGeom prst="ellipse">
            <a:avLst/>
          </a:prstGeom>
          <a:solidFill>
            <a:schemeClr val="accent1"/>
          </a:solidFill>
          <a:ln/>
        </p:spPr>
      </p:sp>
      <p:pic>
        <p:nvPicPr>
          <p:cNvPr id="21" name="Youth Retention icon" descr="/tmp/claude-0/-home-user-Arturo/8d4d3924-7078-5160-a89d-b2e82f900b72/scratchpad/work/build/assets/icons/laptop_FFFFFF.png">    </p:cNvPr>
          <p:cNvPicPr>
            <a:picLocks noChangeAspect="1"/>
          </p:cNvPicPr>
          <p:nvPr/>
        </p:nvPicPr>
        <p:blipFill>
          <a:blip r:embed="rId4"/>
          <a:stretch>
            <a:fillRect/>
          </a:stretch>
        </p:blipFill>
        <p:spPr>
          <a:xfrm>
            <a:off x="1028700" y="5372100"/>
            <a:ext cx="320040" cy="320040"/>
          </a:xfrm>
          <a:prstGeom prst="rect">
            <a:avLst/>
          </a:prstGeom>
        </p:spPr>
      </p:pic>
      <p:sp>
        <p:nvSpPr>
          <p:cNvPr id="22" name="Heading"/>
          <p:cNvSpPr txBox="1"/>
          <p:nvPr/>
        </p:nvSpPr>
        <p:spPr>
          <a:xfrm>
            <a:off x="1783080" y="5065776"/>
            <a:ext cx="3108960" cy="932688"/>
          </a:xfrm>
          <a:prstGeom prst="rect">
            <a:avLst/>
          </a:prstGeom>
          <a:noFill/>
          <a:ln/>
        </p:spPr>
        <p:txBody>
          <a:bodyPr wrap="square" lIns="0" tIns="0" rIns="0" bIns="0" rtlCol="0" anchor="ctr"/>
          <a:lstStyle/>
          <a:p>
            <a:pPr algn="l" indent="0" marL="0">
              <a:buNone/>
            </a:pPr>
            <a:r>
              <a:rPr lang="en-US" sz="2100" b="1" dirty="0">
                <a:solidFill>
                  <a:schemeClr val="tx2"/>
                </a:solidFill>
              </a:rPr>
              <a:t>Youth Retention</a:t>
            </a:r>
            <a:endParaRPr lang="en-US" sz="2100" dirty="0"/>
          </a:p>
        </p:txBody>
      </p:sp>
      <p:sp>
        <p:nvSpPr>
          <p:cNvPr id="23" name="Text 17"/>
          <p:cNvSpPr txBox="1"/>
          <p:nvPr/>
        </p:nvSpPr>
        <p:spPr>
          <a:xfrm>
            <a:off x="5074920" y="5065776"/>
            <a:ext cx="6248095" cy="932688"/>
          </a:xfrm>
          <a:prstGeom prst="rect">
            <a:avLst/>
          </a:prstGeom>
          <a:noFill/>
          <a:ln/>
        </p:spPr>
        <p:txBody>
          <a:bodyPr wrap="square" lIns="0" tIns="0" rIns="0" bIns="0" rtlCol="0" anchor="ctr"/>
          <a:lstStyle/>
          <a:p>
            <a:pPr algn="l" indent="0" marL="0">
              <a:buNone/>
            </a:pPr>
            <a:r>
              <a:rPr lang="en-US" sz="1800" dirty="0">
                <a:solidFill>
                  <a:srgbClr val="34475C"/>
                </a:solidFill>
              </a:rPr>
              <a:t>Create remote tech jobs to curtail young adult brain drain.</a:t>
            </a:r>
            <a:endParaRPr lang="en-US" sz="1800" dirty="0"/>
          </a:p>
        </p:txBody>
      </p:sp>
      <p:sp>
        <p:nvSpPr>
          <p:cNvPr id="24" name="Text 0"/>
          <p:cNvSpPr/>
          <p:nvPr>
            <p:ph idx="102" type="body" hasCustomPrompt="1"/>
          </p:nvPr>
        </p:nvSpPr>
        <p:spPr>
          <a:xfrm>
            <a:off x="594360" y="1371600"/>
            <a:ext cx="11002975" cy="36576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94360" y="457200"/>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PUBLIC HEALTH</a:t>
            </a:r>
            <a:endParaRPr lang="en-US" sz="1200" dirty="0"/>
          </a:p>
        </p:txBody>
      </p:sp>
      <p:sp>
        <p:nvSpPr>
          <p:cNvPr id="3" name="Text 0"/>
          <p:cNvSpPr/>
          <p:nvPr>
            <p:ph idx="101" type="title" hasCustomPrompt="1"/>
          </p:nvPr>
        </p:nvSpPr>
        <p:spPr>
          <a:xfrm>
            <a:off x="594360" y="731520"/>
            <a:ext cx="11002975" cy="1005840"/>
          </a:xfrm>
          <a:prstGeom prst="rect">
            <a:avLst/>
          </a:prstGeom>
          <a:noFill/>
          <a:ln/>
        </p:spPr>
        <p:txBody>
          <a:bodyPr wrap="square" lIns="0" tIns="0" rIns="0" bIns="0" rtlCol="0" anchor="t"/>
          <a:lstStyle/>
          <a:p>
            <a:pPr algn="l" indent="0" marL="0">
              <a:buNone/>
            </a:pPr>
            <a:r>
              <a:rPr lang="en-US" sz="3200" b="1" dirty="0">
                <a:solidFill>
                  <a:schemeClr val="tx2"/>
                </a:solidFill>
              </a:rPr>
              <a:t>Epidemiological Transition Indicators</a:t>
            </a:r>
            <a:endParaRPr lang="en-US" sz="3200" dirty="0"/>
          </a:p>
        </p:txBody>
      </p:sp>
      <p:sp>
        <p:nvSpPr>
          <p:cNvPr id="4" name="Card – NCD Burden"/>
          <p:cNvSpPr/>
          <p:nvPr/>
        </p:nvSpPr>
        <p:spPr>
          <a:xfrm>
            <a:off x="594360" y="1920240"/>
            <a:ext cx="3484778" cy="3749040"/>
          </a:xfrm>
          <a:prstGeom prst="roundRect">
            <a:avLst>
              <a:gd name="adj" fmla="val 3149"/>
            </a:avLst>
          </a:prstGeom>
          <a:solidFill>
            <a:schemeClr val="bg2"/>
          </a:solidFill>
          <a:ln/>
        </p:spPr>
      </p:sp>
      <p:sp>
        <p:nvSpPr>
          <p:cNvPr id="5" name="NCD Burden badge"/>
          <p:cNvSpPr/>
          <p:nvPr/>
        </p:nvSpPr>
        <p:spPr>
          <a:xfrm>
            <a:off x="960120" y="2286000"/>
            <a:ext cx="914400" cy="914400"/>
          </a:xfrm>
          <a:prstGeom prst="ellipse">
            <a:avLst/>
          </a:prstGeom>
          <a:solidFill>
            <a:schemeClr val="accent1"/>
          </a:solidFill>
          <a:ln/>
        </p:spPr>
      </p:sp>
      <p:pic>
        <p:nvPicPr>
          <p:cNvPr id="6" name="NCD Burden icon" descr="/tmp/claude-0/-home-user-Arturo/8d4d3924-7078-5160-a89d-b2e82f900b72/scratchpad/work/build/assets/icons/heartbeat_FFFFFF.png">    </p:cNvPr>
          <p:cNvPicPr>
            <a:picLocks noChangeAspect="1"/>
          </p:cNvPicPr>
          <p:nvPr/>
        </p:nvPicPr>
        <p:blipFill>
          <a:blip r:embed="rId1"/>
          <a:stretch>
            <a:fillRect/>
          </a:stretch>
        </p:blipFill>
        <p:spPr>
          <a:xfrm>
            <a:off x="1188720" y="2514600"/>
            <a:ext cx="457200" cy="457200"/>
          </a:xfrm>
          <a:prstGeom prst="rect">
            <a:avLst/>
          </a:prstGeom>
        </p:spPr>
      </p:pic>
      <p:sp>
        <p:nvSpPr>
          <p:cNvPr id="7" name="Heading"/>
          <p:cNvSpPr txBox="1"/>
          <p:nvPr/>
        </p:nvSpPr>
        <p:spPr>
          <a:xfrm>
            <a:off x="960120" y="3429000"/>
            <a:ext cx="2753258" cy="365760"/>
          </a:xfrm>
          <a:prstGeom prst="rect">
            <a:avLst/>
          </a:prstGeom>
          <a:noFill/>
          <a:ln/>
        </p:spPr>
        <p:txBody>
          <a:bodyPr wrap="square" lIns="0" tIns="0" rIns="0" bIns="0" rtlCol="0" anchor="t"/>
          <a:lstStyle/>
          <a:p>
            <a:pPr algn="l" indent="0" marL="0">
              <a:buNone/>
            </a:pPr>
            <a:r>
              <a:rPr lang="en-US" sz="2200" b="1" dirty="0">
                <a:solidFill>
                  <a:schemeClr val="tx2"/>
                </a:solidFill>
              </a:rPr>
              <a:t>NCD Burden</a:t>
            </a:r>
            <a:endParaRPr lang="en-US" sz="2200" dirty="0"/>
          </a:p>
        </p:txBody>
      </p:sp>
      <p:sp>
        <p:nvSpPr>
          <p:cNvPr id="8" name="Text 5"/>
          <p:cNvSpPr txBox="1"/>
          <p:nvPr/>
        </p:nvSpPr>
        <p:spPr>
          <a:xfrm>
            <a:off x="960120" y="3931920"/>
            <a:ext cx="2753258" cy="1645920"/>
          </a:xfrm>
          <a:prstGeom prst="rect">
            <a:avLst/>
          </a:prstGeom>
          <a:noFill/>
          <a:ln/>
        </p:spPr>
        <p:txBody>
          <a:bodyPr wrap="square" lIns="0" tIns="0" rIns="0" bIns="0" rtlCol="0" anchor="t"/>
          <a:lstStyle/>
          <a:p>
            <a:pPr algn="l" indent="0" marL="0">
              <a:buNone/>
            </a:pPr>
            <a:r>
              <a:rPr lang="en-US" sz="1700" dirty="0">
                <a:solidFill>
                  <a:srgbClr val="34475C"/>
                </a:solidFill>
              </a:rPr>
              <a:t>Non-communicable diseases (diabetes, cardiovascular) cause over 75% of deaths in Anglo Caribbean.</a:t>
            </a:r>
            <a:endParaRPr lang="en-US" sz="1700" dirty="0"/>
          </a:p>
        </p:txBody>
      </p:sp>
      <p:sp>
        <p:nvSpPr>
          <p:cNvPr id="9" name="Card – Diabetes Prevalence"/>
          <p:cNvSpPr/>
          <p:nvPr/>
        </p:nvSpPr>
        <p:spPr>
          <a:xfrm>
            <a:off x="4353458" y="1920240"/>
            <a:ext cx="3484778" cy="3749040"/>
          </a:xfrm>
          <a:prstGeom prst="roundRect">
            <a:avLst>
              <a:gd name="adj" fmla="val 3149"/>
            </a:avLst>
          </a:prstGeom>
          <a:solidFill>
            <a:schemeClr val="bg2"/>
          </a:solidFill>
          <a:ln/>
        </p:spPr>
      </p:sp>
      <p:sp>
        <p:nvSpPr>
          <p:cNvPr id="10" name="Diabetes Prevalence badge"/>
          <p:cNvSpPr/>
          <p:nvPr/>
        </p:nvSpPr>
        <p:spPr>
          <a:xfrm>
            <a:off x="4719218" y="2286000"/>
            <a:ext cx="914400" cy="914400"/>
          </a:xfrm>
          <a:prstGeom prst="ellipse">
            <a:avLst/>
          </a:prstGeom>
          <a:solidFill>
            <a:schemeClr val="accent1"/>
          </a:solidFill>
          <a:ln/>
        </p:spPr>
      </p:sp>
      <p:pic>
        <p:nvPicPr>
          <p:cNvPr id="11" name="Diabetes Prevalence icon" descr="/tmp/claude-0/-home-user-Arturo/8d4d3924-7078-5160-a89d-b2e82f900b72/scratchpad/work/build/assets/icons/drop_FFFFFF.png">    </p:cNvPr>
          <p:cNvPicPr>
            <a:picLocks noChangeAspect="1"/>
          </p:cNvPicPr>
          <p:nvPr/>
        </p:nvPicPr>
        <p:blipFill>
          <a:blip r:embed="rId2"/>
          <a:stretch>
            <a:fillRect/>
          </a:stretch>
        </p:blipFill>
        <p:spPr>
          <a:xfrm>
            <a:off x="4947818" y="2514600"/>
            <a:ext cx="457200" cy="457200"/>
          </a:xfrm>
          <a:prstGeom prst="rect">
            <a:avLst/>
          </a:prstGeom>
        </p:spPr>
      </p:pic>
      <p:sp>
        <p:nvSpPr>
          <p:cNvPr id="12" name="Heading"/>
          <p:cNvSpPr txBox="1"/>
          <p:nvPr/>
        </p:nvSpPr>
        <p:spPr>
          <a:xfrm>
            <a:off x="4719218" y="3429000"/>
            <a:ext cx="2753258" cy="365760"/>
          </a:xfrm>
          <a:prstGeom prst="rect">
            <a:avLst/>
          </a:prstGeom>
          <a:noFill/>
          <a:ln/>
        </p:spPr>
        <p:txBody>
          <a:bodyPr wrap="square" lIns="0" tIns="0" rIns="0" bIns="0" rtlCol="0" anchor="t"/>
          <a:lstStyle/>
          <a:p>
            <a:pPr algn="l" indent="0" marL="0">
              <a:buNone/>
            </a:pPr>
            <a:r>
              <a:rPr lang="en-US" sz="2200" b="1" dirty="0">
                <a:solidFill>
                  <a:schemeClr val="tx2"/>
                </a:solidFill>
              </a:rPr>
              <a:t>Diabetes Prevalence</a:t>
            </a:r>
            <a:endParaRPr lang="en-US" sz="2200" dirty="0"/>
          </a:p>
        </p:txBody>
      </p:sp>
      <p:sp>
        <p:nvSpPr>
          <p:cNvPr id="13" name="Text 9"/>
          <p:cNvSpPr txBox="1"/>
          <p:nvPr/>
        </p:nvSpPr>
        <p:spPr>
          <a:xfrm>
            <a:off x="4719218" y="3931920"/>
            <a:ext cx="2753258" cy="1645920"/>
          </a:xfrm>
          <a:prstGeom prst="rect">
            <a:avLst/>
          </a:prstGeom>
          <a:noFill/>
          <a:ln/>
        </p:spPr>
        <p:txBody>
          <a:bodyPr wrap="square" lIns="0" tIns="0" rIns="0" bIns="0" rtlCol="0" anchor="t"/>
          <a:lstStyle/>
          <a:p>
            <a:pPr algn="l" indent="0" marL="0">
              <a:buNone/>
            </a:pPr>
            <a:r>
              <a:rPr lang="en-US" sz="1700" dirty="0">
                <a:solidFill>
                  <a:srgbClr val="34475C"/>
                </a:solidFill>
              </a:rPr>
              <a:t>Caribbean has among the world's highest rates (~12-15% adult prevalence).</a:t>
            </a:r>
            <a:endParaRPr lang="en-US" sz="1700" dirty="0"/>
          </a:p>
        </p:txBody>
      </p:sp>
      <p:sp>
        <p:nvSpPr>
          <p:cNvPr id="14" name="Card – Infant Mortality Gap"/>
          <p:cNvSpPr/>
          <p:nvPr/>
        </p:nvSpPr>
        <p:spPr>
          <a:xfrm>
            <a:off x="8112557" y="1920240"/>
            <a:ext cx="3484778" cy="3749040"/>
          </a:xfrm>
          <a:prstGeom prst="roundRect">
            <a:avLst>
              <a:gd name="adj" fmla="val 3149"/>
            </a:avLst>
          </a:prstGeom>
          <a:solidFill>
            <a:schemeClr val="bg2"/>
          </a:solidFill>
          <a:ln/>
        </p:spPr>
      </p:sp>
      <p:sp>
        <p:nvSpPr>
          <p:cNvPr id="15" name="Infant Mortality Gap badge"/>
          <p:cNvSpPr/>
          <p:nvPr/>
        </p:nvSpPr>
        <p:spPr>
          <a:xfrm>
            <a:off x="8478317" y="2286000"/>
            <a:ext cx="914400" cy="914400"/>
          </a:xfrm>
          <a:prstGeom prst="ellipse">
            <a:avLst/>
          </a:prstGeom>
          <a:solidFill>
            <a:schemeClr val="accent1"/>
          </a:solidFill>
          <a:ln/>
        </p:spPr>
      </p:sp>
      <p:pic>
        <p:nvPicPr>
          <p:cNvPr id="16" name="Infant Mortality Gap icon" descr="/tmp/claude-0/-home-user-Arturo/8d4d3924-7078-5160-a89d-b2e82f900b72/scratchpad/work/build/assets/icons/baby_FFFFFF.png">    </p:cNvPr>
          <p:cNvPicPr>
            <a:picLocks noChangeAspect="1"/>
          </p:cNvPicPr>
          <p:nvPr/>
        </p:nvPicPr>
        <p:blipFill>
          <a:blip r:embed="rId3"/>
          <a:stretch>
            <a:fillRect/>
          </a:stretch>
        </p:blipFill>
        <p:spPr>
          <a:xfrm>
            <a:off x="8706917" y="2514600"/>
            <a:ext cx="457200" cy="457200"/>
          </a:xfrm>
          <a:prstGeom prst="rect">
            <a:avLst/>
          </a:prstGeom>
        </p:spPr>
      </p:pic>
      <p:sp>
        <p:nvSpPr>
          <p:cNvPr id="17" name="Heading"/>
          <p:cNvSpPr txBox="1"/>
          <p:nvPr/>
        </p:nvSpPr>
        <p:spPr>
          <a:xfrm>
            <a:off x="8478317" y="3429000"/>
            <a:ext cx="2753258" cy="365760"/>
          </a:xfrm>
          <a:prstGeom prst="rect">
            <a:avLst/>
          </a:prstGeom>
          <a:noFill/>
          <a:ln/>
        </p:spPr>
        <p:txBody>
          <a:bodyPr wrap="square" lIns="0" tIns="0" rIns="0" bIns="0" rtlCol="0" anchor="t"/>
          <a:lstStyle/>
          <a:p>
            <a:pPr algn="l" indent="0" marL="0">
              <a:buNone/>
            </a:pPr>
            <a:r>
              <a:rPr lang="en-US" sz="2200" b="1" dirty="0">
                <a:solidFill>
                  <a:schemeClr val="tx2"/>
                </a:solidFill>
              </a:rPr>
              <a:t>Infant Mortality Gap</a:t>
            </a:r>
            <a:endParaRPr lang="en-US" sz="2200" dirty="0"/>
          </a:p>
        </p:txBody>
      </p:sp>
      <p:sp>
        <p:nvSpPr>
          <p:cNvPr id="18" name="Text 13"/>
          <p:cNvSpPr txBox="1"/>
          <p:nvPr/>
        </p:nvSpPr>
        <p:spPr>
          <a:xfrm>
            <a:off x="8478317" y="3931920"/>
            <a:ext cx="2753258" cy="1645920"/>
          </a:xfrm>
          <a:prstGeom prst="rect">
            <a:avLst/>
          </a:prstGeom>
          <a:noFill/>
          <a:ln/>
        </p:spPr>
        <p:txBody>
          <a:bodyPr wrap="square" lIns="0" tIns="0" rIns="0" bIns="0" rtlCol="0" anchor="t"/>
          <a:lstStyle/>
          <a:p>
            <a:pPr algn="l" indent="0" marL="0">
              <a:buNone/>
            </a:pPr>
            <a:r>
              <a:rPr lang="en-US" sz="1700" dirty="0">
                <a:solidFill>
                  <a:srgbClr val="34475C"/>
                </a:solidFill>
              </a:rPr>
              <a:t>Rangers from 5.1/1000 in Cuba to 48.0/1000 in Haiti.</a:t>
            </a:r>
            <a:endParaRPr lang="en-US" sz="1700" dirty="0"/>
          </a:p>
        </p:txBody>
      </p:sp>
      <p:sp>
        <p:nvSpPr>
          <p:cNvPr id="19" name="Text 0"/>
          <p:cNvSpPr/>
          <p:nvPr>
            <p:ph idx="102" type="body" hasCustomPrompt="1"/>
          </p:nvPr>
        </p:nvSpPr>
        <p:spPr>
          <a:xfrm>
            <a:off x="594360" y="1371600"/>
            <a:ext cx="11002975" cy="36576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94360" y="457200"/>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STRATEGIC INTERVENTIONS</a:t>
            </a:r>
            <a:endParaRPr lang="en-US" sz="1200" dirty="0"/>
          </a:p>
        </p:txBody>
      </p:sp>
      <p:sp>
        <p:nvSpPr>
          <p:cNvPr id="3" name="Text 0"/>
          <p:cNvSpPr/>
          <p:nvPr>
            <p:ph idx="101" type="title" hasCustomPrompt="1"/>
          </p:nvPr>
        </p:nvSpPr>
        <p:spPr>
          <a:xfrm>
            <a:off x="594360" y="731520"/>
            <a:ext cx="11002975" cy="1005840"/>
          </a:xfrm>
          <a:prstGeom prst="rect">
            <a:avLst/>
          </a:prstGeom>
          <a:noFill/>
          <a:ln/>
        </p:spPr>
        <p:txBody>
          <a:bodyPr wrap="square" lIns="0" tIns="0" rIns="0" bIns="0" rtlCol="0" anchor="t"/>
          <a:lstStyle/>
          <a:p>
            <a:pPr algn="l" indent="0" marL="0">
              <a:buNone/>
            </a:pPr>
            <a:r>
              <a:rPr lang="en-US" sz="3200" b="1" dirty="0">
                <a:solidFill>
                  <a:schemeClr val="tx2"/>
                </a:solidFill>
              </a:rPr>
              <a:t>Demographic Policy Action Framework</a:t>
            </a:r>
            <a:endParaRPr lang="en-US" sz="3200" dirty="0"/>
          </a:p>
        </p:txBody>
      </p:sp>
      <p:sp>
        <p:nvSpPr>
          <p:cNvPr id="4" name="Card – Pension Reform"/>
          <p:cNvSpPr/>
          <p:nvPr/>
        </p:nvSpPr>
        <p:spPr>
          <a:xfrm>
            <a:off x="594360" y="2103120"/>
            <a:ext cx="2545004" cy="3383280"/>
          </a:xfrm>
          <a:prstGeom prst="roundRect">
            <a:avLst>
              <a:gd name="adj" fmla="val 4312"/>
            </a:avLst>
          </a:prstGeom>
          <a:solidFill>
            <a:schemeClr val="bg2"/>
          </a:solidFill>
          <a:ln/>
        </p:spPr>
      </p:sp>
      <p:sp>
        <p:nvSpPr>
          <p:cNvPr id="5" name="Number 1"/>
          <p:cNvSpPr txBox="1"/>
          <p:nvPr/>
        </p:nvSpPr>
        <p:spPr>
          <a:xfrm>
            <a:off x="868680" y="2423160"/>
            <a:ext cx="777240" cy="777240"/>
          </a:xfrm>
          <a:prstGeom prst="ellipse">
            <a:avLst/>
          </a:prstGeom>
          <a:solidFill>
            <a:schemeClr val="accent1"/>
          </a:solidFill>
          <a:ln/>
        </p:spPr>
        <p:txBody>
          <a:bodyPr wrap="square" lIns="0" tIns="0" rIns="0" bIns="0" rtlCol="0" anchor="ctr"/>
          <a:lstStyle/>
          <a:p>
            <a:pPr algn="ctr" indent="0" marL="0">
              <a:buNone/>
            </a:pPr>
            <a:r>
              <a:rPr lang="en-US" sz="3000" b="1" dirty="0">
                <a:solidFill>
                  <a:schemeClr val="bg1"/>
                </a:solidFill>
                <a:latin typeface="+mj-lt" pitchFamily="34" charset="0"/>
                <a:ea typeface="+mj-lt" pitchFamily="34" charset="-122"/>
                <a:cs typeface="+mj-lt" pitchFamily="34" charset="-120"/>
              </a:rPr>
              <a:t>1</a:t>
            </a:r>
            <a:endParaRPr lang="en-US" sz="3000" dirty="0"/>
          </a:p>
        </p:txBody>
      </p:sp>
      <p:sp>
        <p:nvSpPr>
          <p:cNvPr id="6" name="Heading"/>
          <p:cNvSpPr txBox="1"/>
          <p:nvPr/>
        </p:nvSpPr>
        <p:spPr>
          <a:xfrm>
            <a:off x="868680" y="3429000"/>
            <a:ext cx="1996364" cy="640080"/>
          </a:xfrm>
          <a:prstGeom prst="rect">
            <a:avLst/>
          </a:prstGeom>
          <a:noFill/>
          <a:ln/>
        </p:spPr>
        <p:txBody>
          <a:bodyPr wrap="square" lIns="0" tIns="0" rIns="0" bIns="0" rtlCol="0" anchor="t"/>
          <a:lstStyle/>
          <a:p>
            <a:pPr algn="l" indent="0" marL="0">
              <a:buNone/>
            </a:pPr>
            <a:r>
              <a:rPr lang="en-US" sz="2000" b="1" dirty="0">
                <a:solidFill>
                  <a:schemeClr val="tx2"/>
                </a:solidFill>
              </a:rPr>
              <a:t>Pension Reform</a:t>
            </a:r>
            <a:endParaRPr lang="en-US" sz="2000" dirty="0"/>
          </a:p>
        </p:txBody>
      </p:sp>
      <p:sp>
        <p:nvSpPr>
          <p:cNvPr id="7" name="Text 5"/>
          <p:cNvSpPr txBox="1"/>
          <p:nvPr/>
        </p:nvSpPr>
        <p:spPr>
          <a:xfrm>
            <a:off x="868680" y="4114800"/>
            <a:ext cx="1996364" cy="1188720"/>
          </a:xfrm>
          <a:prstGeom prst="rect">
            <a:avLst/>
          </a:prstGeom>
          <a:noFill/>
          <a:ln/>
        </p:spPr>
        <p:txBody>
          <a:bodyPr wrap="square" lIns="0" tIns="0" rIns="0" bIns="0" rtlCol="0" anchor="t"/>
          <a:lstStyle/>
          <a:p>
            <a:pPr algn="l" indent="0" marL="0">
              <a:buNone/>
            </a:pPr>
            <a:r>
              <a:rPr lang="en-US" sz="1700" dirty="0">
                <a:solidFill>
                  <a:srgbClr val="34475C"/>
                </a:solidFill>
              </a:rPr>
              <a:t>Adjust retirement age to offset labor shortages.</a:t>
            </a:r>
            <a:endParaRPr lang="en-US" sz="1700" dirty="0"/>
          </a:p>
        </p:txBody>
      </p:sp>
      <p:sp>
        <p:nvSpPr>
          <p:cNvPr id="8" name="Step arrow"/>
          <p:cNvSpPr/>
          <p:nvPr/>
        </p:nvSpPr>
        <p:spPr>
          <a:xfrm>
            <a:off x="3175940" y="3611880"/>
            <a:ext cx="201168" cy="365760"/>
          </a:xfrm>
          <a:prstGeom prst="chevron">
            <a:avLst/>
          </a:prstGeom>
          <a:solidFill>
            <a:schemeClr val="accent4"/>
          </a:solidFill>
          <a:ln/>
        </p:spPr>
      </p:sp>
      <p:sp>
        <p:nvSpPr>
          <p:cNvPr id="9" name="Card – Diaspora Engagement"/>
          <p:cNvSpPr/>
          <p:nvPr/>
        </p:nvSpPr>
        <p:spPr>
          <a:xfrm>
            <a:off x="3413684" y="2103120"/>
            <a:ext cx="2545004" cy="3383280"/>
          </a:xfrm>
          <a:prstGeom prst="roundRect">
            <a:avLst>
              <a:gd name="adj" fmla="val 4312"/>
            </a:avLst>
          </a:prstGeom>
          <a:solidFill>
            <a:schemeClr val="bg2"/>
          </a:solidFill>
          <a:ln/>
        </p:spPr>
      </p:sp>
      <p:sp>
        <p:nvSpPr>
          <p:cNvPr id="10" name="Number 2"/>
          <p:cNvSpPr txBox="1"/>
          <p:nvPr/>
        </p:nvSpPr>
        <p:spPr>
          <a:xfrm>
            <a:off x="3688004" y="2423160"/>
            <a:ext cx="777240" cy="777240"/>
          </a:xfrm>
          <a:prstGeom prst="ellipse">
            <a:avLst/>
          </a:prstGeom>
          <a:solidFill>
            <a:schemeClr val="accent1"/>
          </a:solidFill>
          <a:ln/>
        </p:spPr>
        <p:txBody>
          <a:bodyPr wrap="square" lIns="0" tIns="0" rIns="0" bIns="0" rtlCol="0" anchor="ctr"/>
          <a:lstStyle/>
          <a:p>
            <a:pPr algn="ctr" indent="0" marL="0">
              <a:buNone/>
            </a:pPr>
            <a:r>
              <a:rPr lang="en-US" sz="3000" b="1" dirty="0">
                <a:solidFill>
                  <a:schemeClr val="bg1"/>
                </a:solidFill>
                <a:latin typeface="+mj-lt" pitchFamily="34" charset="0"/>
                <a:ea typeface="+mj-lt" pitchFamily="34" charset="-122"/>
                <a:cs typeface="+mj-lt" pitchFamily="34" charset="-120"/>
              </a:rPr>
              <a:t>2</a:t>
            </a:r>
            <a:endParaRPr lang="en-US" sz="3000" dirty="0"/>
          </a:p>
        </p:txBody>
      </p:sp>
      <p:sp>
        <p:nvSpPr>
          <p:cNvPr id="11" name="Heading"/>
          <p:cNvSpPr txBox="1"/>
          <p:nvPr/>
        </p:nvSpPr>
        <p:spPr>
          <a:xfrm>
            <a:off x="3688004" y="3429000"/>
            <a:ext cx="1996364" cy="640080"/>
          </a:xfrm>
          <a:prstGeom prst="rect">
            <a:avLst/>
          </a:prstGeom>
          <a:noFill/>
          <a:ln/>
        </p:spPr>
        <p:txBody>
          <a:bodyPr wrap="square" lIns="0" tIns="0" rIns="0" bIns="0" rtlCol="0" anchor="t"/>
          <a:lstStyle/>
          <a:p>
            <a:pPr algn="l" indent="0" marL="0">
              <a:buNone/>
            </a:pPr>
            <a:r>
              <a:rPr lang="en-US" sz="2000" b="1" dirty="0">
                <a:solidFill>
                  <a:schemeClr val="tx2"/>
                </a:solidFill>
              </a:rPr>
              <a:t>Diaspora Engagement</a:t>
            </a:r>
            <a:endParaRPr lang="en-US" sz="2000" dirty="0"/>
          </a:p>
        </p:txBody>
      </p:sp>
      <p:sp>
        <p:nvSpPr>
          <p:cNvPr id="12" name="Text 10"/>
          <p:cNvSpPr txBox="1"/>
          <p:nvPr/>
        </p:nvSpPr>
        <p:spPr>
          <a:xfrm>
            <a:off x="3688004" y="4114800"/>
            <a:ext cx="1996364" cy="1188720"/>
          </a:xfrm>
          <a:prstGeom prst="rect">
            <a:avLst/>
          </a:prstGeom>
          <a:noFill/>
          <a:ln/>
        </p:spPr>
        <p:txBody>
          <a:bodyPr wrap="square" lIns="0" tIns="0" rIns="0" bIns="0" rtlCol="0" anchor="t"/>
          <a:lstStyle/>
          <a:p>
            <a:pPr algn="l" indent="0" marL="0">
              <a:buNone/>
            </a:pPr>
            <a:r>
              <a:rPr lang="en-US" sz="1700" dirty="0">
                <a:solidFill>
                  <a:srgbClr val="34475C"/>
                </a:solidFill>
              </a:rPr>
              <a:t>Leverage remote work &amp; talent repatriation.</a:t>
            </a:r>
            <a:endParaRPr lang="en-US" sz="1700" dirty="0"/>
          </a:p>
        </p:txBody>
      </p:sp>
      <p:sp>
        <p:nvSpPr>
          <p:cNvPr id="13" name="Step arrow"/>
          <p:cNvSpPr/>
          <p:nvPr/>
        </p:nvSpPr>
        <p:spPr>
          <a:xfrm>
            <a:off x="5995264" y="3611880"/>
            <a:ext cx="201168" cy="365760"/>
          </a:xfrm>
          <a:prstGeom prst="chevron">
            <a:avLst/>
          </a:prstGeom>
          <a:solidFill>
            <a:schemeClr val="accent4"/>
          </a:solidFill>
          <a:ln/>
        </p:spPr>
      </p:sp>
      <p:sp>
        <p:nvSpPr>
          <p:cNvPr id="14" name="Card – Healthcare Scaling"/>
          <p:cNvSpPr/>
          <p:nvPr/>
        </p:nvSpPr>
        <p:spPr>
          <a:xfrm>
            <a:off x="6233008" y="2103120"/>
            <a:ext cx="2545004" cy="3383280"/>
          </a:xfrm>
          <a:prstGeom prst="roundRect">
            <a:avLst>
              <a:gd name="adj" fmla="val 4312"/>
            </a:avLst>
          </a:prstGeom>
          <a:solidFill>
            <a:schemeClr val="bg2"/>
          </a:solidFill>
          <a:ln/>
        </p:spPr>
      </p:sp>
      <p:sp>
        <p:nvSpPr>
          <p:cNvPr id="15" name="Number 3"/>
          <p:cNvSpPr txBox="1"/>
          <p:nvPr/>
        </p:nvSpPr>
        <p:spPr>
          <a:xfrm>
            <a:off x="6507328" y="2423160"/>
            <a:ext cx="777240" cy="777240"/>
          </a:xfrm>
          <a:prstGeom prst="ellipse">
            <a:avLst/>
          </a:prstGeom>
          <a:solidFill>
            <a:schemeClr val="accent1"/>
          </a:solidFill>
          <a:ln/>
        </p:spPr>
        <p:txBody>
          <a:bodyPr wrap="square" lIns="0" tIns="0" rIns="0" bIns="0" rtlCol="0" anchor="ctr"/>
          <a:lstStyle/>
          <a:p>
            <a:pPr algn="ctr" indent="0" marL="0">
              <a:buNone/>
            </a:pPr>
            <a:r>
              <a:rPr lang="en-US" sz="3000" b="1" dirty="0">
                <a:solidFill>
                  <a:schemeClr val="bg1"/>
                </a:solidFill>
                <a:latin typeface="+mj-lt" pitchFamily="34" charset="0"/>
                <a:ea typeface="+mj-lt" pitchFamily="34" charset="-122"/>
                <a:cs typeface="+mj-lt" pitchFamily="34" charset="-120"/>
              </a:rPr>
              <a:t>3</a:t>
            </a:r>
            <a:endParaRPr lang="en-US" sz="3000" dirty="0"/>
          </a:p>
        </p:txBody>
      </p:sp>
      <p:sp>
        <p:nvSpPr>
          <p:cNvPr id="16" name="Heading"/>
          <p:cNvSpPr txBox="1"/>
          <p:nvPr/>
        </p:nvSpPr>
        <p:spPr>
          <a:xfrm>
            <a:off x="6507328" y="3429000"/>
            <a:ext cx="1996364" cy="640080"/>
          </a:xfrm>
          <a:prstGeom prst="rect">
            <a:avLst/>
          </a:prstGeom>
          <a:noFill/>
          <a:ln/>
        </p:spPr>
        <p:txBody>
          <a:bodyPr wrap="square" lIns="0" tIns="0" rIns="0" bIns="0" rtlCol="0" anchor="t"/>
          <a:lstStyle/>
          <a:p>
            <a:pPr algn="l" indent="0" marL="0">
              <a:buNone/>
            </a:pPr>
            <a:r>
              <a:rPr lang="en-US" sz="2000" b="1" dirty="0">
                <a:solidFill>
                  <a:schemeClr val="tx2"/>
                </a:solidFill>
              </a:rPr>
              <a:t>Healthcare Scaling</a:t>
            </a:r>
            <a:endParaRPr lang="en-US" sz="2000" dirty="0"/>
          </a:p>
        </p:txBody>
      </p:sp>
      <p:sp>
        <p:nvSpPr>
          <p:cNvPr id="17" name="Text 15"/>
          <p:cNvSpPr txBox="1"/>
          <p:nvPr/>
        </p:nvSpPr>
        <p:spPr>
          <a:xfrm>
            <a:off x="6507328" y="4114800"/>
            <a:ext cx="1996364" cy="1188720"/>
          </a:xfrm>
          <a:prstGeom prst="rect">
            <a:avLst/>
          </a:prstGeom>
          <a:noFill/>
          <a:ln/>
        </p:spPr>
        <p:txBody>
          <a:bodyPr wrap="square" lIns="0" tIns="0" rIns="0" bIns="0" rtlCol="0" anchor="t"/>
          <a:lstStyle/>
          <a:p>
            <a:pPr algn="l" indent="0" marL="0">
              <a:buNone/>
            </a:pPr>
            <a:r>
              <a:rPr lang="en-US" sz="1700" dirty="0">
                <a:solidFill>
                  <a:srgbClr val="34475C"/>
                </a:solidFill>
              </a:rPr>
              <a:t>Expand geriatric care infrastructure.</a:t>
            </a:r>
            <a:endParaRPr lang="en-US" sz="1700" dirty="0"/>
          </a:p>
        </p:txBody>
      </p:sp>
      <p:sp>
        <p:nvSpPr>
          <p:cNvPr id="18" name="Step arrow"/>
          <p:cNvSpPr/>
          <p:nvPr/>
        </p:nvSpPr>
        <p:spPr>
          <a:xfrm>
            <a:off x="8814587" y="3611880"/>
            <a:ext cx="201168" cy="365760"/>
          </a:xfrm>
          <a:prstGeom prst="chevron">
            <a:avLst/>
          </a:prstGeom>
          <a:solidFill>
            <a:schemeClr val="accent4"/>
          </a:solidFill>
          <a:ln/>
        </p:spPr>
      </p:sp>
      <p:sp>
        <p:nvSpPr>
          <p:cNvPr id="19" name="Card – Youth Retention"/>
          <p:cNvSpPr/>
          <p:nvPr/>
        </p:nvSpPr>
        <p:spPr>
          <a:xfrm>
            <a:off x="9052331" y="2103120"/>
            <a:ext cx="2545004" cy="3383280"/>
          </a:xfrm>
          <a:prstGeom prst="roundRect">
            <a:avLst>
              <a:gd name="adj" fmla="val 4312"/>
            </a:avLst>
          </a:prstGeom>
          <a:solidFill>
            <a:schemeClr val="bg2"/>
          </a:solidFill>
          <a:ln/>
        </p:spPr>
      </p:sp>
      <p:sp>
        <p:nvSpPr>
          <p:cNvPr id="20" name="Number 4"/>
          <p:cNvSpPr txBox="1"/>
          <p:nvPr/>
        </p:nvSpPr>
        <p:spPr>
          <a:xfrm>
            <a:off x="9326651" y="2423160"/>
            <a:ext cx="777240" cy="777240"/>
          </a:xfrm>
          <a:prstGeom prst="ellipse">
            <a:avLst/>
          </a:prstGeom>
          <a:solidFill>
            <a:schemeClr val="accent1"/>
          </a:solidFill>
          <a:ln/>
        </p:spPr>
        <p:txBody>
          <a:bodyPr wrap="square" lIns="0" tIns="0" rIns="0" bIns="0" rtlCol="0" anchor="ctr"/>
          <a:lstStyle/>
          <a:p>
            <a:pPr algn="ctr" indent="0" marL="0">
              <a:buNone/>
            </a:pPr>
            <a:r>
              <a:rPr lang="en-US" sz="3000" b="1" dirty="0">
                <a:solidFill>
                  <a:schemeClr val="bg1"/>
                </a:solidFill>
                <a:latin typeface="+mj-lt" pitchFamily="34" charset="0"/>
                <a:ea typeface="+mj-lt" pitchFamily="34" charset="-122"/>
                <a:cs typeface="+mj-lt" pitchFamily="34" charset="-120"/>
              </a:rPr>
              <a:t>4</a:t>
            </a:r>
            <a:endParaRPr lang="en-US" sz="3000" dirty="0"/>
          </a:p>
        </p:txBody>
      </p:sp>
      <p:sp>
        <p:nvSpPr>
          <p:cNvPr id="21" name="Heading"/>
          <p:cNvSpPr txBox="1"/>
          <p:nvPr/>
        </p:nvSpPr>
        <p:spPr>
          <a:xfrm>
            <a:off x="9326651" y="3429000"/>
            <a:ext cx="1996364" cy="640080"/>
          </a:xfrm>
          <a:prstGeom prst="rect">
            <a:avLst/>
          </a:prstGeom>
          <a:noFill/>
          <a:ln/>
        </p:spPr>
        <p:txBody>
          <a:bodyPr wrap="square" lIns="0" tIns="0" rIns="0" bIns="0" rtlCol="0" anchor="t"/>
          <a:lstStyle/>
          <a:p>
            <a:pPr algn="l" indent="0" marL="0">
              <a:buNone/>
            </a:pPr>
            <a:r>
              <a:rPr lang="en-US" sz="2000" b="1" dirty="0">
                <a:solidFill>
                  <a:schemeClr val="tx2"/>
                </a:solidFill>
              </a:rPr>
              <a:t>Youth Retention</a:t>
            </a:r>
            <a:endParaRPr lang="en-US" sz="2000" dirty="0"/>
          </a:p>
        </p:txBody>
      </p:sp>
      <p:sp>
        <p:nvSpPr>
          <p:cNvPr id="22" name="Text 20"/>
          <p:cNvSpPr txBox="1"/>
          <p:nvPr/>
        </p:nvSpPr>
        <p:spPr>
          <a:xfrm>
            <a:off x="9326651" y="4114800"/>
            <a:ext cx="1996364" cy="1188720"/>
          </a:xfrm>
          <a:prstGeom prst="rect">
            <a:avLst/>
          </a:prstGeom>
          <a:noFill/>
          <a:ln/>
        </p:spPr>
        <p:txBody>
          <a:bodyPr wrap="square" lIns="0" tIns="0" rIns="0" bIns="0" rtlCol="0" anchor="t"/>
          <a:lstStyle/>
          <a:p>
            <a:pPr algn="l" indent="0" marL="0">
              <a:buNone/>
            </a:pPr>
            <a:r>
              <a:rPr lang="en-US" sz="1700" dirty="0">
                <a:solidFill>
                  <a:srgbClr val="34475C"/>
                </a:solidFill>
              </a:rPr>
              <a:t>Boost tech education &amp; local job creation.</a:t>
            </a:r>
            <a:endParaRPr lang="en-US" sz="1700" dirty="0"/>
          </a:p>
        </p:txBody>
      </p:sp>
      <p:sp>
        <p:nvSpPr>
          <p:cNvPr id="23" name="Text 0"/>
          <p:cNvSpPr/>
          <p:nvPr>
            <p:ph idx="102" type="body" hasCustomPrompt="1"/>
          </p:nvPr>
        </p:nvSpPr>
        <p:spPr>
          <a:xfrm>
            <a:off x="594360" y="1371600"/>
            <a:ext cx="11002975" cy="36576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94360" y="457200"/>
            <a:ext cx="822960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KEY TAKEAWAYS</a:t>
            </a:r>
            <a:endParaRPr lang="en-US" sz="1200" dirty="0"/>
          </a:p>
        </p:txBody>
      </p:sp>
      <p:sp>
        <p:nvSpPr>
          <p:cNvPr id="3" name="Text 0"/>
          <p:cNvSpPr/>
          <p:nvPr>
            <p:ph idx="101" type="title" hasCustomPrompt="1"/>
          </p:nvPr>
        </p:nvSpPr>
        <p:spPr>
          <a:xfrm>
            <a:off x="594360" y="731520"/>
            <a:ext cx="11002975" cy="1005840"/>
          </a:xfrm>
          <a:prstGeom prst="rect">
            <a:avLst/>
          </a:prstGeom>
          <a:noFill/>
          <a:ln/>
        </p:spPr>
        <p:txBody>
          <a:bodyPr wrap="square" lIns="0" tIns="0" rIns="0" bIns="0" rtlCol="0" anchor="t"/>
          <a:lstStyle/>
          <a:p>
            <a:pPr algn="l" indent="0" marL="0">
              <a:buNone/>
            </a:pPr>
            <a:r>
              <a:rPr lang="en-US" sz="3200" b="1" dirty="0">
                <a:solidFill>
                  <a:schemeClr val="tx2"/>
                </a:solidFill>
              </a:rPr>
              <a:t>Summary: The Demographic Horizon</a:t>
            </a:r>
            <a:endParaRPr lang="en-US" sz="3200" dirty="0"/>
          </a:p>
        </p:txBody>
      </p:sp>
      <p:sp>
        <p:nvSpPr>
          <p:cNvPr id="4" name="Card – 1. Persistent Low Fertility"/>
          <p:cNvSpPr/>
          <p:nvPr/>
        </p:nvSpPr>
        <p:spPr>
          <a:xfrm>
            <a:off x="594360" y="1828800"/>
            <a:ext cx="11002975" cy="1280160"/>
          </a:xfrm>
          <a:prstGeom prst="roundRect">
            <a:avLst>
              <a:gd name="adj" fmla="val 8571"/>
            </a:avLst>
          </a:prstGeom>
          <a:solidFill>
            <a:schemeClr val="bg2"/>
          </a:solidFill>
          <a:ln/>
        </p:spPr>
      </p:sp>
      <p:sp>
        <p:nvSpPr>
          <p:cNvPr id="5" name="1. Persistent Low Fertility badge"/>
          <p:cNvSpPr/>
          <p:nvPr/>
        </p:nvSpPr>
        <p:spPr>
          <a:xfrm>
            <a:off x="960120" y="2103120"/>
            <a:ext cx="731520" cy="731520"/>
          </a:xfrm>
          <a:prstGeom prst="ellipse">
            <a:avLst/>
          </a:prstGeom>
          <a:solidFill>
            <a:schemeClr val="accent1"/>
          </a:solidFill>
          <a:ln/>
        </p:spPr>
      </p:sp>
      <p:pic>
        <p:nvPicPr>
          <p:cNvPr id="6" name="1. Persistent Low Fertility icon" descr="/tmp/claude-0/-home-user-Arturo/8d4d3924-7078-5160-a89d-b2e82f900b72/scratchpad/work/build/assets/icons/trendDown_FFFFFF.png">    </p:cNvPr>
          <p:cNvPicPr>
            <a:picLocks noChangeAspect="1"/>
          </p:cNvPicPr>
          <p:nvPr/>
        </p:nvPicPr>
        <p:blipFill>
          <a:blip r:embed="rId1"/>
          <a:stretch>
            <a:fillRect/>
          </a:stretch>
        </p:blipFill>
        <p:spPr>
          <a:xfrm>
            <a:off x="1143000" y="2286000"/>
            <a:ext cx="365760" cy="365760"/>
          </a:xfrm>
          <a:prstGeom prst="rect">
            <a:avLst/>
          </a:prstGeom>
        </p:spPr>
      </p:pic>
      <p:sp>
        <p:nvSpPr>
          <p:cNvPr id="7" name="Heading"/>
          <p:cNvSpPr txBox="1"/>
          <p:nvPr/>
        </p:nvSpPr>
        <p:spPr>
          <a:xfrm>
            <a:off x="2057400" y="2029968"/>
            <a:ext cx="9174175" cy="384048"/>
          </a:xfrm>
          <a:prstGeom prst="rect">
            <a:avLst/>
          </a:prstGeom>
          <a:noFill/>
          <a:ln/>
        </p:spPr>
        <p:txBody>
          <a:bodyPr wrap="square" lIns="0" tIns="0" rIns="0" bIns="0" rtlCol="0" anchor="t"/>
          <a:lstStyle/>
          <a:p>
            <a:pPr algn="l" indent="0" marL="0">
              <a:buNone/>
            </a:pPr>
            <a:r>
              <a:rPr lang="en-US" sz="2400" b="1" dirty="0">
                <a:solidFill>
                  <a:schemeClr val="tx2"/>
                </a:solidFill>
              </a:rPr>
              <a:t>1. Persistent Low Fertility</a:t>
            </a:r>
            <a:endParaRPr lang="en-US" sz="2400" dirty="0"/>
          </a:p>
        </p:txBody>
      </p:sp>
      <p:sp>
        <p:nvSpPr>
          <p:cNvPr id="8" name="Text 5"/>
          <p:cNvSpPr txBox="1"/>
          <p:nvPr/>
        </p:nvSpPr>
        <p:spPr>
          <a:xfrm>
            <a:off x="2057400" y="2487168"/>
            <a:ext cx="9174175" cy="502920"/>
          </a:xfrm>
          <a:prstGeom prst="rect">
            <a:avLst/>
          </a:prstGeom>
          <a:noFill/>
          <a:ln/>
        </p:spPr>
        <p:txBody>
          <a:bodyPr wrap="square" lIns="0" tIns="0" rIns="0" bIns="0" rtlCol="0" anchor="t"/>
          <a:lstStyle/>
          <a:p>
            <a:pPr algn="l" indent="0" marL="0">
              <a:buNone/>
            </a:pPr>
            <a:r>
              <a:rPr lang="en-US" sz="1800" dirty="0">
                <a:solidFill>
                  <a:srgbClr val="34475C"/>
                </a:solidFill>
              </a:rPr>
              <a:t>OECS states have firmly entered low fertility regimes, accelerating population decline risks.</a:t>
            </a:r>
            <a:endParaRPr lang="en-US" sz="1800" dirty="0"/>
          </a:p>
        </p:txBody>
      </p:sp>
      <p:sp>
        <p:nvSpPr>
          <p:cNvPr id="9" name="Card – 2. Non-Traditional Family Norms"/>
          <p:cNvSpPr/>
          <p:nvPr/>
        </p:nvSpPr>
        <p:spPr>
          <a:xfrm>
            <a:off x="594360" y="3291840"/>
            <a:ext cx="11002975" cy="1280160"/>
          </a:xfrm>
          <a:prstGeom prst="roundRect">
            <a:avLst>
              <a:gd name="adj" fmla="val 8571"/>
            </a:avLst>
          </a:prstGeom>
          <a:solidFill>
            <a:schemeClr val="bg2"/>
          </a:solidFill>
          <a:ln/>
        </p:spPr>
      </p:sp>
      <p:sp>
        <p:nvSpPr>
          <p:cNvPr id="10" name="2. Non-Traditional Family Norms badge"/>
          <p:cNvSpPr/>
          <p:nvPr/>
        </p:nvSpPr>
        <p:spPr>
          <a:xfrm>
            <a:off x="960120" y="3566160"/>
            <a:ext cx="731520" cy="731520"/>
          </a:xfrm>
          <a:prstGeom prst="ellipse">
            <a:avLst/>
          </a:prstGeom>
          <a:solidFill>
            <a:schemeClr val="accent1"/>
          </a:solidFill>
          <a:ln/>
        </p:spPr>
      </p:sp>
      <p:pic>
        <p:nvPicPr>
          <p:cNvPr id="11" name="2. Non-Traditional Family Norms icon" descr="/tmp/claude-0/-home-user-Arturo/8d4d3924-7078-5160-a89d-b2e82f900b72/scratchpad/work/build/assets/icons/users_FFFFFF.png">    </p:cNvPr>
          <p:cNvPicPr>
            <a:picLocks noChangeAspect="1"/>
          </p:cNvPicPr>
          <p:nvPr/>
        </p:nvPicPr>
        <p:blipFill>
          <a:blip r:embed="rId2"/>
          <a:stretch>
            <a:fillRect/>
          </a:stretch>
        </p:blipFill>
        <p:spPr>
          <a:xfrm>
            <a:off x="1143000" y="3749040"/>
            <a:ext cx="365760" cy="365760"/>
          </a:xfrm>
          <a:prstGeom prst="rect">
            <a:avLst/>
          </a:prstGeom>
        </p:spPr>
      </p:pic>
      <p:sp>
        <p:nvSpPr>
          <p:cNvPr id="12" name="Heading"/>
          <p:cNvSpPr txBox="1"/>
          <p:nvPr/>
        </p:nvSpPr>
        <p:spPr>
          <a:xfrm>
            <a:off x="2057400" y="3493008"/>
            <a:ext cx="9174175" cy="384048"/>
          </a:xfrm>
          <a:prstGeom prst="rect">
            <a:avLst/>
          </a:prstGeom>
          <a:noFill/>
          <a:ln/>
        </p:spPr>
        <p:txBody>
          <a:bodyPr wrap="square" lIns="0" tIns="0" rIns="0" bIns="0" rtlCol="0" anchor="t"/>
          <a:lstStyle/>
          <a:p>
            <a:pPr algn="l" indent="0" marL="0">
              <a:buNone/>
            </a:pPr>
            <a:r>
              <a:rPr lang="en-US" sz="2400" b="1" dirty="0">
                <a:solidFill>
                  <a:schemeClr val="tx2"/>
                </a:solidFill>
              </a:rPr>
              <a:t>2. Non-Traditional Family Norms</a:t>
            </a:r>
            <a:endParaRPr lang="en-US" sz="2400" dirty="0"/>
          </a:p>
        </p:txBody>
      </p:sp>
      <p:sp>
        <p:nvSpPr>
          <p:cNvPr id="13" name="Text 9"/>
          <p:cNvSpPr txBox="1"/>
          <p:nvPr/>
        </p:nvSpPr>
        <p:spPr>
          <a:xfrm>
            <a:off x="2057400" y="3950208"/>
            <a:ext cx="9174175" cy="502920"/>
          </a:xfrm>
          <a:prstGeom prst="rect">
            <a:avLst/>
          </a:prstGeom>
          <a:noFill/>
          <a:ln/>
        </p:spPr>
        <p:txBody>
          <a:bodyPr wrap="square" lIns="0" tIns="0" rIns="0" bIns="0" rtlCol="0" anchor="t"/>
          <a:lstStyle/>
          <a:p>
            <a:pPr algn="l" indent="0" marL="0">
              <a:buNone/>
            </a:pPr>
            <a:r>
              <a:rPr lang="en-US" sz="1800" dirty="0">
                <a:solidFill>
                  <a:srgbClr val="34475C"/>
                </a:solidFill>
              </a:rPr>
              <a:t>Formal marriage is a secondary family structure; visiting and common-law unions prevail.</a:t>
            </a:r>
            <a:endParaRPr lang="en-US" sz="1800" dirty="0"/>
          </a:p>
        </p:txBody>
      </p:sp>
      <p:sp>
        <p:nvSpPr>
          <p:cNvPr id="14" name="Card – 3. Aging Care Deficit"/>
          <p:cNvSpPr/>
          <p:nvPr/>
        </p:nvSpPr>
        <p:spPr>
          <a:xfrm>
            <a:off x="594360" y="4754880"/>
            <a:ext cx="11002975" cy="1280160"/>
          </a:xfrm>
          <a:prstGeom prst="roundRect">
            <a:avLst>
              <a:gd name="adj" fmla="val 8571"/>
            </a:avLst>
          </a:prstGeom>
          <a:solidFill>
            <a:schemeClr val="bg2"/>
          </a:solidFill>
          <a:ln/>
        </p:spPr>
      </p:sp>
      <p:sp>
        <p:nvSpPr>
          <p:cNvPr id="15" name="3. Aging Care Deficit badge"/>
          <p:cNvSpPr/>
          <p:nvPr/>
        </p:nvSpPr>
        <p:spPr>
          <a:xfrm>
            <a:off x="960120" y="5029200"/>
            <a:ext cx="731520" cy="731520"/>
          </a:xfrm>
          <a:prstGeom prst="ellipse">
            <a:avLst/>
          </a:prstGeom>
          <a:solidFill>
            <a:schemeClr val="accent2"/>
          </a:solidFill>
          <a:ln/>
        </p:spPr>
      </p:sp>
      <p:pic>
        <p:nvPicPr>
          <p:cNvPr id="16" name="3. Aging Care Deficit icon" descr="/tmp/claude-0/-home-user-Arturo/8d4d3924-7078-5160-a89d-b2e82f900b72/scratchpad/work/build/assets/icons/handHeart_FFFFFF.png">    </p:cNvPr>
          <p:cNvPicPr>
            <a:picLocks noChangeAspect="1"/>
          </p:cNvPicPr>
          <p:nvPr/>
        </p:nvPicPr>
        <p:blipFill>
          <a:blip r:embed="rId3"/>
          <a:stretch>
            <a:fillRect/>
          </a:stretch>
        </p:blipFill>
        <p:spPr>
          <a:xfrm>
            <a:off x="1143000" y="5212080"/>
            <a:ext cx="365760" cy="365760"/>
          </a:xfrm>
          <a:prstGeom prst="rect">
            <a:avLst/>
          </a:prstGeom>
        </p:spPr>
      </p:pic>
      <p:sp>
        <p:nvSpPr>
          <p:cNvPr id="17" name="Heading"/>
          <p:cNvSpPr txBox="1"/>
          <p:nvPr/>
        </p:nvSpPr>
        <p:spPr>
          <a:xfrm>
            <a:off x="2057400" y="4956048"/>
            <a:ext cx="9174175" cy="384048"/>
          </a:xfrm>
          <a:prstGeom prst="rect">
            <a:avLst/>
          </a:prstGeom>
          <a:noFill/>
          <a:ln/>
        </p:spPr>
        <p:txBody>
          <a:bodyPr wrap="square" lIns="0" tIns="0" rIns="0" bIns="0" rtlCol="0" anchor="t"/>
          <a:lstStyle/>
          <a:p>
            <a:pPr algn="l" indent="0" marL="0">
              <a:buNone/>
            </a:pPr>
            <a:r>
              <a:rPr lang="en-US" sz="2400" b="1" dirty="0">
                <a:solidFill>
                  <a:schemeClr val="tx2"/>
                </a:solidFill>
              </a:rPr>
              <a:t>3. Aging Care Deficit</a:t>
            </a:r>
            <a:endParaRPr lang="en-US" sz="2400" dirty="0"/>
          </a:p>
        </p:txBody>
      </p:sp>
      <p:sp>
        <p:nvSpPr>
          <p:cNvPr id="18" name="Text 13"/>
          <p:cNvSpPr txBox="1"/>
          <p:nvPr/>
        </p:nvSpPr>
        <p:spPr>
          <a:xfrm>
            <a:off x="2057400" y="5413248"/>
            <a:ext cx="9174175" cy="502920"/>
          </a:xfrm>
          <a:prstGeom prst="rect">
            <a:avLst/>
          </a:prstGeom>
          <a:noFill/>
          <a:ln/>
        </p:spPr>
        <p:txBody>
          <a:bodyPr wrap="square" lIns="0" tIns="0" rIns="0" bIns="0" rtlCol="0" anchor="t"/>
          <a:lstStyle/>
          <a:p>
            <a:pPr algn="l" indent="0" marL="0">
              <a:buNone/>
            </a:pPr>
            <a:r>
              <a:rPr lang="en-US" sz="1800" dirty="0">
                <a:solidFill>
                  <a:srgbClr val="34475C"/>
                </a:solidFill>
              </a:rPr>
              <a:t>Small island budgets require structural healthcare and pension adaptation before 2035.</a:t>
            </a:r>
            <a:endParaRPr lang="en-US" sz="1800" dirty="0"/>
          </a:p>
        </p:txBody>
      </p:sp>
      <p:sp>
        <p:nvSpPr>
          <p:cNvPr id="19" name="Text 0"/>
          <p:cNvSpPr/>
          <p:nvPr>
            <p:ph idx="102" type="body" hasCustomPrompt="1"/>
          </p:nvPr>
        </p:nvSpPr>
        <p:spPr>
          <a:xfrm>
            <a:off x="594360" y="1371600"/>
            <a:ext cx="11002975" cy="36576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868680" y="2011680"/>
            <a:ext cx="10424160" cy="2286000"/>
          </a:xfrm>
          <a:prstGeom prst="rect">
            <a:avLst/>
          </a:prstGeom>
          <a:noFill/>
          <a:ln/>
        </p:spPr>
        <p:txBody>
          <a:bodyPr wrap="square" lIns="0" tIns="0" rIns="0" bIns="0" rtlCol="0" anchor="ctr"/>
          <a:lstStyle/>
          <a:p>
            <a:pPr algn="l" indent="0" marL="0">
              <a:spcAft>
                <a:spcPts val="1400"/>
              </a:spcAft>
              <a:buNone/>
            </a:pPr>
            <a:r>
              <a:rPr lang="en-US" sz="4400" b="1" dirty="0">
                <a:solidFill>
                  <a:schemeClr val="bg1"/>
                </a:solidFill>
              </a:rPr>
              <a:t>Challenges, social and financial</a:t>
            </a:r>
            <a:endParaRPr lang="en-US" sz="4400" dirty="0"/>
          </a:p>
          <a:p>
            <a:pPr algn="l" indent="0" marL="0">
              <a:spcAft>
                <a:spcPts val="1400"/>
              </a:spcAft>
              <a:buNone/>
            </a:pPr>
            <a:r>
              <a:rPr lang="en-US" sz="3200" b="1" dirty="0">
                <a:solidFill>
                  <a:schemeClr val="accent4"/>
                </a:solidFill>
              </a:rPr>
              <a:t>Economic and actuarial views</a:t>
            </a:r>
            <a:endParaRPr lang="en-US" sz="4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594360" y="731520"/>
            <a:ext cx="11002975" cy="1005840"/>
          </a:xfrm>
          <a:prstGeom prst="rect">
            <a:avLst/>
          </a:prstGeom>
          <a:noFill/>
          <a:ln/>
        </p:spPr>
        <p:txBody>
          <a:bodyPr wrap="square" lIns="0" tIns="0" rIns="0" bIns="0" rtlCol="0" anchor="t"/>
          <a:lstStyle/>
          <a:p>
            <a:pPr algn="l" indent="0" marL="0">
              <a:buNone/>
            </a:pPr>
            <a:r>
              <a:rPr lang="en-US" sz="3200" b="1" dirty="0">
                <a:solidFill>
                  <a:schemeClr val="tx2"/>
                </a:solidFill>
              </a:rPr>
              <a:t>It is not possible to predict the evolution of key variables in the long term</a:t>
            </a:r>
            <a:endParaRPr lang="en-US" sz="3200" dirty="0"/>
          </a:p>
        </p:txBody>
      </p:sp>
      <p:sp>
        <p:nvSpPr>
          <p:cNvPr id="3" name="Source citation"/>
          <p:cNvSpPr txBox="1"/>
          <p:nvPr/>
        </p:nvSpPr>
        <p:spPr>
          <a:xfrm>
            <a:off x="594360" y="1810512"/>
            <a:ext cx="11002975" cy="411480"/>
          </a:xfrm>
          <a:prstGeom prst="rect">
            <a:avLst/>
          </a:prstGeom>
          <a:noFill/>
          <a:ln/>
        </p:spPr>
        <p:txBody>
          <a:bodyPr wrap="square" lIns="0" tIns="0" rIns="0" bIns="0" rtlCol="0" anchor="t"/>
          <a:lstStyle/>
          <a:p>
            <a:pPr indent="0" marL="0">
              <a:buNone/>
            </a:pPr>
            <a:r>
              <a:rPr lang="en-US" sz="1200" b="1" dirty="0">
                <a:solidFill>
                  <a:srgbClr val="5B6B7D"/>
                </a:solidFill>
              </a:rPr>
              <a:t>Jeremy Greenwood, Nezih Guner and Guillaume Vandenbroucke. Family Economics Writ Large. FEDERAL RESERVE BANK OF ST. LOUIS </a:t>
            </a:r>
            <a:pPr indent="0" marL="0">
              <a:buNone/>
            </a:pPr>
            <a:r>
              <a:rPr lang="en-US" sz="1200" dirty="0">
                <a:solidFill>
                  <a:srgbClr val="5B6B7D"/>
                </a:solidFill>
              </a:rPr>
              <a:t>Working Paper Series</a:t>
            </a:r>
            <a:endParaRPr lang="en-US" sz="1200" dirty="0"/>
          </a:p>
          <a:p>
            <a:pPr indent="0" marL="0">
              <a:buNone/>
            </a:pPr>
            <a:r>
              <a:rPr lang="en-US" sz="1200" dirty="0">
                <a:solidFill>
                  <a:srgbClr val="5B6B7D"/>
                </a:solidFill>
              </a:rPr>
              <a:t>Working Paper 2016-026B </a:t>
            </a:r>
            <a:pPr indent="0" marL="0">
              <a:buNone/>
            </a:pPr>
            <a:r>
              <a:rPr lang="en-US" sz="1200" u="sng" dirty="0">
                <a:solidFill>
                  <a:srgbClr val="5B6B7D"/>
                </a:solidFill>
                <a:hlinkClick r:id="rId1" invalidUrl="" action="" tgtFrame="" tooltip="" history="1" highlightClick="0" endSnd="0">
                  <a:extLst>
                    <a:ext uri="{A12FA001-AC4F-418D-AE19-62706E023703}">
                      <ahyp:hlinkClr xmlns:ahyp="http://schemas.microsoft.com/office/drawing/2018/hyperlinkcolor" val="tx"/>
                    </a:ext>
                  </a:extLst>
                </a:hlinkClick>
              </a:rPr>
              <a:t>https://doi.org/10.20955/wp.2016.026</a:t>
            </a:r>
            <a:pPr indent="0" marL="0">
              <a:buNone/>
            </a:pPr>
            <a:r>
              <a:rPr lang="en-US" sz="1200" dirty="0">
                <a:solidFill>
                  <a:srgbClr val="5B6B7D"/>
                </a:solidFill>
              </a:rPr>
              <a:t>. January 2017</a:t>
            </a:r>
            <a:endParaRPr lang="en-US" sz="1200" dirty="0"/>
          </a:p>
        </p:txBody>
      </p:sp>
      <p:graphicFrame>
        <p:nvGraphicFramePr>
          <p:cNvPr id="4" name="Chart 0" descr="Scatter plot: female labor-force participation (%) versus ln GDP per capita for a panel of countries, with a U-shaped fitted curve"/>
          <p:cNvGraphicFramePr/>
          <p:nvPr/>
        </p:nvGraphicFramePr>
        <p:xfrm>
          <a:off x="594360" y="2331720"/>
          <a:ext cx="4937760" cy="2697480"/>
        </p:xfrm>
        <a:graphic xmlns:a="http://schemas.openxmlformats.org/drawingml/2006/main">
          <a:graphicData uri="http://schemas.openxmlformats.org/drawingml/2006/chart">
            <c:chart xmlns:c="http://schemas.openxmlformats.org/drawingml/2006/chart" r:id="rId2"/>
          </a:graphicData>
        </a:graphic>
      </p:graphicFrame>
      <p:graphicFrame>
        <p:nvGraphicFramePr>
          <p:cNvPr id="5" name="Chart 1" descr="Scatter plot: female labor-force participation (%) versus gender gap (%), fitted line with slope -0.33"/>
          <p:cNvGraphicFramePr/>
          <p:nvPr/>
        </p:nvGraphicFramePr>
        <p:xfrm>
          <a:off x="5852160" y="2331720"/>
          <a:ext cx="2836012" cy="2697480"/>
        </p:xfrm>
        <a:graphic xmlns:a="http://schemas.openxmlformats.org/drawingml/2006/main">
          <a:graphicData uri="http://schemas.openxmlformats.org/drawingml/2006/chart">
            <c:chart xmlns:c="http://schemas.openxmlformats.org/drawingml/2006/chart" r:id="rId3"/>
          </a:graphicData>
        </a:graphic>
      </p:graphicFrame>
      <p:graphicFrame>
        <p:nvGraphicFramePr>
          <p:cNvPr id="6" name="Chart 2" descr="Scatter plot: female labor-force participation (%) versus automation index, fitted line with slope 10.88"/>
          <p:cNvGraphicFramePr/>
          <p:nvPr/>
        </p:nvGraphicFramePr>
        <p:xfrm>
          <a:off x="8761324" y="2331720"/>
          <a:ext cx="2836012" cy="2697480"/>
        </p:xfrm>
        <a:graphic xmlns:a="http://schemas.openxmlformats.org/drawingml/2006/main">
          <a:graphicData uri="http://schemas.openxmlformats.org/drawingml/2006/chart">
            <c:chart xmlns:c="http://schemas.openxmlformats.org/drawingml/2006/chart" r:id="rId4"/>
          </a:graphicData>
        </a:graphic>
      </p:graphicFrame>
      <p:sp>
        <p:nvSpPr>
          <p:cNvPr id="7" name="Slope annotation"/>
          <p:cNvSpPr txBox="1"/>
          <p:nvPr/>
        </p:nvSpPr>
        <p:spPr>
          <a:xfrm>
            <a:off x="6969779" y="3523253"/>
            <a:ext cx="1280160" cy="219456"/>
          </a:xfrm>
          <a:prstGeom prst="rect">
            <a:avLst/>
          </a:prstGeom>
          <a:noFill/>
          <a:ln/>
        </p:spPr>
        <p:txBody>
          <a:bodyPr wrap="square" lIns="0" tIns="0" rIns="0" bIns="0" rtlCol="0" anchor="ctr"/>
          <a:lstStyle/>
          <a:p>
            <a:pPr algn="ctr" indent="0" marL="0">
              <a:buNone/>
            </a:pPr>
            <a:r>
              <a:rPr lang="en-US" sz="1100" dirty="0">
                <a:solidFill>
                  <a:srgbClr val="10243E"/>
                </a:solidFill>
              </a:rPr>
              <a:t>Slope = -0.33</a:t>
            </a:r>
            <a:endParaRPr lang="en-US" sz="1100" dirty="0"/>
          </a:p>
        </p:txBody>
      </p:sp>
      <p:sp>
        <p:nvSpPr>
          <p:cNvPr id="8" name="Slope annotation"/>
          <p:cNvSpPr txBox="1"/>
          <p:nvPr/>
        </p:nvSpPr>
        <p:spPr>
          <a:xfrm>
            <a:off x="9354238" y="3479917"/>
            <a:ext cx="1280160" cy="219456"/>
          </a:xfrm>
          <a:prstGeom prst="rect">
            <a:avLst/>
          </a:prstGeom>
          <a:noFill/>
          <a:ln/>
        </p:spPr>
        <p:txBody>
          <a:bodyPr wrap="square" lIns="0" tIns="0" rIns="0" bIns="0" rtlCol="0" anchor="ctr"/>
          <a:lstStyle/>
          <a:p>
            <a:pPr algn="ctr" indent="0" marL="0">
              <a:buNone/>
            </a:pPr>
            <a:r>
              <a:rPr lang="en-US" sz="1100" dirty="0">
                <a:solidFill>
                  <a:srgbClr val="10243E"/>
                </a:solidFill>
              </a:rPr>
              <a:t>Slope = 10.88</a:t>
            </a:r>
            <a:endParaRPr lang="en-US" sz="1100" dirty="0"/>
          </a:p>
        </p:txBody>
      </p:sp>
      <p:sp>
        <p:nvSpPr>
          <p:cNvPr id="9" name="Figure caption"/>
          <p:cNvSpPr txBox="1"/>
          <p:nvPr/>
        </p:nvSpPr>
        <p:spPr>
          <a:xfrm>
            <a:off x="594360" y="5047488"/>
            <a:ext cx="4937760" cy="411480"/>
          </a:xfrm>
          <a:prstGeom prst="rect">
            <a:avLst/>
          </a:prstGeom>
          <a:noFill/>
          <a:ln/>
        </p:spPr>
        <p:txBody>
          <a:bodyPr wrap="square" lIns="0" tIns="0" rIns="0" bIns="0" rtlCol="0" anchor="t"/>
          <a:lstStyle/>
          <a:p>
            <a:pPr indent="0" marL="0">
              <a:buNone/>
            </a:pPr>
            <a:r>
              <a:rPr lang="en-US" sz="1100" b="1" dirty="0">
                <a:solidFill>
                  <a:schemeClr val="tx2"/>
                </a:solidFill>
              </a:rPr>
              <a:t>Figure 4. </a:t>
            </a:r>
            <a:pPr indent="0" marL="0">
              <a:buNone/>
            </a:pPr>
            <a:r>
              <a:rPr lang="en-US" sz="1100" dirty="0">
                <a:solidFill>
                  <a:srgbClr val="5B6B7D"/>
                </a:solidFill>
              </a:rPr>
              <a:t>Economic Development and Female Labor-Force Participation for a Panel of Countries, 1890-2005</a:t>
            </a:r>
            <a:endParaRPr lang="en-US" sz="1100" dirty="0"/>
          </a:p>
        </p:txBody>
      </p:sp>
      <p:sp>
        <p:nvSpPr>
          <p:cNvPr id="10" name="Figure caption"/>
          <p:cNvSpPr txBox="1"/>
          <p:nvPr/>
        </p:nvSpPr>
        <p:spPr>
          <a:xfrm>
            <a:off x="5852160" y="5047488"/>
            <a:ext cx="5745175" cy="411480"/>
          </a:xfrm>
          <a:prstGeom prst="rect">
            <a:avLst/>
          </a:prstGeom>
          <a:noFill/>
          <a:ln/>
        </p:spPr>
        <p:txBody>
          <a:bodyPr wrap="square" lIns="0" tIns="0" rIns="0" bIns="0" rtlCol="0" anchor="t"/>
          <a:lstStyle/>
          <a:p>
            <a:pPr indent="0" marL="0">
              <a:buNone/>
            </a:pPr>
            <a:r>
              <a:rPr lang="en-US" sz="1100" b="1" dirty="0">
                <a:solidFill>
                  <a:schemeClr val="tx2"/>
                </a:solidFill>
              </a:rPr>
              <a:t>Figure 6. </a:t>
            </a:r>
            <a:pPr indent="0" marL="0">
              <a:buNone/>
            </a:pPr>
            <a:r>
              <a:rPr lang="en-US" sz="1100" dirty="0">
                <a:solidFill>
                  <a:srgbClr val="5B6B7D"/>
                </a:solidFill>
              </a:rPr>
              <a:t>Gender Gap and Household Technologies versus Female Labor-Force Participation for a Cross Section of Countries</a:t>
            </a:r>
            <a:endParaRPr lang="en-US" sz="1100" dirty="0"/>
          </a:p>
        </p:txBody>
      </p:sp>
      <p:sp>
        <p:nvSpPr>
          <p:cNvPr id="11" name="Text 6"/>
          <p:cNvSpPr txBox="1"/>
          <p:nvPr/>
        </p:nvSpPr>
        <p:spPr>
          <a:xfrm>
            <a:off x="594360" y="5559552"/>
            <a:ext cx="4937760" cy="731520"/>
          </a:xfrm>
          <a:prstGeom prst="rect">
            <a:avLst/>
          </a:prstGeom>
          <a:noFill/>
          <a:ln/>
        </p:spPr>
        <p:txBody>
          <a:bodyPr wrap="square" lIns="0" tIns="0" rIns="0" bIns="0" rtlCol="0" anchor="t"/>
          <a:lstStyle/>
          <a:p>
            <a:pPr algn="l" indent="0" marL="0">
              <a:buNone/>
            </a:pPr>
            <a:r>
              <a:rPr lang="en-US" sz="1400" dirty="0">
                <a:solidFill>
                  <a:schemeClr val="tx2"/>
                </a:solidFill>
              </a:rPr>
              <a:t>With development, there is more work by women, but there is a great dispersion over time and between countries.</a:t>
            </a:r>
            <a:endParaRPr lang="en-US" sz="1400" dirty="0"/>
          </a:p>
        </p:txBody>
      </p:sp>
      <p:sp>
        <p:nvSpPr>
          <p:cNvPr id="12" name="Text 7"/>
          <p:cNvSpPr txBox="1"/>
          <p:nvPr/>
        </p:nvSpPr>
        <p:spPr>
          <a:xfrm>
            <a:off x="5852160" y="5559552"/>
            <a:ext cx="5745175" cy="777240"/>
          </a:xfrm>
          <a:prstGeom prst="rect">
            <a:avLst/>
          </a:prstGeom>
          <a:noFill/>
          <a:ln/>
        </p:spPr>
        <p:txBody>
          <a:bodyPr wrap="square" lIns="0" tIns="0" rIns="0" bIns="0" rtlCol="0" anchor="t"/>
          <a:lstStyle/>
          <a:p>
            <a:pPr algn="l" indent="0" marL="0">
              <a:buNone/>
            </a:pPr>
            <a:r>
              <a:rPr lang="en-US" sz="1400" dirty="0">
                <a:solidFill>
                  <a:schemeClr val="tx2"/>
                </a:solidFill>
              </a:rPr>
              <a:t>Automation has historically favored women's work (cheaper household appliances). This is not easy to predict, and we are currently living in an era of high automation due to digitalization and AI.</a:t>
            </a:r>
            <a:endParaRPr lang="en-US" sz="1400" dirty="0"/>
          </a:p>
        </p:txBody>
      </p:sp>
      <p:sp>
        <p:nvSpPr>
          <p:cNvPr id="13" name="Text 0"/>
          <p:cNvSpPr/>
          <p:nvPr>
            <p:ph idx="100" type="body" hasCustomPrompt="1"/>
          </p:nvPr>
        </p:nvSpPr>
        <p:spPr>
          <a:xfrm>
            <a:off x="594360" y="457200"/>
            <a:ext cx="8229600" cy="274320"/>
          </a:xfrm>
          <a:prstGeom prst="rect">
            <a:avLst/>
          </a:prstGeom>
          <a:noFill/>
          <a:ln/>
        </p:spPr>
        <p:txBody>
          <a:bodyPr wrap="square" lIns="0" tIns="0" rIns="0" bIns="0" rtlCol="0" anchor="t"/>
          <a:lstStyle/>
          <a:p>
            <a:pPr algn="l" indent="0" marL="0">
              <a:buNone/>
            </a:pPr>
            <a:endParaRPr lang="en-US" sz="1200" dirty="0"/>
          </a:p>
        </p:txBody>
      </p:sp>
      <p:sp>
        <p:nvSpPr>
          <p:cNvPr id="14" name="Text 0"/>
          <p:cNvSpPr/>
          <p:nvPr>
            <p:ph idx="102" type="body" hasCustomPrompt="1"/>
          </p:nvPr>
        </p:nvSpPr>
        <p:spPr>
          <a:xfrm>
            <a:off x="594360" y="1371600"/>
            <a:ext cx="11002975" cy="36576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594360" y="731520"/>
            <a:ext cx="11002975" cy="1005840"/>
          </a:xfrm>
          <a:prstGeom prst="rect">
            <a:avLst/>
          </a:prstGeom>
          <a:noFill/>
          <a:ln/>
        </p:spPr>
        <p:txBody>
          <a:bodyPr wrap="square" lIns="0" tIns="0" rIns="0" bIns="0" rtlCol="0" anchor="t"/>
          <a:lstStyle/>
          <a:p>
            <a:pPr algn="l" indent="0" marL="0">
              <a:buNone/>
            </a:pPr>
            <a:r>
              <a:rPr lang="en-US" sz="3200" b="1" dirty="0">
                <a:solidFill>
                  <a:schemeClr val="tx2"/>
                </a:solidFill>
              </a:rPr>
              <a:t>Another example of a variable that is very difficult to predict: marriage</a:t>
            </a:r>
            <a:endParaRPr lang="en-US" sz="3200" dirty="0"/>
          </a:p>
        </p:txBody>
      </p:sp>
      <p:pic>
        <p:nvPicPr>
          <p:cNvPr id="3" name="Chart – Marriage rates (Our World in Data)" descr="Line chart: marriage rates per 1,000 people for the United States, Costa Rica, Poland, Mexico, South Korea, Argentina, Chile, Canada and Colombia">    </p:cNvPr>
          <p:cNvPicPr>
            <a:picLocks noChangeAspect="1"/>
          </p:cNvPicPr>
          <p:nvPr/>
        </p:nvPicPr>
        <p:blipFill>
          <a:blip r:embed="rId1"/>
          <a:stretch>
            <a:fillRect/>
          </a:stretch>
        </p:blipFill>
        <p:spPr>
          <a:xfrm>
            <a:off x="594360" y="1874520"/>
            <a:ext cx="5486400" cy="3872753"/>
          </a:xfrm>
          <a:prstGeom prst="rect">
            <a:avLst/>
          </a:prstGeom>
        </p:spPr>
      </p:pic>
      <p:sp>
        <p:nvSpPr>
          <p:cNvPr id="4" name="Text 1"/>
          <p:cNvSpPr txBox="1"/>
          <p:nvPr/>
        </p:nvSpPr>
        <p:spPr>
          <a:xfrm>
            <a:off x="594360" y="5838713"/>
            <a:ext cx="5486400" cy="411480"/>
          </a:xfrm>
          <a:prstGeom prst="rect">
            <a:avLst/>
          </a:prstGeom>
          <a:noFill/>
          <a:ln/>
        </p:spPr>
        <p:txBody>
          <a:bodyPr wrap="square" lIns="0" tIns="0" rIns="0" bIns="0" rtlCol="0" anchor="t"/>
          <a:lstStyle/>
          <a:p>
            <a:pPr algn="l" indent="0" marL="0">
              <a:buNone/>
            </a:pPr>
            <a:r>
              <a:rPr lang="en-US" sz="1000" dirty="0">
                <a:solidFill>
                  <a:srgbClr val="5B6B7D"/>
                </a:solidFill>
              </a:rPr>
              <a:t>OECD (2025), OECD (2024), US Census Bureau (1949), Centers for Disease Control and Prevention (2020) – with minor processing by Our World in Data</a:t>
            </a:r>
            <a:endParaRPr lang="en-US" sz="1000" dirty="0"/>
          </a:p>
        </p:txBody>
      </p:sp>
      <p:sp>
        <p:nvSpPr>
          <p:cNvPr id="5" name="Text card"/>
          <p:cNvSpPr/>
          <p:nvPr/>
        </p:nvSpPr>
        <p:spPr>
          <a:xfrm>
            <a:off x="6537960" y="1874520"/>
            <a:ext cx="5059375" cy="4023360"/>
          </a:xfrm>
          <a:prstGeom prst="roundRect">
            <a:avLst>
              <a:gd name="adj" fmla="val 2727"/>
            </a:avLst>
          </a:prstGeom>
          <a:solidFill>
            <a:schemeClr val="bg2"/>
          </a:solidFill>
          <a:ln/>
        </p:spPr>
      </p:sp>
      <p:sp>
        <p:nvSpPr>
          <p:cNvPr id="6" name="Marriage commentary"/>
          <p:cNvSpPr txBox="1"/>
          <p:nvPr/>
        </p:nvSpPr>
        <p:spPr>
          <a:xfrm>
            <a:off x="6812280" y="2103120"/>
            <a:ext cx="4510735" cy="3611880"/>
          </a:xfrm>
          <a:prstGeom prst="rect">
            <a:avLst/>
          </a:prstGeom>
          <a:noFill/>
          <a:ln/>
        </p:spPr>
        <p:txBody>
          <a:bodyPr wrap="square" lIns="0" tIns="0" rIns="0" bIns="0" rtlCol="0" anchor="ctr"/>
          <a:lstStyle/>
          <a:p>
            <a:pPr indent="0" marL="0">
              <a:spcAft>
                <a:spcPts val="1200"/>
              </a:spcAft>
              <a:buNone/>
            </a:pPr>
            <a:r>
              <a:rPr lang="en-US" sz="1600" dirty="0">
                <a:solidFill>
                  <a:srgbClr val="34475C"/>
                </a:solidFill>
              </a:rPr>
              <a:t>A relatively recent example of the difficulty of predicting behavior, one of great relevance: the fall in marriage rates and the growth of births out of wedlock.</a:t>
            </a:r>
            <a:endParaRPr lang="en-US" sz="1600" dirty="0"/>
          </a:p>
          <a:p>
            <a:pPr indent="0" marL="0">
              <a:spcAft>
                <a:spcPts val="1200"/>
              </a:spcAft>
              <a:buNone/>
            </a:pPr>
            <a:r>
              <a:rPr lang="en-US" sz="1600" dirty="0">
                <a:solidFill>
                  <a:srgbClr val="34475C"/>
                </a:solidFill>
              </a:rPr>
              <a:t>Initially, it seemed that it was just an elevation of the age of marriage.</a:t>
            </a:r>
            <a:endParaRPr lang="en-US" sz="1600" dirty="0"/>
          </a:p>
          <a:p>
            <a:pPr indent="0" marL="0">
              <a:spcAft>
                <a:spcPts val="1200"/>
              </a:spcAft>
              <a:buNone/>
            </a:pPr>
            <a:r>
              <a:rPr lang="en-US" sz="1600" dirty="0">
                <a:solidFill>
                  <a:srgbClr val="34475C"/>
                </a:solidFill>
              </a:rPr>
              <a:t>Now, it seems that there is a significant increase in women who never get married, and those who have children in free unions.</a:t>
            </a:r>
            <a:endParaRPr lang="en-US" sz="1600" dirty="0"/>
          </a:p>
        </p:txBody>
      </p:sp>
      <p:sp>
        <p:nvSpPr>
          <p:cNvPr id="7" name="Text 0"/>
          <p:cNvSpPr/>
          <p:nvPr>
            <p:ph idx="100" type="body" hasCustomPrompt="1"/>
          </p:nvPr>
        </p:nvSpPr>
        <p:spPr>
          <a:xfrm>
            <a:off x="594360" y="457200"/>
            <a:ext cx="8229600" cy="274320"/>
          </a:xfrm>
          <a:prstGeom prst="rect">
            <a:avLst/>
          </a:prstGeom>
          <a:noFill/>
          <a:ln/>
        </p:spPr>
        <p:txBody>
          <a:bodyPr wrap="square" lIns="0" tIns="0" rIns="0" bIns="0" rtlCol="0" anchor="t"/>
          <a:lstStyle/>
          <a:p>
            <a:pPr algn="l" indent="0" marL="0">
              <a:buNone/>
            </a:pPr>
            <a:endParaRPr lang="en-US" sz="1200" dirty="0"/>
          </a:p>
        </p:txBody>
      </p:sp>
      <p:sp>
        <p:nvSpPr>
          <p:cNvPr id="8" name="Text 0"/>
          <p:cNvSpPr/>
          <p:nvPr>
            <p:ph idx="102" type="body" hasCustomPrompt="1"/>
          </p:nvPr>
        </p:nvSpPr>
        <p:spPr>
          <a:xfrm>
            <a:off x="594360" y="1371600"/>
            <a:ext cx="11002975" cy="36576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594360" y="731520"/>
            <a:ext cx="11002975" cy="1005840"/>
          </a:xfrm>
          <a:prstGeom prst="rect">
            <a:avLst/>
          </a:prstGeom>
          <a:noFill/>
          <a:ln/>
        </p:spPr>
        <p:txBody>
          <a:bodyPr wrap="square" lIns="0" tIns="0" rIns="0" bIns="0" rtlCol="0" anchor="t"/>
          <a:lstStyle/>
          <a:p>
            <a:pPr algn="l" indent="0" marL="0">
              <a:buNone/>
            </a:pPr>
            <a:r>
              <a:rPr lang="en-US" sz="3200" b="1" dirty="0">
                <a:solidFill>
                  <a:schemeClr val="tx2"/>
                </a:solidFill>
              </a:rPr>
              <a:t>The great family events of the last decades</a:t>
            </a:r>
            <a:endParaRPr lang="en-US" sz="3200" dirty="0"/>
          </a:p>
        </p:txBody>
      </p:sp>
      <p:sp>
        <p:nvSpPr>
          <p:cNvPr id="3" name="Row 1"/>
          <p:cNvSpPr/>
          <p:nvPr/>
        </p:nvSpPr>
        <p:spPr>
          <a:xfrm>
            <a:off x="594360" y="1691640"/>
            <a:ext cx="11002975" cy="786384"/>
          </a:xfrm>
          <a:prstGeom prst="roundRect">
            <a:avLst>
              <a:gd name="adj" fmla="val 13953"/>
            </a:avLst>
          </a:prstGeom>
          <a:solidFill>
            <a:schemeClr val="bg2"/>
          </a:solidFill>
          <a:ln/>
        </p:spPr>
      </p:sp>
      <p:sp>
        <p:nvSpPr>
          <p:cNvPr id="4" name="Event 1 badge"/>
          <p:cNvSpPr/>
          <p:nvPr/>
        </p:nvSpPr>
        <p:spPr>
          <a:xfrm>
            <a:off x="822960" y="1783080"/>
            <a:ext cx="603504" cy="603504"/>
          </a:xfrm>
          <a:prstGeom prst="ellipse">
            <a:avLst/>
          </a:prstGeom>
          <a:solidFill>
            <a:schemeClr val="accent1"/>
          </a:solidFill>
          <a:ln/>
        </p:spPr>
      </p:sp>
      <p:pic>
        <p:nvPicPr>
          <p:cNvPr id="5" name="Event 1 icon" descr="/tmp/claude-0/-home-user-Arturo/8d4d3924-7078-5160-a89d-b2e82f900b72/scratchpad/work/build/assets/icons/female_FFFFFF.png">    </p:cNvPr>
          <p:cNvPicPr>
            <a:picLocks noChangeAspect="1"/>
          </p:cNvPicPr>
          <p:nvPr/>
        </p:nvPicPr>
        <p:blipFill>
          <a:blip r:embed="rId1"/>
          <a:stretch>
            <a:fillRect/>
          </a:stretch>
        </p:blipFill>
        <p:spPr>
          <a:xfrm>
            <a:off x="973836" y="1933956"/>
            <a:ext cx="301752" cy="301752"/>
          </a:xfrm>
          <a:prstGeom prst="rect">
            <a:avLst/>
          </a:prstGeom>
        </p:spPr>
      </p:pic>
      <p:sp>
        <p:nvSpPr>
          <p:cNvPr id="6" name="Text 3"/>
          <p:cNvSpPr txBox="1"/>
          <p:nvPr/>
        </p:nvSpPr>
        <p:spPr>
          <a:xfrm>
            <a:off x="1691640" y="1691640"/>
            <a:ext cx="9631375" cy="786384"/>
          </a:xfrm>
          <a:prstGeom prst="rect">
            <a:avLst/>
          </a:prstGeom>
          <a:noFill/>
          <a:ln/>
        </p:spPr>
        <p:txBody>
          <a:bodyPr wrap="square" lIns="0" tIns="0" rIns="0" bIns="0" rtlCol="0" anchor="ctr"/>
          <a:lstStyle/>
          <a:p>
            <a:pPr algn="l" indent="0" marL="0">
              <a:buNone/>
            </a:pPr>
            <a:r>
              <a:rPr lang="en-US" sz="2100" dirty="0">
                <a:solidFill>
                  <a:schemeClr val="tx2"/>
                </a:solidFill>
              </a:rPr>
              <a:t>Huge growth in women's labor force participation rates.</a:t>
            </a:r>
            <a:endParaRPr lang="en-US" sz="2100" dirty="0"/>
          </a:p>
        </p:txBody>
      </p:sp>
      <p:sp>
        <p:nvSpPr>
          <p:cNvPr id="7" name="Row 2"/>
          <p:cNvSpPr/>
          <p:nvPr/>
        </p:nvSpPr>
        <p:spPr>
          <a:xfrm>
            <a:off x="594360" y="2596896"/>
            <a:ext cx="11002975" cy="786384"/>
          </a:xfrm>
          <a:prstGeom prst="roundRect">
            <a:avLst>
              <a:gd name="adj" fmla="val 13953"/>
            </a:avLst>
          </a:prstGeom>
          <a:solidFill>
            <a:schemeClr val="bg2"/>
          </a:solidFill>
          <a:ln/>
        </p:spPr>
      </p:sp>
      <p:sp>
        <p:nvSpPr>
          <p:cNvPr id="8" name="Event 2 badge"/>
          <p:cNvSpPr/>
          <p:nvPr/>
        </p:nvSpPr>
        <p:spPr>
          <a:xfrm>
            <a:off x="822960" y="2688336"/>
            <a:ext cx="603504" cy="603504"/>
          </a:xfrm>
          <a:prstGeom prst="ellipse">
            <a:avLst/>
          </a:prstGeom>
          <a:solidFill>
            <a:schemeClr val="accent1"/>
          </a:solidFill>
          <a:ln/>
        </p:spPr>
      </p:sp>
      <p:pic>
        <p:nvPicPr>
          <p:cNvPr id="9" name="Event 2 icon" descr="/tmp/claude-0/-home-user-Arturo/8d4d3924-7078-5160-a89d-b2e82f900b72/scratchpad/work/build/assets/icons/broken_FFFFFF.png">    </p:cNvPr>
          <p:cNvPicPr>
            <a:picLocks noChangeAspect="1"/>
          </p:cNvPicPr>
          <p:nvPr/>
        </p:nvPicPr>
        <p:blipFill>
          <a:blip r:embed="rId2"/>
          <a:stretch>
            <a:fillRect/>
          </a:stretch>
        </p:blipFill>
        <p:spPr>
          <a:xfrm>
            <a:off x="973836" y="2839212"/>
            <a:ext cx="301752" cy="301752"/>
          </a:xfrm>
          <a:prstGeom prst="rect">
            <a:avLst/>
          </a:prstGeom>
        </p:spPr>
      </p:pic>
      <p:sp>
        <p:nvSpPr>
          <p:cNvPr id="10" name="Text 6"/>
          <p:cNvSpPr txBox="1"/>
          <p:nvPr/>
        </p:nvSpPr>
        <p:spPr>
          <a:xfrm>
            <a:off x="1691640" y="2596896"/>
            <a:ext cx="9631375" cy="786384"/>
          </a:xfrm>
          <a:prstGeom prst="rect">
            <a:avLst/>
          </a:prstGeom>
          <a:noFill/>
          <a:ln/>
        </p:spPr>
        <p:txBody>
          <a:bodyPr wrap="square" lIns="0" tIns="0" rIns="0" bIns="0" rtlCol="0" anchor="ctr"/>
          <a:lstStyle/>
          <a:p>
            <a:pPr algn="l" indent="0" marL="0">
              <a:buNone/>
            </a:pPr>
            <a:r>
              <a:rPr lang="en-US" sz="2100" dirty="0">
                <a:solidFill>
                  <a:schemeClr val="tx2"/>
                </a:solidFill>
              </a:rPr>
              <a:t>Great decrease in marriage and increase in divorce.</a:t>
            </a:r>
            <a:endParaRPr lang="en-US" sz="2100" dirty="0"/>
          </a:p>
        </p:txBody>
      </p:sp>
      <p:sp>
        <p:nvSpPr>
          <p:cNvPr id="11" name="Row 3"/>
          <p:cNvSpPr/>
          <p:nvPr/>
        </p:nvSpPr>
        <p:spPr>
          <a:xfrm>
            <a:off x="594360" y="3502152"/>
            <a:ext cx="11002975" cy="786384"/>
          </a:xfrm>
          <a:prstGeom prst="roundRect">
            <a:avLst>
              <a:gd name="adj" fmla="val 13953"/>
            </a:avLst>
          </a:prstGeom>
          <a:solidFill>
            <a:schemeClr val="bg2"/>
          </a:solidFill>
          <a:ln/>
        </p:spPr>
      </p:sp>
      <p:sp>
        <p:nvSpPr>
          <p:cNvPr id="12" name="Event 3 badge"/>
          <p:cNvSpPr/>
          <p:nvPr/>
        </p:nvSpPr>
        <p:spPr>
          <a:xfrm>
            <a:off x="822960" y="3593592"/>
            <a:ext cx="603504" cy="603504"/>
          </a:xfrm>
          <a:prstGeom prst="ellipse">
            <a:avLst/>
          </a:prstGeom>
          <a:solidFill>
            <a:schemeClr val="accent1"/>
          </a:solidFill>
          <a:ln/>
        </p:spPr>
      </p:sp>
      <p:pic>
        <p:nvPicPr>
          <p:cNvPr id="13" name="Event 3 icon" descr="/tmp/claude-0/-home-user-Arturo/8d4d3924-7078-5160-a89d-b2e82f900b72/scratchpad/work/build/assets/icons/userGrad_FFFFFF.png">    </p:cNvPr>
          <p:cNvPicPr>
            <a:picLocks noChangeAspect="1"/>
          </p:cNvPicPr>
          <p:nvPr/>
        </p:nvPicPr>
        <p:blipFill>
          <a:blip r:embed="rId3"/>
          <a:stretch>
            <a:fillRect/>
          </a:stretch>
        </p:blipFill>
        <p:spPr>
          <a:xfrm>
            <a:off x="973836" y="3744468"/>
            <a:ext cx="301752" cy="301752"/>
          </a:xfrm>
          <a:prstGeom prst="rect">
            <a:avLst/>
          </a:prstGeom>
        </p:spPr>
      </p:pic>
      <p:sp>
        <p:nvSpPr>
          <p:cNvPr id="14" name="Text 9"/>
          <p:cNvSpPr txBox="1"/>
          <p:nvPr/>
        </p:nvSpPr>
        <p:spPr>
          <a:xfrm>
            <a:off x="1691640" y="3502152"/>
            <a:ext cx="9631375" cy="786384"/>
          </a:xfrm>
          <a:prstGeom prst="rect">
            <a:avLst/>
          </a:prstGeom>
          <a:noFill/>
          <a:ln/>
        </p:spPr>
        <p:txBody>
          <a:bodyPr wrap="square" lIns="0" tIns="0" rIns="0" bIns="0" rtlCol="0" anchor="ctr"/>
          <a:lstStyle/>
          <a:p>
            <a:pPr algn="l" indent="0" marL="0">
              <a:buNone/>
            </a:pPr>
            <a:r>
              <a:rPr lang="en-US" sz="2100" dirty="0">
                <a:solidFill>
                  <a:schemeClr val="tx2"/>
                </a:solidFill>
              </a:rPr>
              <a:t>Increase in positive pairing in marriages (the most educated marry in increasing proportions with the most educated).</a:t>
            </a:r>
            <a:endParaRPr lang="en-US" sz="2100" dirty="0"/>
          </a:p>
        </p:txBody>
      </p:sp>
      <p:sp>
        <p:nvSpPr>
          <p:cNvPr id="15" name="Row 4"/>
          <p:cNvSpPr/>
          <p:nvPr/>
        </p:nvSpPr>
        <p:spPr>
          <a:xfrm>
            <a:off x="594360" y="4407408"/>
            <a:ext cx="11002975" cy="786384"/>
          </a:xfrm>
          <a:prstGeom prst="roundRect">
            <a:avLst>
              <a:gd name="adj" fmla="val 13953"/>
            </a:avLst>
          </a:prstGeom>
          <a:solidFill>
            <a:schemeClr val="bg2"/>
          </a:solidFill>
          <a:ln/>
        </p:spPr>
      </p:sp>
      <p:sp>
        <p:nvSpPr>
          <p:cNvPr id="16" name="Event 4 badge"/>
          <p:cNvSpPr/>
          <p:nvPr/>
        </p:nvSpPr>
        <p:spPr>
          <a:xfrm>
            <a:off x="822960" y="4498848"/>
            <a:ext cx="603504" cy="603504"/>
          </a:xfrm>
          <a:prstGeom prst="ellipse">
            <a:avLst/>
          </a:prstGeom>
          <a:solidFill>
            <a:schemeClr val="accent1"/>
          </a:solidFill>
          <a:ln/>
        </p:spPr>
      </p:sp>
      <p:pic>
        <p:nvPicPr>
          <p:cNvPr id="17" name="Event 4 icon" descr="/tmp/claude-0/-home-user-Arturo/8d4d3924-7078-5160-a89d-b2e82f900b72/scratchpad/work/build/assets/icons/child_FFFFFF.png">    </p:cNvPr>
          <p:cNvPicPr>
            <a:picLocks noChangeAspect="1"/>
          </p:cNvPicPr>
          <p:nvPr/>
        </p:nvPicPr>
        <p:blipFill>
          <a:blip r:embed="rId4"/>
          <a:stretch>
            <a:fillRect/>
          </a:stretch>
        </p:blipFill>
        <p:spPr>
          <a:xfrm>
            <a:off x="973836" y="4649724"/>
            <a:ext cx="301752" cy="301752"/>
          </a:xfrm>
          <a:prstGeom prst="rect">
            <a:avLst/>
          </a:prstGeom>
        </p:spPr>
      </p:pic>
      <p:sp>
        <p:nvSpPr>
          <p:cNvPr id="18" name="Text 12"/>
          <p:cNvSpPr txBox="1"/>
          <p:nvPr/>
        </p:nvSpPr>
        <p:spPr>
          <a:xfrm>
            <a:off x="1691640" y="4407408"/>
            <a:ext cx="9631375" cy="786384"/>
          </a:xfrm>
          <a:prstGeom prst="rect">
            <a:avLst/>
          </a:prstGeom>
          <a:noFill/>
          <a:ln/>
        </p:spPr>
        <p:txBody>
          <a:bodyPr wrap="square" lIns="0" tIns="0" rIns="0" bIns="0" rtlCol="0" anchor="ctr"/>
          <a:lstStyle/>
          <a:p>
            <a:pPr algn="l" indent="0" marL="0">
              <a:buNone/>
            </a:pPr>
            <a:r>
              <a:rPr lang="en-US" sz="2100" dirty="0">
                <a:solidFill>
                  <a:schemeClr val="tx2"/>
                </a:solidFill>
              </a:rPr>
              <a:t>Growing up children in poverty with a parent (usually a single mother)</a:t>
            </a:r>
            <a:endParaRPr lang="en-US" sz="2100" dirty="0"/>
          </a:p>
        </p:txBody>
      </p:sp>
      <p:sp>
        <p:nvSpPr>
          <p:cNvPr id="19" name="Row 5"/>
          <p:cNvSpPr/>
          <p:nvPr/>
        </p:nvSpPr>
        <p:spPr>
          <a:xfrm>
            <a:off x="594360" y="5312664"/>
            <a:ext cx="11002975" cy="786384"/>
          </a:xfrm>
          <a:prstGeom prst="roundRect">
            <a:avLst>
              <a:gd name="adj" fmla="val 13953"/>
            </a:avLst>
          </a:prstGeom>
          <a:solidFill>
            <a:schemeClr val="bg2"/>
          </a:solidFill>
          <a:ln/>
        </p:spPr>
      </p:sp>
      <p:sp>
        <p:nvSpPr>
          <p:cNvPr id="20" name="Event 5 badge"/>
          <p:cNvSpPr/>
          <p:nvPr/>
        </p:nvSpPr>
        <p:spPr>
          <a:xfrm>
            <a:off x="822960" y="5404104"/>
            <a:ext cx="603504" cy="603504"/>
          </a:xfrm>
          <a:prstGeom prst="ellipse">
            <a:avLst/>
          </a:prstGeom>
          <a:solidFill>
            <a:schemeClr val="accent1"/>
          </a:solidFill>
          <a:ln/>
        </p:spPr>
      </p:sp>
      <p:pic>
        <p:nvPicPr>
          <p:cNvPr id="21" name="Event 5 icon" descr="/tmp/claude-0/-home-user-Arturo/8d4d3924-7078-5160-a89d-b2e82f900b72/scratchpad/work/build/assets/icons/baby_FFFFFF.png">    </p:cNvPr>
          <p:cNvPicPr>
            <a:picLocks noChangeAspect="1"/>
          </p:cNvPicPr>
          <p:nvPr/>
        </p:nvPicPr>
        <p:blipFill>
          <a:blip r:embed="rId5"/>
          <a:stretch>
            <a:fillRect/>
          </a:stretch>
        </p:blipFill>
        <p:spPr>
          <a:xfrm>
            <a:off x="973836" y="5554980"/>
            <a:ext cx="301752" cy="301752"/>
          </a:xfrm>
          <a:prstGeom prst="rect">
            <a:avLst/>
          </a:prstGeom>
        </p:spPr>
      </p:pic>
      <p:sp>
        <p:nvSpPr>
          <p:cNvPr id="22" name="Text 15"/>
          <p:cNvSpPr txBox="1"/>
          <p:nvPr/>
        </p:nvSpPr>
        <p:spPr>
          <a:xfrm>
            <a:off x="1691640" y="5312664"/>
            <a:ext cx="9631375" cy="786384"/>
          </a:xfrm>
          <a:prstGeom prst="rect">
            <a:avLst/>
          </a:prstGeom>
          <a:noFill/>
          <a:ln/>
        </p:spPr>
        <p:txBody>
          <a:bodyPr wrap="square" lIns="0" tIns="0" rIns="0" bIns="0" rtlCol="0" anchor="ctr"/>
          <a:lstStyle/>
          <a:p>
            <a:pPr algn="l" indent="0" marL="0">
              <a:buNone/>
            </a:pPr>
            <a:r>
              <a:rPr lang="en-US" sz="2100" dirty="0">
                <a:solidFill>
                  <a:schemeClr val="tx2"/>
                </a:solidFill>
              </a:rPr>
              <a:t>Explosion and fall in fertility</a:t>
            </a:r>
            <a:endParaRPr lang="en-US" sz="2100" dirty="0"/>
          </a:p>
        </p:txBody>
      </p:sp>
      <p:sp>
        <p:nvSpPr>
          <p:cNvPr id="23" name="Text 0"/>
          <p:cNvSpPr/>
          <p:nvPr>
            <p:ph idx="100" type="body" hasCustomPrompt="1"/>
          </p:nvPr>
        </p:nvSpPr>
        <p:spPr>
          <a:xfrm>
            <a:off x="594360" y="457200"/>
            <a:ext cx="8229600" cy="274320"/>
          </a:xfrm>
          <a:prstGeom prst="rect">
            <a:avLst/>
          </a:prstGeom>
          <a:noFill/>
          <a:ln/>
        </p:spPr>
        <p:txBody>
          <a:bodyPr wrap="square" lIns="0" tIns="0" rIns="0" bIns="0" rtlCol="0" anchor="t"/>
          <a:lstStyle/>
          <a:p>
            <a:pPr algn="l" indent="0" marL="0">
              <a:buNone/>
            </a:pPr>
            <a:endParaRPr lang="en-US" sz="1200" dirty="0"/>
          </a:p>
        </p:txBody>
      </p:sp>
      <p:sp>
        <p:nvSpPr>
          <p:cNvPr id="24" name="Text 0"/>
          <p:cNvSpPr/>
          <p:nvPr>
            <p:ph idx="102" type="body" hasCustomPrompt="1"/>
          </p:nvPr>
        </p:nvSpPr>
        <p:spPr>
          <a:xfrm>
            <a:off x="594360" y="1371600"/>
            <a:ext cx="11002975" cy="36576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94360" y="502920"/>
            <a:ext cx="11002975" cy="868680"/>
          </a:xfrm>
          <a:prstGeom prst="rect">
            <a:avLst/>
          </a:prstGeom>
          <a:noFill/>
          <a:ln/>
        </p:spPr>
        <p:txBody>
          <a:bodyPr wrap="square" lIns="0" tIns="0" rIns="0" bIns="0" rtlCol="0" anchor="t"/>
          <a:lstStyle/>
          <a:p>
            <a:pPr algn="l" indent="0" marL="0">
              <a:buNone/>
            </a:pPr>
            <a:r>
              <a:rPr lang="en-US" sz="2200" b="1" dirty="0">
                <a:solidFill>
                  <a:schemeClr val="tx2"/>
                </a:solidFill>
              </a:rPr>
              <a:t>Countries found non-contributory pensions as the only way to face the huge political pressure from aging populations with a large share of uninsured</a:t>
            </a:r>
            <a:endParaRPr lang="en-US" sz="2200" dirty="0"/>
          </a:p>
        </p:txBody>
      </p:sp>
      <p:sp>
        <p:nvSpPr>
          <p:cNvPr id="3" name="Panel A title"/>
          <p:cNvSpPr txBox="1"/>
          <p:nvPr/>
        </p:nvSpPr>
        <p:spPr>
          <a:xfrm>
            <a:off x="594360" y="1536192"/>
            <a:ext cx="6126480" cy="274320"/>
          </a:xfrm>
          <a:prstGeom prst="rect">
            <a:avLst/>
          </a:prstGeom>
          <a:noFill/>
          <a:ln/>
        </p:spPr>
        <p:txBody>
          <a:bodyPr wrap="square" lIns="0" tIns="0" rIns="0" bIns="0" rtlCol="0" anchor="ctr"/>
          <a:lstStyle/>
          <a:p>
            <a:pPr indent="0" marL="0">
              <a:buNone/>
            </a:pPr>
            <a:r>
              <a:rPr lang="en-US" sz="1400" b="1" dirty="0">
                <a:solidFill>
                  <a:schemeClr val="tx2"/>
                </a:solidFill>
              </a:rPr>
              <a:t>A. Prestaciones de vejez</a:t>
            </a:r>
            <a:pPr indent="0" marL="0">
              <a:buNone/>
            </a:pPr>
            <a:r>
              <a:rPr lang="en-US" sz="1400" b="1" baseline="30000" dirty="0">
                <a:solidFill>
                  <a:schemeClr val="tx2"/>
                </a:solidFill>
              </a:rPr>
              <a:t>b</a:t>
            </a:r>
            <a:endParaRPr lang="en-US" sz="1400" dirty="0"/>
          </a:p>
        </p:txBody>
      </p:sp>
      <p:graphicFrame>
        <p:nvGraphicFramePr>
          <p:cNvPr id="4" name="Chart 0" descr="Bar chart: monthly value of non-contributory old-age pensions in 24 Latin American and Caribbean countries (USD)"/>
          <p:cNvGraphicFramePr/>
          <p:nvPr/>
        </p:nvGraphicFramePr>
        <p:xfrm>
          <a:off x="502920" y="1810512"/>
          <a:ext cx="6217920" cy="45262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086600" y="1536192"/>
            <a:ext cx="4510735" cy="274320"/>
          </a:xfrm>
          <a:prstGeom prst="rect">
            <a:avLst/>
          </a:prstGeom>
          <a:noFill/>
          <a:ln/>
        </p:spPr>
        <p:txBody>
          <a:bodyPr wrap="square" lIns="0" tIns="0" rIns="0" bIns="0" rtlCol="0" anchor="t"/>
          <a:lstStyle/>
          <a:p>
            <a:pPr algn="l" indent="0" marL="0">
              <a:buNone/>
            </a:pPr>
            <a:r>
              <a:rPr lang="en-US" sz="1400" b="1" dirty="0">
                <a:solidFill>
                  <a:schemeClr val="tx2"/>
                </a:solidFill>
              </a:rPr>
              <a:t>B. Prestaciones de discapacidad</a:t>
            </a:r>
            <a:endParaRPr lang="en-US" sz="1400" dirty="0"/>
          </a:p>
        </p:txBody>
      </p:sp>
      <p:graphicFrame>
        <p:nvGraphicFramePr>
          <p:cNvPr id="6" name="Chart 1" descr="Bar chart: monthly value of non-contributory disability pensions in 8 countries (USD)"/>
          <p:cNvGraphicFramePr/>
          <p:nvPr/>
        </p:nvGraphicFramePr>
        <p:xfrm>
          <a:off x="6995160" y="1810512"/>
          <a:ext cx="4602175" cy="2834640"/>
        </p:xfrm>
        <a:graphic xmlns:a="http://schemas.openxmlformats.org/drawingml/2006/main">
          <a:graphicData uri="http://schemas.openxmlformats.org/drawingml/2006/chart">
            <c:chart xmlns:c="http://schemas.openxmlformats.org/drawingml/2006/chart" r:id="rId2"/>
          </a:graphicData>
        </a:graphic>
      </p:graphicFrame>
      <p:sp>
        <p:nvSpPr>
          <p:cNvPr id="7" name="Chart caption card"/>
          <p:cNvSpPr/>
          <p:nvPr/>
        </p:nvSpPr>
        <p:spPr>
          <a:xfrm>
            <a:off x="7086600" y="4846320"/>
            <a:ext cx="4510735" cy="1371600"/>
          </a:xfrm>
          <a:prstGeom prst="roundRect">
            <a:avLst>
              <a:gd name="adj" fmla="val 8000"/>
            </a:avLst>
          </a:prstGeom>
          <a:solidFill>
            <a:schemeClr val="bg2"/>
          </a:solidFill>
          <a:ln/>
        </p:spPr>
      </p:sp>
      <p:sp>
        <p:nvSpPr>
          <p:cNvPr id="8" name="Chart title"/>
          <p:cNvSpPr txBox="1"/>
          <p:nvPr/>
        </p:nvSpPr>
        <p:spPr>
          <a:xfrm>
            <a:off x="7315200" y="4846320"/>
            <a:ext cx="4053535" cy="1371600"/>
          </a:xfrm>
          <a:prstGeom prst="rect">
            <a:avLst/>
          </a:prstGeom>
          <a:noFill/>
          <a:ln/>
        </p:spPr>
        <p:txBody>
          <a:bodyPr wrap="square" lIns="0" tIns="0" rIns="0" bIns="0" rtlCol="0" anchor="ctr"/>
          <a:lstStyle/>
          <a:p>
            <a:pPr indent="0" marL="0">
              <a:buNone/>
            </a:pPr>
            <a:r>
              <a:rPr lang="en-US" sz="1200" b="1" dirty="0">
                <a:solidFill>
                  <a:schemeClr val="tx2"/>
                </a:solidFill>
              </a:rPr>
              <a:t>Gráfico II.2</a:t>
            </a:r>
            <a:endParaRPr lang="en-US" sz="1200" dirty="0"/>
          </a:p>
          <a:p>
            <a:pPr indent="0" marL="0">
              <a:buNone/>
            </a:pPr>
            <a:r>
              <a:rPr lang="en-US" sz="1200" b="1" dirty="0">
                <a:solidFill>
                  <a:schemeClr val="tx2"/>
                </a:solidFill>
              </a:rPr>
              <a:t>América Latina y el Caribe (24 países): valor mensual de las pensiones no contributivas, 2021 o último año con información disponible</a:t>
            </a:r>
            <a:pPr indent="0" marL="0">
              <a:buNone/>
            </a:pPr>
            <a:r>
              <a:rPr lang="en-US" sz="1200" b="1" baseline="30000" dirty="0">
                <a:solidFill>
                  <a:schemeClr val="tx2"/>
                </a:solidFill>
              </a:rPr>
              <a:t>a</a:t>
            </a:r>
            <a:endParaRPr lang="en-US" sz="1200" dirty="0"/>
          </a:p>
          <a:p>
            <a:pPr indent="0" marL="0">
              <a:buNone/>
            </a:pPr>
            <a:r>
              <a:rPr lang="en-US" sz="1200" i="1" dirty="0">
                <a:solidFill>
                  <a:srgbClr val="34475C"/>
                </a:solidFill>
              </a:rPr>
              <a:t>(En dólares)</a:t>
            </a:r>
            <a:endParaRPr lang="en-US" sz="1200" dirty="0"/>
          </a:p>
        </p:txBody>
      </p:sp>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594360" y="731520"/>
            <a:ext cx="11002975" cy="1005840"/>
          </a:xfrm>
          <a:prstGeom prst="rect">
            <a:avLst/>
          </a:prstGeom>
          <a:noFill/>
          <a:ln/>
        </p:spPr>
        <p:txBody>
          <a:bodyPr wrap="square" lIns="0" tIns="0" rIns="0" bIns="0" rtlCol="0" anchor="t"/>
          <a:lstStyle/>
          <a:p>
            <a:pPr algn="l" indent="0" marL="0">
              <a:buNone/>
            </a:pPr>
            <a:r>
              <a:rPr lang="en-US" sz="3200" b="1" dirty="0">
                <a:solidFill>
                  <a:schemeClr val="tx2"/>
                </a:solidFill>
              </a:rPr>
              <a:t>Generalized historical problems</a:t>
            </a:r>
            <a:endParaRPr lang="en-US" sz="3200" dirty="0"/>
          </a:p>
        </p:txBody>
      </p:sp>
      <p:sp>
        <p:nvSpPr>
          <p:cNvPr id="3" name="Lead-in"/>
          <p:cNvSpPr txBox="1"/>
          <p:nvPr/>
        </p:nvSpPr>
        <p:spPr>
          <a:xfrm>
            <a:off x="594360" y="1371600"/>
            <a:ext cx="11002975" cy="365760"/>
          </a:xfrm>
          <a:prstGeom prst="rect">
            <a:avLst/>
          </a:prstGeom>
          <a:noFill/>
          <a:ln/>
        </p:spPr>
        <p:txBody>
          <a:bodyPr wrap="square" lIns="0" tIns="0" rIns="0" bIns="0" rtlCol="0" anchor="ctr"/>
          <a:lstStyle/>
          <a:p>
            <a:pPr indent="0" marL="0">
              <a:buNone/>
            </a:pPr>
            <a:r>
              <a:rPr lang="en-US" sz="1800" b="1" dirty="0">
                <a:solidFill>
                  <a:schemeClr val="accent1"/>
                </a:solidFill>
              </a:rPr>
              <a:t>Historically, pension systems faced challenges due to</a:t>
            </a:r>
            <a:endParaRPr lang="en-US" sz="1800" dirty="0"/>
          </a:p>
        </p:txBody>
      </p:sp>
      <p:sp>
        <p:nvSpPr>
          <p:cNvPr id="4" name="Problem 1"/>
          <p:cNvSpPr/>
          <p:nvPr/>
        </p:nvSpPr>
        <p:spPr>
          <a:xfrm>
            <a:off x="594360" y="1920240"/>
            <a:ext cx="5364328" cy="822960"/>
          </a:xfrm>
          <a:prstGeom prst="roundRect">
            <a:avLst>
              <a:gd name="adj" fmla="val 13333"/>
            </a:avLst>
          </a:prstGeom>
          <a:solidFill>
            <a:schemeClr val="bg2"/>
          </a:solidFill>
          <a:ln/>
        </p:spPr>
      </p:sp>
      <p:sp>
        <p:nvSpPr>
          <p:cNvPr id="5" name="Bullet"/>
          <p:cNvSpPr/>
          <p:nvPr/>
        </p:nvSpPr>
        <p:spPr>
          <a:xfrm>
            <a:off x="822960" y="2267712"/>
            <a:ext cx="128016" cy="128016"/>
          </a:xfrm>
          <a:prstGeom prst="ellipse">
            <a:avLst/>
          </a:prstGeom>
          <a:solidFill>
            <a:schemeClr val="accent1"/>
          </a:solidFill>
          <a:ln/>
        </p:spPr>
      </p:sp>
      <p:sp>
        <p:nvSpPr>
          <p:cNvPr id="6" name="Text 4"/>
          <p:cNvSpPr txBox="1"/>
          <p:nvPr/>
        </p:nvSpPr>
        <p:spPr>
          <a:xfrm>
            <a:off x="1143000" y="1920240"/>
            <a:ext cx="4587088" cy="822960"/>
          </a:xfrm>
          <a:prstGeom prst="rect">
            <a:avLst/>
          </a:prstGeom>
          <a:noFill/>
          <a:ln/>
        </p:spPr>
        <p:txBody>
          <a:bodyPr wrap="square" lIns="0" tIns="0" rIns="0" bIns="0" rtlCol="0" anchor="ctr"/>
          <a:lstStyle/>
          <a:p>
            <a:pPr algn="l" indent="0" marL="0">
              <a:buNone/>
            </a:pPr>
            <a:r>
              <a:rPr lang="en-US" sz="1400" dirty="0">
                <a:solidFill>
                  <a:srgbClr val="34475C"/>
                </a:solidFill>
              </a:rPr>
              <a:t>difficulties in financing the payment of benefits,</a:t>
            </a:r>
            <a:endParaRPr lang="en-US" sz="1400" dirty="0"/>
          </a:p>
        </p:txBody>
      </p:sp>
      <p:sp>
        <p:nvSpPr>
          <p:cNvPr id="7" name="Problem 2"/>
          <p:cNvSpPr/>
          <p:nvPr/>
        </p:nvSpPr>
        <p:spPr>
          <a:xfrm>
            <a:off x="594360" y="2834640"/>
            <a:ext cx="5364328" cy="822960"/>
          </a:xfrm>
          <a:prstGeom prst="roundRect">
            <a:avLst>
              <a:gd name="adj" fmla="val 13333"/>
            </a:avLst>
          </a:prstGeom>
          <a:solidFill>
            <a:schemeClr val="bg2"/>
          </a:solidFill>
          <a:ln/>
        </p:spPr>
      </p:sp>
      <p:sp>
        <p:nvSpPr>
          <p:cNvPr id="8" name="Bullet"/>
          <p:cNvSpPr/>
          <p:nvPr/>
        </p:nvSpPr>
        <p:spPr>
          <a:xfrm>
            <a:off x="822960" y="3182112"/>
            <a:ext cx="128016" cy="128016"/>
          </a:xfrm>
          <a:prstGeom prst="ellipse">
            <a:avLst/>
          </a:prstGeom>
          <a:solidFill>
            <a:schemeClr val="accent1"/>
          </a:solidFill>
          <a:ln/>
        </p:spPr>
      </p:sp>
      <p:sp>
        <p:nvSpPr>
          <p:cNvPr id="9" name="Text 7"/>
          <p:cNvSpPr txBox="1"/>
          <p:nvPr/>
        </p:nvSpPr>
        <p:spPr>
          <a:xfrm>
            <a:off x="1143000" y="2834640"/>
            <a:ext cx="4587088" cy="822960"/>
          </a:xfrm>
          <a:prstGeom prst="rect">
            <a:avLst/>
          </a:prstGeom>
          <a:noFill/>
          <a:ln/>
        </p:spPr>
        <p:txBody>
          <a:bodyPr wrap="square" lIns="0" tIns="0" rIns="0" bIns="0" rtlCol="0" anchor="ctr"/>
          <a:lstStyle/>
          <a:p>
            <a:pPr algn="l" indent="0" marL="0">
              <a:buNone/>
            </a:pPr>
            <a:r>
              <a:rPr lang="en-US" sz="1400" dirty="0">
                <a:solidFill>
                  <a:srgbClr val="34475C"/>
                </a:solidFill>
              </a:rPr>
              <a:t>for paying pensions so low that they generated dissatisfaction among the population,</a:t>
            </a:r>
            <a:endParaRPr lang="en-US" sz="1400" dirty="0"/>
          </a:p>
        </p:txBody>
      </p:sp>
      <p:sp>
        <p:nvSpPr>
          <p:cNvPr id="10" name="Problem 3"/>
          <p:cNvSpPr/>
          <p:nvPr/>
        </p:nvSpPr>
        <p:spPr>
          <a:xfrm>
            <a:off x="594360" y="3749040"/>
            <a:ext cx="5364328" cy="822960"/>
          </a:xfrm>
          <a:prstGeom prst="roundRect">
            <a:avLst>
              <a:gd name="adj" fmla="val 13333"/>
            </a:avLst>
          </a:prstGeom>
          <a:solidFill>
            <a:schemeClr val="bg2"/>
          </a:solidFill>
          <a:ln/>
        </p:spPr>
      </p:sp>
      <p:sp>
        <p:nvSpPr>
          <p:cNvPr id="11" name="Bullet"/>
          <p:cNvSpPr/>
          <p:nvPr/>
        </p:nvSpPr>
        <p:spPr>
          <a:xfrm>
            <a:off x="822960" y="4096512"/>
            <a:ext cx="128016" cy="128016"/>
          </a:xfrm>
          <a:prstGeom prst="ellipse">
            <a:avLst/>
          </a:prstGeom>
          <a:solidFill>
            <a:schemeClr val="accent1"/>
          </a:solidFill>
          <a:ln/>
        </p:spPr>
      </p:sp>
      <p:sp>
        <p:nvSpPr>
          <p:cNvPr id="12" name="Text 10"/>
          <p:cNvSpPr txBox="1"/>
          <p:nvPr/>
        </p:nvSpPr>
        <p:spPr>
          <a:xfrm>
            <a:off x="1143000" y="3749040"/>
            <a:ext cx="4587088" cy="822960"/>
          </a:xfrm>
          <a:prstGeom prst="rect">
            <a:avLst/>
          </a:prstGeom>
          <a:noFill/>
          <a:ln/>
        </p:spPr>
        <p:txBody>
          <a:bodyPr wrap="square" lIns="0" tIns="0" rIns="0" bIns="0" rtlCol="0" anchor="ctr"/>
          <a:lstStyle/>
          <a:p>
            <a:pPr algn="l" indent="0" marL="0">
              <a:buNone/>
            </a:pPr>
            <a:r>
              <a:rPr lang="en-US" sz="1400" dirty="0">
                <a:solidFill>
                  <a:srgbClr val="34475C"/>
                </a:solidFill>
              </a:rPr>
              <a:t>for paying such high pensions to some that they discouraged work and generated dissatisfaction from those who did not receive those benefits,</a:t>
            </a:r>
            <a:endParaRPr lang="en-US" sz="1400" dirty="0"/>
          </a:p>
        </p:txBody>
      </p:sp>
      <p:sp>
        <p:nvSpPr>
          <p:cNvPr id="13" name="Problem 4"/>
          <p:cNvSpPr/>
          <p:nvPr/>
        </p:nvSpPr>
        <p:spPr>
          <a:xfrm>
            <a:off x="594360" y="4663440"/>
            <a:ext cx="5364328" cy="822960"/>
          </a:xfrm>
          <a:prstGeom prst="roundRect">
            <a:avLst>
              <a:gd name="adj" fmla="val 13333"/>
            </a:avLst>
          </a:prstGeom>
          <a:solidFill>
            <a:schemeClr val="bg2"/>
          </a:solidFill>
          <a:ln/>
        </p:spPr>
      </p:sp>
      <p:sp>
        <p:nvSpPr>
          <p:cNvPr id="14" name="Bullet"/>
          <p:cNvSpPr/>
          <p:nvPr/>
        </p:nvSpPr>
        <p:spPr>
          <a:xfrm>
            <a:off x="822960" y="5010912"/>
            <a:ext cx="128016" cy="128016"/>
          </a:xfrm>
          <a:prstGeom prst="ellipse">
            <a:avLst/>
          </a:prstGeom>
          <a:solidFill>
            <a:schemeClr val="accent1"/>
          </a:solidFill>
          <a:ln/>
        </p:spPr>
      </p:sp>
      <p:sp>
        <p:nvSpPr>
          <p:cNvPr id="15" name="Text 13"/>
          <p:cNvSpPr txBox="1"/>
          <p:nvPr/>
        </p:nvSpPr>
        <p:spPr>
          <a:xfrm>
            <a:off x="1143000" y="4663440"/>
            <a:ext cx="4587088" cy="822960"/>
          </a:xfrm>
          <a:prstGeom prst="rect">
            <a:avLst/>
          </a:prstGeom>
          <a:noFill/>
          <a:ln/>
        </p:spPr>
        <p:txBody>
          <a:bodyPr wrap="square" lIns="0" tIns="0" rIns="0" bIns="0" rtlCol="0" anchor="ctr"/>
          <a:lstStyle/>
          <a:p>
            <a:pPr algn="l" indent="0" marL="0">
              <a:buNone/>
            </a:pPr>
            <a:r>
              <a:rPr lang="en-US" sz="1400" dirty="0">
                <a:solidFill>
                  <a:srgbClr val="34475C"/>
                </a:solidFill>
              </a:rPr>
              <a:t>for the use of resources for purposes of the state other than paying benefits,</a:t>
            </a:r>
            <a:endParaRPr lang="en-US" sz="1400" dirty="0"/>
          </a:p>
        </p:txBody>
      </p:sp>
      <p:sp>
        <p:nvSpPr>
          <p:cNvPr id="16" name="Problem 5"/>
          <p:cNvSpPr/>
          <p:nvPr/>
        </p:nvSpPr>
        <p:spPr>
          <a:xfrm>
            <a:off x="594360" y="5577840"/>
            <a:ext cx="5364328" cy="822960"/>
          </a:xfrm>
          <a:prstGeom prst="roundRect">
            <a:avLst>
              <a:gd name="adj" fmla="val 13333"/>
            </a:avLst>
          </a:prstGeom>
          <a:solidFill>
            <a:schemeClr val="bg2"/>
          </a:solidFill>
          <a:ln/>
        </p:spPr>
      </p:sp>
      <p:sp>
        <p:nvSpPr>
          <p:cNvPr id="17" name="Bullet"/>
          <p:cNvSpPr/>
          <p:nvPr/>
        </p:nvSpPr>
        <p:spPr>
          <a:xfrm>
            <a:off x="822960" y="5925312"/>
            <a:ext cx="128016" cy="128016"/>
          </a:xfrm>
          <a:prstGeom prst="ellipse">
            <a:avLst/>
          </a:prstGeom>
          <a:solidFill>
            <a:schemeClr val="accent1"/>
          </a:solidFill>
          <a:ln/>
        </p:spPr>
      </p:sp>
      <p:sp>
        <p:nvSpPr>
          <p:cNvPr id="18" name="Text 16"/>
          <p:cNvSpPr txBox="1"/>
          <p:nvPr/>
        </p:nvSpPr>
        <p:spPr>
          <a:xfrm>
            <a:off x="1143000" y="5577840"/>
            <a:ext cx="4587088" cy="822960"/>
          </a:xfrm>
          <a:prstGeom prst="rect">
            <a:avLst/>
          </a:prstGeom>
          <a:noFill/>
          <a:ln/>
        </p:spPr>
        <p:txBody>
          <a:bodyPr wrap="square" lIns="0" tIns="0" rIns="0" bIns="0" rtlCol="0" anchor="ctr"/>
          <a:lstStyle/>
          <a:p>
            <a:pPr algn="l" indent="0" marL="0">
              <a:buNone/>
            </a:pPr>
            <a:r>
              <a:rPr lang="en-US" sz="1400" dirty="0">
                <a:solidFill>
                  <a:srgbClr val="34475C"/>
                </a:solidFill>
              </a:rPr>
              <a:t>for not responding adequately to changes in the financial environment, such as inflation or variations in interest rates,</a:t>
            </a:r>
            <a:endParaRPr lang="en-US" sz="1400" dirty="0"/>
          </a:p>
        </p:txBody>
      </p:sp>
      <p:sp>
        <p:nvSpPr>
          <p:cNvPr id="19" name="Problem 6"/>
          <p:cNvSpPr/>
          <p:nvPr/>
        </p:nvSpPr>
        <p:spPr>
          <a:xfrm>
            <a:off x="6233008" y="1920240"/>
            <a:ext cx="5364328" cy="822960"/>
          </a:xfrm>
          <a:prstGeom prst="roundRect">
            <a:avLst>
              <a:gd name="adj" fmla="val 13333"/>
            </a:avLst>
          </a:prstGeom>
          <a:solidFill>
            <a:schemeClr val="bg2"/>
          </a:solidFill>
          <a:ln/>
        </p:spPr>
      </p:sp>
      <p:sp>
        <p:nvSpPr>
          <p:cNvPr id="20" name="Bullet"/>
          <p:cNvSpPr/>
          <p:nvPr/>
        </p:nvSpPr>
        <p:spPr>
          <a:xfrm>
            <a:off x="6461608" y="2267712"/>
            <a:ext cx="128016" cy="128016"/>
          </a:xfrm>
          <a:prstGeom prst="ellipse">
            <a:avLst/>
          </a:prstGeom>
          <a:solidFill>
            <a:schemeClr val="accent1"/>
          </a:solidFill>
          <a:ln/>
        </p:spPr>
      </p:sp>
      <p:sp>
        <p:nvSpPr>
          <p:cNvPr id="21" name="Text 19"/>
          <p:cNvSpPr txBox="1"/>
          <p:nvPr/>
        </p:nvSpPr>
        <p:spPr>
          <a:xfrm>
            <a:off x="6781648" y="1920240"/>
            <a:ext cx="4587088" cy="822960"/>
          </a:xfrm>
          <a:prstGeom prst="rect">
            <a:avLst/>
          </a:prstGeom>
          <a:noFill/>
          <a:ln/>
        </p:spPr>
        <p:txBody>
          <a:bodyPr wrap="square" lIns="0" tIns="0" rIns="0" bIns="0" rtlCol="0" anchor="ctr"/>
          <a:lstStyle/>
          <a:p>
            <a:pPr algn="l" indent="0" marL="0">
              <a:buNone/>
            </a:pPr>
            <a:r>
              <a:rPr lang="en-US" sz="1400" dirty="0">
                <a:solidFill>
                  <a:srgbClr val="34475C"/>
                </a:solidFill>
              </a:rPr>
              <a:t>for not adequately dealing with deep episodes of unemployment,</a:t>
            </a:r>
            <a:endParaRPr lang="en-US" sz="1400" dirty="0"/>
          </a:p>
        </p:txBody>
      </p:sp>
      <p:sp>
        <p:nvSpPr>
          <p:cNvPr id="22" name="Problem 7"/>
          <p:cNvSpPr/>
          <p:nvPr/>
        </p:nvSpPr>
        <p:spPr>
          <a:xfrm>
            <a:off x="6233008" y="2834640"/>
            <a:ext cx="5364328" cy="822960"/>
          </a:xfrm>
          <a:prstGeom prst="roundRect">
            <a:avLst>
              <a:gd name="adj" fmla="val 13333"/>
            </a:avLst>
          </a:prstGeom>
          <a:solidFill>
            <a:schemeClr val="bg2"/>
          </a:solidFill>
          <a:ln/>
        </p:spPr>
      </p:sp>
      <p:sp>
        <p:nvSpPr>
          <p:cNvPr id="23" name="Bullet"/>
          <p:cNvSpPr/>
          <p:nvPr/>
        </p:nvSpPr>
        <p:spPr>
          <a:xfrm>
            <a:off x="6461608" y="3182112"/>
            <a:ext cx="128016" cy="128016"/>
          </a:xfrm>
          <a:prstGeom prst="ellipse">
            <a:avLst/>
          </a:prstGeom>
          <a:solidFill>
            <a:schemeClr val="accent1"/>
          </a:solidFill>
          <a:ln/>
        </p:spPr>
      </p:sp>
      <p:sp>
        <p:nvSpPr>
          <p:cNvPr id="24" name="Text 22"/>
          <p:cNvSpPr txBox="1"/>
          <p:nvPr/>
        </p:nvSpPr>
        <p:spPr>
          <a:xfrm>
            <a:off x="6781648" y="2834640"/>
            <a:ext cx="4587088" cy="822960"/>
          </a:xfrm>
          <a:prstGeom prst="rect">
            <a:avLst/>
          </a:prstGeom>
          <a:noFill/>
          <a:ln/>
        </p:spPr>
        <p:txBody>
          <a:bodyPr wrap="square" lIns="0" tIns="0" rIns="0" bIns="0" rtlCol="0" anchor="ctr"/>
          <a:lstStyle/>
          <a:p>
            <a:pPr algn="l" indent="0" marL="0">
              <a:buNone/>
            </a:pPr>
            <a:r>
              <a:rPr lang="en-US" sz="1400" dirty="0">
                <a:solidFill>
                  <a:srgbClr val="34475C"/>
                </a:solidFill>
              </a:rPr>
              <a:t>for operating disordered concepts of invalidity,</a:t>
            </a:r>
            <a:endParaRPr lang="en-US" sz="1400" dirty="0"/>
          </a:p>
        </p:txBody>
      </p:sp>
      <p:sp>
        <p:nvSpPr>
          <p:cNvPr id="25" name="Problem 8"/>
          <p:cNvSpPr/>
          <p:nvPr/>
        </p:nvSpPr>
        <p:spPr>
          <a:xfrm>
            <a:off x="6233008" y="3749040"/>
            <a:ext cx="5364328" cy="822960"/>
          </a:xfrm>
          <a:prstGeom prst="roundRect">
            <a:avLst>
              <a:gd name="adj" fmla="val 13333"/>
            </a:avLst>
          </a:prstGeom>
          <a:solidFill>
            <a:schemeClr val="bg2"/>
          </a:solidFill>
          <a:ln/>
        </p:spPr>
      </p:sp>
      <p:sp>
        <p:nvSpPr>
          <p:cNvPr id="26" name="Bullet"/>
          <p:cNvSpPr/>
          <p:nvPr/>
        </p:nvSpPr>
        <p:spPr>
          <a:xfrm>
            <a:off x="6461608" y="4096512"/>
            <a:ext cx="128016" cy="128016"/>
          </a:xfrm>
          <a:prstGeom prst="ellipse">
            <a:avLst/>
          </a:prstGeom>
          <a:solidFill>
            <a:schemeClr val="accent1"/>
          </a:solidFill>
          <a:ln/>
        </p:spPr>
      </p:sp>
      <p:sp>
        <p:nvSpPr>
          <p:cNvPr id="27" name="Text 25"/>
          <p:cNvSpPr txBox="1"/>
          <p:nvPr/>
        </p:nvSpPr>
        <p:spPr>
          <a:xfrm>
            <a:off x="6781648" y="3749040"/>
            <a:ext cx="4587088" cy="822960"/>
          </a:xfrm>
          <a:prstGeom prst="rect">
            <a:avLst/>
          </a:prstGeom>
          <a:noFill/>
          <a:ln/>
        </p:spPr>
        <p:txBody>
          <a:bodyPr wrap="square" lIns="0" tIns="0" rIns="0" bIns="0" rtlCol="0" anchor="ctr"/>
          <a:lstStyle/>
          <a:p>
            <a:pPr algn="l" indent="0" marL="0">
              <a:buNone/>
            </a:pPr>
            <a:r>
              <a:rPr lang="en-US" sz="1400" dirty="0">
                <a:solidFill>
                  <a:srgbClr val="34475C"/>
                </a:solidFill>
              </a:rPr>
              <a:t>for not recognizing structural changes in families (divorce trends, for example),</a:t>
            </a:r>
            <a:endParaRPr lang="en-US" sz="1400" dirty="0"/>
          </a:p>
        </p:txBody>
      </p:sp>
      <p:sp>
        <p:nvSpPr>
          <p:cNvPr id="28" name="Problem 9"/>
          <p:cNvSpPr/>
          <p:nvPr/>
        </p:nvSpPr>
        <p:spPr>
          <a:xfrm>
            <a:off x="6233008" y="4663440"/>
            <a:ext cx="5364328" cy="822960"/>
          </a:xfrm>
          <a:prstGeom prst="roundRect">
            <a:avLst>
              <a:gd name="adj" fmla="val 13333"/>
            </a:avLst>
          </a:prstGeom>
          <a:solidFill>
            <a:schemeClr val="bg2"/>
          </a:solidFill>
          <a:ln/>
        </p:spPr>
      </p:sp>
      <p:sp>
        <p:nvSpPr>
          <p:cNvPr id="29" name="Bullet"/>
          <p:cNvSpPr/>
          <p:nvPr/>
        </p:nvSpPr>
        <p:spPr>
          <a:xfrm>
            <a:off x="6461608" y="5010912"/>
            <a:ext cx="128016" cy="128016"/>
          </a:xfrm>
          <a:prstGeom prst="ellipse">
            <a:avLst/>
          </a:prstGeom>
          <a:solidFill>
            <a:schemeClr val="accent1"/>
          </a:solidFill>
          <a:ln/>
        </p:spPr>
      </p:sp>
      <p:sp>
        <p:nvSpPr>
          <p:cNvPr id="30" name="Text 28"/>
          <p:cNvSpPr txBox="1"/>
          <p:nvPr/>
        </p:nvSpPr>
        <p:spPr>
          <a:xfrm>
            <a:off x="6781648" y="4663440"/>
            <a:ext cx="4587088" cy="822960"/>
          </a:xfrm>
          <a:prstGeom prst="rect">
            <a:avLst/>
          </a:prstGeom>
          <a:noFill/>
          <a:ln/>
        </p:spPr>
        <p:txBody>
          <a:bodyPr wrap="square" lIns="0" tIns="0" rIns="0" bIns="0" rtlCol="0" anchor="ctr"/>
          <a:lstStyle/>
          <a:p>
            <a:pPr algn="l" indent="0" marL="0">
              <a:buNone/>
            </a:pPr>
            <a:r>
              <a:rPr lang="en-US" sz="1400" dirty="0">
                <a:solidFill>
                  <a:srgbClr val="34475C"/>
                </a:solidFill>
              </a:rPr>
              <a:t>for systematically failing to adapt to population aging,</a:t>
            </a:r>
            <a:endParaRPr lang="en-US" sz="1400" dirty="0"/>
          </a:p>
        </p:txBody>
      </p:sp>
      <p:sp>
        <p:nvSpPr>
          <p:cNvPr id="31" name="Problem 10"/>
          <p:cNvSpPr/>
          <p:nvPr/>
        </p:nvSpPr>
        <p:spPr>
          <a:xfrm>
            <a:off x="6233008" y="5577840"/>
            <a:ext cx="5364328" cy="822960"/>
          </a:xfrm>
          <a:prstGeom prst="roundRect">
            <a:avLst>
              <a:gd name="adj" fmla="val 13333"/>
            </a:avLst>
          </a:prstGeom>
          <a:solidFill>
            <a:schemeClr val="bg2"/>
          </a:solidFill>
          <a:ln/>
        </p:spPr>
      </p:sp>
      <p:sp>
        <p:nvSpPr>
          <p:cNvPr id="32" name="Bullet"/>
          <p:cNvSpPr/>
          <p:nvPr/>
        </p:nvSpPr>
        <p:spPr>
          <a:xfrm>
            <a:off x="6461608" y="5925312"/>
            <a:ext cx="128016" cy="128016"/>
          </a:xfrm>
          <a:prstGeom prst="ellipse">
            <a:avLst/>
          </a:prstGeom>
          <a:solidFill>
            <a:schemeClr val="accent1"/>
          </a:solidFill>
          <a:ln/>
        </p:spPr>
      </p:sp>
      <p:sp>
        <p:nvSpPr>
          <p:cNvPr id="33" name="Text 31"/>
          <p:cNvSpPr txBox="1"/>
          <p:nvPr/>
        </p:nvSpPr>
        <p:spPr>
          <a:xfrm>
            <a:off x="6781648" y="5577840"/>
            <a:ext cx="4587088" cy="822960"/>
          </a:xfrm>
          <a:prstGeom prst="rect">
            <a:avLst/>
          </a:prstGeom>
          <a:noFill/>
          <a:ln/>
        </p:spPr>
        <p:txBody>
          <a:bodyPr wrap="square" lIns="0" tIns="0" rIns="0" bIns="0" rtlCol="0" anchor="ctr"/>
          <a:lstStyle/>
          <a:p>
            <a:pPr algn="l" indent="0" marL="0">
              <a:buNone/>
            </a:pPr>
            <a:r>
              <a:rPr lang="en-US" sz="1400" dirty="0">
                <a:solidFill>
                  <a:srgbClr val="34475C"/>
                </a:solidFill>
              </a:rPr>
              <a:t>for not having adequate schemes for workers in high-turnover occupations or non-subordinate working conditions.</a:t>
            </a:r>
            <a:endParaRPr lang="en-US" sz="1400" dirty="0"/>
          </a:p>
        </p:txBody>
      </p:sp>
      <p:sp>
        <p:nvSpPr>
          <p:cNvPr id="34" name="Text 0"/>
          <p:cNvSpPr/>
          <p:nvPr>
            <p:ph idx="100" type="body" hasCustomPrompt="1"/>
          </p:nvPr>
        </p:nvSpPr>
        <p:spPr>
          <a:xfrm>
            <a:off x="594360" y="457200"/>
            <a:ext cx="8229600" cy="274320"/>
          </a:xfrm>
          <a:prstGeom prst="rect">
            <a:avLst/>
          </a:prstGeom>
          <a:noFill/>
          <a:ln/>
        </p:spPr>
        <p:txBody>
          <a:bodyPr wrap="square" lIns="0" tIns="0" rIns="0" bIns="0" rtlCol="0" anchor="t"/>
          <a:lstStyle/>
          <a:p>
            <a:pPr algn="l" indent="0" marL="0">
              <a:buNone/>
            </a:pPr>
            <a:endParaRPr lang="en-US" sz="1200" dirty="0"/>
          </a:p>
        </p:txBody>
      </p:sp>
      <p:sp>
        <p:nvSpPr>
          <p:cNvPr id="35" name="Text 0"/>
          <p:cNvSpPr/>
          <p:nvPr>
            <p:ph idx="102" type="body" hasCustomPrompt="1"/>
          </p:nvPr>
        </p:nvSpPr>
        <p:spPr>
          <a:xfrm>
            <a:off x="594360" y="1371600"/>
            <a:ext cx="11002975" cy="36576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594360" y="731520"/>
            <a:ext cx="11002975" cy="1005840"/>
          </a:xfrm>
          <a:prstGeom prst="rect">
            <a:avLst/>
          </a:prstGeom>
          <a:noFill/>
          <a:ln/>
        </p:spPr>
        <p:txBody>
          <a:bodyPr wrap="square" lIns="0" tIns="0" rIns="0" bIns="0" rtlCol="0" anchor="t"/>
          <a:lstStyle/>
          <a:p>
            <a:pPr algn="l" indent="0" marL="0">
              <a:buNone/>
            </a:pPr>
            <a:r>
              <a:rPr lang="en-US" sz="3200" b="1" dirty="0">
                <a:solidFill>
                  <a:schemeClr val="tx2"/>
                </a:solidFill>
              </a:rPr>
              <a:t>Hypothesis</a:t>
            </a:r>
            <a:endParaRPr lang="en-US" sz="3200" dirty="0"/>
          </a:p>
        </p:txBody>
      </p:sp>
      <p:sp>
        <p:nvSpPr>
          <p:cNvPr id="3" name="Hypothesis panel"/>
          <p:cNvSpPr/>
          <p:nvPr/>
        </p:nvSpPr>
        <p:spPr>
          <a:xfrm>
            <a:off x="594360" y="1828800"/>
            <a:ext cx="11002975" cy="3840480"/>
          </a:xfrm>
          <a:prstGeom prst="roundRect">
            <a:avLst>
              <a:gd name="adj" fmla="val 2857"/>
            </a:avLst>
          </a:prstGeom>
          <a:solidFill>
            <a:schemeClr val="tx2"/>
          </a:solidFill>
          <a:ln/>
        </p:spPr>
      </p:sp>
      <p:sp>
        <p:nvSpPr>
          <p:cNvPr id="4" name="Hypothesis badge"/>
          <p:cNvSpPr/>
          <p:nvPr/>
        </p:nvSpPr>
        <p:spPr>
          <a:xfrm>
            <a:off x="1143000" y="2468880"/>
            <a:ext cx="1005840" cy="1005840"/>
          </a:xfrm>
          <a:prstGeom prst="ellipse">
            <a:avLst/>
          </a:prstGeom>
          <a:solidFill>
            <a:schemeClr val="accent2"/>
          </a:solidFill>
          <a:ln/>
        </p:spPr>
      </p:sp>
      <p:pic>
        <p:nvPicPr>
          <p:cNvPr id="5" name="Hypothesis icon" descr="/tmp/claude-0/-home-user-Arturo/8d4d3924-7078-5160-a89d-b2e82f900b72/scratchpad/work/build/assets/icons/bulb_FFFFFF.png">    </p:cNvPr>
          <p:cNvPicPr>
            <a:picLocks noChangeAspect="1"/>
          </p:cNvPicPr>
          <p:nvPr/>
        </p:nvPicPr>
        <p:blipFill>
          <a:blip r:embed="rId1"/>
          <a:stretch>
            <a:fillRect/>
          </a:stretch>
        </p:blipFill>
        <p:spPr>
          <a:xfrm>
            <a:off x="1394460" y="2720340"/>
            <a:ext cx="502920" cy="502920"/>
          </a:xfrm>
          <a:prstGeom prst="rect">
            <a:avLst/>
          </a:prstGeom>
        </p:spPr>
      </p:pic>
      <p:sp>
        <p:nvSpPr>
          <p:cNvPr id="6" name="Text 3"/>
          <p:cNvSpPr txBox="1"/>
          <p:nvPr/>
        </p:nvSpPr>
        <p:spPr>
          <a:xfrm>
            <a:off x="2606040" y="2103120"/>
            <a:ext cx="8351215" cy="3108960"/>
          </a:xfrm>
          <a:prstGeom prst="rect">
            <a:avLst/>
          </a:prstGeom>
          <a:noFill/>
          <a:ln/>
        </p:spPr>
        <p:txBody>
          <a:bodyPr wrap="square" lIns="0" tIns="0" rIns="0" bIns="0" rtlCol="0" anchor="ctr"/>
          <a:lstStyle/>
          <a:p>
            <a:pPr algn="l" indent="0" marL="0">
              <a:buNone/>
            </a:pPr>
            <a:r>
              <a:rPr lang="en-US" sz="3000" b="1" dirty="0">
                <a:solidFill>
                  <a:schemeClr val="bg1"/>
                </a:solidFill>
                <a:latin typeface="+mj-lt" pitchFamily="34" charset="0"/>
                <a:ea typeface="+mj-lt" pitchFamily="34" charset="-122"/>
                <a:cs typeface="+mj-lt" pitchFamily="34" charset="-120"/>
              </a:rPr>
              <a:t>The motivation for reforms does not come from innovations in systems design, but from the fact that social dynamics exceed the capacity of the original design to cope with social changes.</a:t>
            </a:r>
            <a:endParaRPr lang="en-US" sz="3000" dirty="0"/>
          </a:p>
        </p:txBody>
      </p:sp>
      <p:sp>
        <p:nvSpPr>
          <p:cNvPr id="7" name="Text 0"/>
          <p:cNvSpPr/>
          <p:nvPr>
            <p:ph idx="100" type="body" hasCustomPrompt="1"/>
          </p:nvPr>
        </p:nvSpPr>
        <p:spPr>
          <a:xfrm>
            <a:off x="594360" y="457200"/>
            <a:ext cx="8229600" cy="274320"/>
          </a:xfrm>
          <a:prstGeom prst="rect">
            <a:avLst/>
          </a:prstGeom>
          <a:noFill/>
          <a:ln/>
        </p:spPr>
        <p:txBody>
          <a:bodyPr wrap="square" lIns="0" tIns="0" rIns="0" bIns="0" rtlCol="0" anchor="t"/>
          <a:lstStyle/>
          <a:p>
            <a:pPr algn="l" indent="0" marL="0">
              <a:buNone/>
            </a:pPr>
            <a:endParaRPr lang="en-US" sz="1200" dirty="0"/>
          </a:p>
        </p:txBody>
      </p:sp>
      <p:sp>
        <p:nvSpPr>
          <p:cNvPr id="8" name="Text 0"/>
          <p:cNvSpPr/>
          <p:nvPr>
            <p:ph idx="102" type="body" hasCustomPrompt="1"/>
          </p:nvPr>
        </p:nvSpPr>
        <p:spPr>
          <a:xfrm>
            <a:off x="594360" y="1371600"/>
            <a:ext cx="11002975" cy="365760"/>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Card – unpredictability"/>
          <p:cNvSpPr/>
          <p:nvPr/>
        </p:nvSpPr>
        <p:spPr>
          <a:xfrm>
            <a:off x="594360" y="594360"/>
            <a:ext cx="5341468" cy="3749040"/>
          </a:xfrm>
          <a:prstGeom prst="roundRect">
            <a:avLst>
              <a:gd name="adj" fmla="val 2927"/>
            </a:avLst>
          </a:prstGeom>
          <a:solidFill>
            <a:schemeClr val="bg2"/>
          </a:solidFill>
          <a:ln/>
        </p:spPr>
      </p:sp>
      <p:sp>
        <p:nvSpPr>
          <p:cNvPr id="3" name="Text 1"/>
          <p:cNvSpPr txBox="1"/>
          <p:nvPr/>
        </p:nvSpPr>
        <p:spPr>
          <a:xfrm>
            <a:off x="914400" y="822960"/>
            <a:ext cx="4701388" cy="3291840"/>
          </a:xfrm>
          <a:prstGeom prst="rect">
            <a:avLst/>
          </a:prstGeom>
          <a:noFill/>
          <a:ln/>
        </p:spPr>
        <p:txBody>
          <a:bodyPr wrap="square" lIns="0" tIns="0" rIns="0" bIns="0" rtlCol="0" anchor="ctr"/>
          <a:lstStyle/>
          <a:p>
            <a:pPr algn="l" indent="0" marL="0">
              <a:buNone/>
            </a:pPr>
            <a:r>
              <a:rPr lang="en-US" sz="2200" b="1" dirty="0">
                <a:solidFill>
                  <a:schemeClr val="tx2"/>
                </a:solidFill>
                <a:latin typeface="+mj-lt" pitchFamily="34" charset="0"/>
                <a:ea typeface="+mj-lt" pitchFamily="34" charset="-122"/>
                <a:cs typeface="+mj-lt" pitchFamily="34" charset="-120"/>
              </a:rPr>
              <a:t>It is not possible to predict how women's fertility rates and work, longevity and the need for long-term care, financial costs, tax legislation, women's labor force participation, and other factors that affect the sustainability of systems will evolve.</a:t>
            </a:r>
            <a:endParaRPr lang="en-US" sz="2200" dirty="0"/>
          </a:p>
        </p:txBody>
      </p:sp>
      <p:sp>
        <p:nvSpPr>
          <p:cNvPr id="4" name="Card – original expectation"/>
          <p:cNvSpPr/>
          <p:nvPr/>
        </p:nvSpPr>
        <p:spPr>
          <a:xfrm>
            <a:off x="6255868" y="594360"/>
            <a:ext cx="5341468" cy="3749040"/>
          </a:xfrm>
          <a:prstGeom prst="roundRect">
            <a:avLst>
              <a:gd name="adj" fmla="val 2927"/>
            </a:avLst>
          </a:prstGeom>
          <a:solidFill>
            <a:schemeClr val="bg2"/>
          </a:solidFill>
          <a:ln/>
        </p:spPr>
      </p:sp>
      <p:sp>
        <p:nvSpPr>
          <p:cNvPr id="5" name="Text 3"/>
          <p:cNvSpPr txBox="1"/>
          <p:nvPr/>
        </p:nvSpPr>
        <p:spPr>
          <a:xfrm>
            <a:off x="6575908" y="822960"/>
            <a:ext cx="4701388" cy="3291840"/>
          </a:xfrm>
          <a:prstGeom prst="rect">
            <a:avLst/>
          </a:prstGeom>
          <a:noFill/>
          <a:ln/>
        </p:spPr>
        <p:txBody>
          <a:bodyPr wrap="square" lIns="0" tIns="0" rIns="0" bIns="0" rtlCol="0" anchor="ctr"/>
          <a:lstStyle/>
          <a:p>
            <a:pPr algn="l" indent="0" marL="0">
              <a:buNone/>
            </a:pPr>
            <a:r>
              <a:rPr lang="en-US" sz="1700" dirty="0">
                <a:solidFill>
                  <a:srgbClr val="34475C"/>
                </a:solidFill>
              </a:rPr>
              <a:t>Social security in the countries of the Americas was founded on a certain expectation that labor markets would evolve to the predominance of salaried labor and that families would be predominantly nuclear. The reality by the 1970s was already one of a significant informal economy and changes in family organization, with high levels of divorce, out-of-wedlock births, and a significant fraction of work in non-salaried formats, largely informal</a:t>
            </a:r>
            <a:endParaRPr lang="en-US" sz="1700" dirty="0"/>
          </a:p>
        </p:txBody>
      </p:sp>
      <p:sp>
        <p:nvSpPr>
          <p:cNvPr id="6" name="Question band"/>
          <p:cNvSpPr/>
          <p:nvPr/>
        </p:nvSpPr>
        <p:spPr>
          <a:xfrm>
            <a:off x="594360" y="4572000"/>
            <a:ext cx="11002975" cy="1600200"/>
          </a:xfrm>
          <a:prstGeom prst="roundRect">
            <a:avLst>
              <a:gd name="adj" fmla="val 6857"/>
            </a:avLst>
          </a:prstGeom>
          <a:solidFill>
            <a:schemeClr val="tx2"/>
          </a:solidFill>
          <a:ln/>
        </p:spPr>
      </p:sp>
      <p:sp>
        <p:nvSpPr>
          <p:cNvPr id="7" name="Question badge"/>
          <p:cNvSpPr/>
          <p:nvPr/>
        </p:nvSpPr>
        <p:spPr>
          <a:xfrm>
            <a:off x="960120" y="4960620"/>
            <a:ext cx="822960" cy="822960"/>
          </a:xfrm>
          <a:prstGeom prst="ellipse">
            <a:avLst/>
          </a:prstGeom>
          <a:solidFill>
            <a:schemeClr val="accent4"/>
          </a:solidFill>
          <a:ln/>
        </p:spPr>
      </p:sp>
      <p:pic>
        <p:nvPicPr>
          <p:cNvPr id="8" name="Question icon" descr="/tmp/claude-0/-home-user-Arturo/8d4d3924-7078-5160-a89d-b2e82f900b72/scratchpad/work/build/assets/icons/question_FFFFFF.png">    </p:cNvPr>
          <p:cNvPicPr>
            <a:picLocks noChangeAspect="1"/>
          </p:cNvPicPr>
          <p:nvPr/>
        </p:nvPicPr>
        <p:blipFill>
          <a:blip r:embed="rId1"/>
          <a:stretch>
            <a:fillRect/>
          </a:stretch>
        </p:blipFill>
        <p:spPr>
          <a:xfrm>
            <a:off x="1165860" y="5166360"/>
            <a:ext cx="411480" cy="411480"/>
          </a:xfrm>
          <a:prstGeom prst="rect">
            <a:avLst/>
          </a:prstGeom>
        </p:spPr>
      </p:pic>
      <p:sp>
        <p:nvSpPr>
          <p:cNvPr id="9" name="Text 6"/>
          <p:cNvSpPr txBox="1"/>
          <p:nvPr/>
        </p:nvSpPr>
        <p:spPr>
          <a:xfrm>
            <a:off x="2057400" y="4572000"/>
            <a:ext cx="9174175" cy="1600200"/>
          </a:xfrm>
          <a:prstGeom prst="rect">
            <a:avLst/>
          </a:prstGeom>
          <a:noFill/>
          <a:ln/>
        </p:spPr>
        <p:txBody>
          <a:bodyPr wrap="square" lIns="0" tIns="0" rIns="0" bIns="0" rtlCol="0" anchor="ctr"/>
          <a:lstStyle/>
          <a:p>
            <a:pPr algn="l" indent="0" marL="0">
              <a:buNone/>
            </a:pPr>
            <a:r>
              <a:rPr lang="en-US" sz="2600" b="1" dirty="0">
                <a:solidFill>
                  <a:schemeClr val="bg1"/>
                </a:solidFill>
                <a:latin typeface="+mj-lt" pitchFamily="34" charset="0"/>
                <a:ea typeface="+mj-lt" pitchFamily="34" charset="-122"/>
                <a:cs typeface="+mj-lt" pitchFamily="34" charset="-120"/>
              </a:rPr>
              <a:t>Shall we rely on actuarial or economic approaches to study the challenges and propose policy?</a:t>
            </a:r>
            <a:endParaRPr lang="en-US" sz="2600" dirty="0"/>
          </a:p>
        </p:txBody>
      </p:sp>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graphicFrame>
        <p:nvGraphicFramePr>
          <p:cNvPr id="32" name="Actuarial vs economic methods"/>
          <p:cNvGraphicFramePr>
            <a:graphicFrameLocks noGrp="1"/>
          </p:cNvGraphicFramePr>
          <p:nvPr>
            <p:extLst>
              <p:ext uri="{D42A27DB-BD31-4B8C-83A1-F6EECF244321}">
                <p14:modId xmlns:p14="http://schemas.microsoft.com/office/powerpoint/2010/main" val="1579011935"/>
              </p:ext>
            </p:extLst>
          </p:nvPr>
        </p:nvGraphicFramePr>
        <p:xfrm>
          <a:off x="594360" y="502920"/>
          <a:ext cx="11002975" cy="914400"/>
        </p:xfrm>
        <a:graphic>
          <a:graphicData uri="http://schemas.openxmlformats.org/drawingml/2006/table">
            <a:tbl>
              <a:tblPr/>
              <a:tblGrid>
                <a:gridCol w="5501488"/>
                <a:gridCol w="5501488"/>
              </a:tblGrid>
              <a:tr h="548640">
                <a:tc>
                  <a:txBody>
                    <a:bodyPr/>
                    <a:lstStyle/>
                    <a:p>
                      <a:pPr algn="l" indent="0" marL="0">
                        <a:buNone/>
                      </a:pPr>
                      <a:r>
                        <a:rPr lang="en-US" sz="1800" b="1" dirty="0">
                          <a:solidFill>
                            <a:schemeClr val="bg1"/>
                          </a:solidFill>
                        </a:rPr>
                        <a:t>Actuarial methods</a:t>
                      </a:r>
                      <a:endParaRPr lang="en-US" sz="1800" dirty="0"/>
                    </a:p>
                  </a:txBody>
                  <a:tcPr marL="164592" marR="164592" marT="45720" marB="45720"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Economic methods</a:t>
                      </a:r>
                      <a:endParaRPr lang="en-US" sz="1800" dirty="0"/>
                    </a:p>
                  </a:txBody>
                  <a:tcPr marL="164592" marR="164592" marT="45720" marB="45720"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accent1"/>
                    </a:solidFill>
                  </a:tcPr>
                </a:tc>
              </a:tr>
              <a:tr h="594360">
                <a:tc>
                  <a:txBody>
                    <a:bodyPr/>
                    <a:lstStyle/>
                    <a:p>
                      <a:pPr indent="0" marL="0">
                        <a:buNone/>
                      </a:pPr>
                      <a:r>
                        <a:rPr lang="en-US" sz="1300" dirty="0">
                          <a:solidFill>
                            <a:schemeClr val="tx1"/>
                          </a:solidFill>
                        </a:rPr>
                        <a:t>Goal: measurement of financial flows, actuarial liabilities and risks, including future evolution under scenarios</a:t>
                      </a:r>
                      <a:endParaRPr lang="en-US" sz="1300" dirty="0"/>
                    </a:p>
                  </a:txBody>
                  <a:tcPr marL="164592" marR="164592" marT="45720" marB="45720"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Goal: to identify causality of events and prediction</a:t>
                      </a:r>
                      <a:endParaRPr lang="en-US" sz="1300" dirty="0"/>
                    </a:p>
                  </a:txBody>
                  <a:tcPr marL="164592" marR="164592" marT="45720" marB="45720"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r>
              <a:tr h="685800">
                <a:tc>
                  <a:txBody>
                    <a:bodyPr/>
                    <a:lstStyle/>
                    <a:p>
                      <a:pPr indent="0" marL="0">
                        <a:buNone/>
                      </a:pPr>
                      <a:r>
                        <a:rPr lang="en-US" sz="1300" dirty="0">
                          <a:solidFill>
                            <a:schemeClr val="tx1"/>
                          </a:solidFill>
                        </a:rPr>
                        <a:t>High internal consistency of models for complete systems</a:t>
                      </a:r>
                      <a:endParaRPr lang="en-US" sz="1300" dirty="0"/>
                    </a:p>
                  </a:txBody>
                  <a:tcPr marL="164592" marR="164592" marT="45720" marB="45720"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Causal Approach: Using "Reduced Forms" to Capture Relationships</a:t>
                      </a:r>
                      <a:endParaRPr lang="en-US" sz="1300" dirty="0"/>
                    </a:p>
                    <a:p>
                      <a:pPr indent="0" marL="0">
                        <a:buNone/>
                      </a:pPr>
                      <a:r>
                        <a:rPr lang="en-US" sz="1300" dirty="0">
                          <a:solidFill>
                            <a:schemeClr val="tx1"/>
                          </a:solidFill>
                        </a:rPr>
                        <a:t>Prediction approach: short-term models</a:t>
                      </a:r>
                      <a:endParaRPr lang="en-US" sz="1300" dirty="0"/>
                    </a:p>
                  </a:txBody>
                  <a:tcPr marL="164592" marR="164592" marT="45720" marB="45720"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r>
              <a:tr h="548640">
                <a:tc>
                  <a:txBody>
                    <a:bodyPr/>
                    <a:lstStyle/>
                    <a:p>
                      <a:pPr indent="0" marL="0">
                        <a:buNone/>
                      </a:pPr>
                      <a:r>
                        <a:rPr lang="en-US" sz="1300" dirty="0">
                          <a:solidFill>
                            <a:schemeClr val="tx1"/>
                          </a:solidFill>
                        </a:rPr>
                        <a:t>Consistent demographic and financial models</a:t>
                      </a:r>
                      <a:endParaRPr lang="en-US" sz="1300" dirty="0"/>
                    </a:p>
                  </a:txBody>
                  <a:tcPr marL="164592" marR="164592" marT="45720" marB="45720"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There is generally no pretension of modeling systems integrally</a:t>
                      </a:r>
                      <a:endParaRPr lang="en-US" sz="1300" dirty="0"/>
                    </a:p>
                  </a:txBody>
                  <a:tcPr marL="164592" marR="164592" marT="45720" marB="45720"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r>
              <a:tr h="868680">
                <a:tc>
                  <a:txBody>
                    <a:bodyPr/>
                    <a:lstStyle/>
                    <a:p>
                      <a:pPr indent="0" marL="0">
                        <a:buNone/>
                      </a:pPr>
                      <a:r>
                        <a:rPr lang="en-US" sz="1300" dirty="0">
                          <a:solidFill>
                            <a:schemeClr val="tx1"/>
                          </a:solidFill>
                        </a:rPr>
                        <a:t>Ability to measure accurately, under assumptions. High reliability when there is control capability (e.g. in a private insurance plan)</a:t>
                      </a:r>
                      <a:endParaRPr lang="en-US" sz="1300" dirty="0"/>
                    </a:p>
                  </a:txBody>
                  <a:tcPr marL="164592" marR="164592" marT="45720" marB="45720"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In causal approaches, the main thing is to identify the validity of the assumptions. In prediction approaches, the important thing is the error of the prediction, regardless of the assumptions.</a:t>
                      </a:r>
                      <a:endParaRPr lang="en-US" sz="1300" dirty="0"/>
                    </a:p>
                  </a:txBody>
                  <a:tcPr marL="164592" marR="164592" marT="45720" marB="45720"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2"/>
                    </a:solidFill>
                  </a:tcPr>
                </a:tc>
              </a:tr>
              <a:tr h="1280160">
                <a:tc>
                  <a:txBody>
                    <a:bodyPr/>
                    <a:lstStyle/>
                    <a:p>
                      <a:pPr indent="0" marL="0">
                        <a:buNone/>
                      </a:pPr>
                      <a:r>
                        <a:rPr lang="en-US" sz="1300" dirty="0">
                          <a:solidFill>
                            <a:schemeClr val="tx1"/>
                          </a:solidFill>
                        </a:rPr>
                        <a:t>Actuaries usually work for governments, insurers, other financial institutions, social security agencies, and consulting firms, where they financially manage their health, casualty, life, and property-related insurance policies</a:t>
                      </a:r>
                      <a:endParaRPr lang="en-US" sz="1300" dirty="0"/>
                    </a:p>
                  </a:txBody>
                  <a:tcPr marL="164592" marR="164592" marT="45720" marB="45720"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Economists usually work for the public and financial sectors, consulting, and increasingly for all types of companies that use data for management, sales, and other processes. Most are not specialists in econometrics and tend to specialize in sectors (e.g., banking, agriculture, ecology, industry, antitrust, labor, health, etc.).</a:t>
                      </a:r>
                      <a:endParaRPr lang="en-US" sz="1300" dirty="0"/>
                    </a:p>
                  </a:txBody>
                  <a:tcPr marL="164592" marR="164592" marT="45720" marB="45720" anchor="ctr">
                    <a:lnL w="9525" cap="flat" cmpd="sng" algn="ctr">
                      <a:solidFill>
                        <a:srgbClr val="D5E1EA"/>
                      </a:solidFill>
                      <a:prstDash val="solid"/>
                      <a:round/>
                      <a:headEnd type="none" w="med" len="med"/>
                      <a:tailEnd type="none" w="med" len="med"/>
                    </a:lnL>
                    <a:lnR w="9525" cap="flat" cmpd="sng" algn="ctr">
                      <a:solidFill>
                        <a:srgbClr val="D5E1EA"/>
                      </a:solidFill>
                      <a:prstDash val="solid"/>
                      <a:round/>
                      <a:headEnd type="none" w="med" len="med"/>
                      <a:tailEnd type="none" w="med" len="med"/>
                    </a:lnR>
                    <a:lnT w="9525" cap="flat" cmpd="sng" algn="ctr">
                      <a:solidFill>
                        <a:srgbClr val="D5E1EA"/>
                      </a:solidFill>
                      <a:prstDash val="solid"/>
                      <a:round/>
                      <a:headEnd type="none" w="med" len="med"/>
                      <a:tailEnd type="none" w="med" len="med"/>
                    </a:lnT>
                    <a:lnB w="9525" cap="flat" cmpd="sng" algn="ctr">
                      <a:solidFill>
                        <a:srgbClr val="D5E1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865815" y="6400800"/>
            <a:ext cx="731520" cy="27432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6B7C8F"/>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868680" y="1600200"/>
            <a:ext cx="8229600" cy="365760"/>
          </a:xfrm>
          <a:prstGeom prst="rect">
            <a:avLst/>
          </a:prstGeom>
          <a:noFill/>
          <a:ln/>
        </p:spPr>
        <p:txBody>
          <a:bodyPr wrap="square" lIns="0" tIns="0" rIns="0" bIns="0" rtlCol="0" anchor="t"/>
          <a:lstStyle/>
          <a:p>
            <a:pPr algn="l" indent="0" marL="0">
              <a:buNone/>
            </a:pPr>
            <a:r>
              <a:rPr lang="en-US" sz="1600" b="1" spc="200" kern="0" dirty="0">
                <a:solidFill>
                  <a:schemeClr val="accent4"/>
                </a:solidFill>
              </a:rPr>
              <a:t>CONCLUSION &amp; DISCUSSION</a:t>
            </a:r>
            <a:endParaRPr lang="en-US" sz="1600" dirty="0"/>
          </a:p>
        </p:txBody>
      </p:sp>
      <p:sp>
        <p:nvSpPr>
          <p:cNvPr id="3" name="Text 0"/>
          <p:cNvSpPr/>
          <p:nvPr>
            <p:ph idx="101" type="title" hasCustomPrompt="1"/>
          </p:nvPr>
        </p:nvSpPr>
        <p:spPr>
          <a:xfrm>
            <a:off x="868680" y="2103120"/>
            <a:ext cx="9692640" cy="1600200"/>
          </a:xfrm>
          <a:prstGeom prst="rect">
            <a:avLst/>
          </a:prstGeom>
          <a:noFill/>
          <a:ln/>
        </p:spPr>
        <p:txBody>
          <a:bodyPr wrap="square" lIns="0" tIns="0" rIns="0" bIns="0" rtlCol="0" anchor="t"/>
          <a:lstStyle/>
          <a:p>
            <a:pPr algn="l" indent="0" marL="0">
              <a:buNone/>
            </a:pPr>
            <a:r>
              <a:rPr lang="en-US" sz="4000" b="1" dirty="0">
                <a:solidFill>
                  <a:schemeClr val="bg1"/>
                </a:solidFill>
              </a:rPr>
              <a:t>Interplay of social and actuarial issues for social security in the Caribbean</a:t>
            </a:r>
            <a:endParaRPr lang="en-US" sz="4000" dirty="0"/>
          </a:p>
        </p:txBody>
      </p:sp>
      <p:sp>
        <p:nvSpPr>
          <p:cNvPr id="4" name="Text 0"/>
          <p:cNvSpPr/>
          <p:nvPr>
            <p:ph idx="102" type="body" hasCustomPrompt="1"/>
          </p:nvPr>
        </p:nvSpPr>
        <p:spPr>
          <a:xfrm>
            <a:off x="868680" y="3931920"/>
            <a:ext cx="7498080" cy="822960"/>
          </a:xfrm>
          <a:prstGeom prst="rect">
            <a:avLst/>
          </a:prstGeom>
          <a:noFill/>
          <a:ln/>
        </p:spPr>
        <p:txBody>
          <a:bodyPr wrap="square" lIns="0" tIns="0" rIns="0" bIns="0" rtlCol="0" anchor="t"/>
          <a:lstStyle/>
          <a:p>
            <a:pPr algn="l" indent="0" marL="0">
              <a:buNone/>
            </a:pPr>
            <a:r>
              <a:rPr lang="en-US" sz="1800" dirty="0">
                <a:solidFill>
                  <a:srgbClr val="B9C8DA"/>
                </a:solidFill>
              </a:rPr>
              <a:t>Balancing social protection, labor retention, and family welfare policies across the Caribbean.</a:t>
            </a:r>
            <a:endParaRPr lang="en-US" sz="1800" dirty="0"/>
          </a:p>
        </p:txBody>
      </p:sp>
      <p:sp>
        <p:nvSpPr>
          <p:cNvPr id="5" name="Questions pill"/>
          <p:cNvSpPr txBox="1"/>
          <p:nvPr/>
        </p:nvSpPr>
        <p:spPr>
          <a:xfrm>
            <a:off x="868680" y="5029200"/>
            <a:ext cx="2834640" cy="502920"/>
          </a:xfrm>
          <a:prstGeom prst="roundRect">
            <a:avLst>
              <a:gd name="adj" fmla="val 49091"/>
            </a:avLst>
          </a:prstGeom>
          <a:ln w="19050">
            <a:solidFill>
              <a:schemeClr val="accent4"/>
            </a:solidFill>
          </a:ln>
        </p:spPr>
        <p:txBody>
          <a:bodyPr wrap="square" lIns="0" tIns="0" rIns="0" bIns="0" rtlCol="0" anchor="ctr"/>
          <a:lstStyle/>
          <a:p>
            <a:pPr algn="ctr" indent="0" marL="0">
              <a:buNone/>
            </a:pPr>
            <a:r>
              <a:rPr lang="en-US" sz="1500" b="1" dirty="0">
                <a:solidFill>
                  <a:schemeClr val="accent4"/>
                </a:solidFill>
              </a:rPr>
              <a:t>Questions &amp; Discussion</a:t>
            </a:r>
            <a:endParaRPr lang="en-US" sz="1500" dirty="0"/>
          </a:p>
        </p:txBody>
      </p:sp>
    </p:spTree>
  </p:cSld>
  <p:clrMapOvr>
    <a:masterClrMapping/>
  </p:clrMapOvr>
</p:sld>
</file>

<file path=ppt/theme/theme1.xml><?xml version="1.0" encoding="utf-8"?>
<a:theme xmlns:a="http://schemas.openxmlformats.org/drawingml/2006/main" name="Caribbean Social Security">
  <a:themeElements>
    <a:clrScheme name="Caribbean Social Security">
      <a:dk1>
        <a:srgbClr val="10243E"/>
      </a:dk1>
      <a:lt1>
        <a:srgbClr val="FFFFFF"/>
      </a:lt1>
      <a:dk2>
        <a:srgbClr val="0B2545"/>
      </a:dk2>
      <a:lt2>
        <a:srgbClr val="EEF4F8"/>
      </a:lt2>
      <a:accent1>
        <a:srgbClr val="0E7C8B"/>
      </a:accent1>
      <a:accent2>
        <a:srgbClr val="D9822B"/>
      </a:accent2>
      <a:accent3>
        <a:srgbClr val="2F6DB5"/>
      </a:accent3>
      <a:accent4>
        <a:srgbClr val="35C2C8"/>
      </a:accent4>
      <a:accent5>
        <a:srgbClr val="C8352E"/>
      </a:accent5>
      <a:accent6>
        <a:srgbClr val="1E8E5A"/>
      </a:accent6>
      <a:hlink>
        <a:srgbClr val="1D6FB8"/>
      </a:hlink>
      <a:folHlink>
        <a:srgbClr val="6B4E9B"/>
      </a:folHlink>
    </a:clrScheme>
    <a:fontScheme name="Caribbean Social Securit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Interplay of social and actuarial issues for social security in the Caribbean</dc:title>
  <dc:subject>Population dynamics, aging trajectories, fertility shifts</dc:subject>
  <dc:creator>Gabriel Martínez</dc:creator>
  <cp:lastModifiedBy>Gabriel Martínez</cp:lastModifiedBy>
  <cp:revision>1</cp:revision>
  <dcterms:created xsi:type="dcterms:W3CDTF">2026-10-03T00:37:48Z</dcterms:created>
  <dcterms:modified xsi:type="dcterms:W3CDTF">2026-10-03T00:37:48Z</dcterms:modified>
</cp:coreProperties>
</file>